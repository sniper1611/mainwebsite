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Calibri"/>
              </a:defRPr>
            </a:pPr>
            <a:r>
              <a:t>High Level Design (HLD) + Low Level Design (LLD)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Complete Overview — What to Study &amp;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Your Name Here  |  45–60 Min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What is System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Designing software that scales, survives failures, and stays maintainable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System Design is the process of defining architecture, components, modules, interfaces, and data for a system to meet specified requirements. It answers one core question: how do we build software that works at real-world scale?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064240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HLD (High Level Design) — how major components connect: services, databases, queues, load balancers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LLD (Low Level Design) — how code is structured: classes, patterns, APIs, concurrency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Used in product engineering, architecture reviews, and technical interviews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Running example throughout HLD: a WhatsApp-like chat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HLD vs LLD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Two complementary views of the same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HLD focuses on architecture and infrastructure; LLD focuses on code-level structure. Both are required — HLD tells you what to build, LLD tells you how to build each piece.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65376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HLD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Architecture &amp; component interaction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Classes, modules &amp; patterns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What are the parts? How do they connect?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How is each part built internally?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Architecture diagrams, DB &amp; infra choices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Class/sequence diagrams, code structure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Example (Chat)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 svc + Kafka + Redis + Cassandra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Message, Chat, User + Repository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System Design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 repeatable 6-step framework for any design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Applied to our WhatsApp-like chat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Never jump straight to databases or microservices. Follow a structured process — we'll apply each step to our WhatsApp-like chat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10642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457200" cy="7132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43230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59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15184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Gather functional (features) and non-functional (scale, latency, availability)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72384"/>
            <a:ext cx="110642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457200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7" y="321868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455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Estimations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0156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Back-of-envelope: DAU, QPS, storage, bandwidth — guides infrastructure choices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58768"/>
            <a:ext cx="110642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858768"/>
            <a:ext cx="457200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7" y="400507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319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API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87952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Define endpoints and contracts: POST /messages, WebSocket /connect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45152"/>
            <a:ext cx="110642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645152"/>
            <a:ext cx="45720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7" y="479145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18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High-Level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974336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Draw components and data flow: Client → LB → Chat Svc → Queue →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31536"/>
            <a:ext cx="110642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431536"/>
            <a:ext cx="45720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557784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5046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6072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Detail bottlenecks: shard by chat_id, cache recent messages in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Functional vs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Every system has feature requirements AND quality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Chat system requirement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Requirements come in two types. Functional = what the system must do. Non-functional = how well it must perform. Both must be captured before designing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Send &amp; receive text messages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Create and manage group chats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Share media (photos, videos, documents)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Read receipts &amp; online status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End-to-end encryption for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Scale: support 1B+ users, 50B msgs/day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Latency: message delivery under 200ms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Availability: 99.99% uptime — always on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Reliability: zero message loss on crash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Security: auth tokens, encrypted transit &amp;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Back-of-the-Envelope Estimations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Rough calculations before choosing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Scale estimates for our chat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Estimations prevent over-engineering and under-provisioning. Do quick math on users, QPS, storage, and bandwidth — then pick components that match the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11064240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DAU: 20% of 1B users = 200M daily active users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Messages: 200M × 50 msgs/day = 10B messages per day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Peak QPS: 10B / 86400 × 3 (peak factor) ≈ 350K writes/sec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Storage: 10B msgs × 500 bytes ≈ 5 TB/day → ~1.8 PB/year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Media: 10% msgs with ~1MB media ≈ 1 PB/year for files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Bandwidth: 350K × 500B ≈ 175 MB/sec write throughput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Takeaway: need horizontal scaling, sharding, async queues, CDN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HIGH LEVEL DESIGN (HLD)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"/>
              </a:defRPr>
            </a:pPr>
            <a:r>
              <a:t>Running Example: WhatsApp-like Chat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How Does the Internet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The path every request travels — from phone to server and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Tracing a 'send message' request end-to-end.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When you send a chat message, data travels through several layers: your app contacts DNS to find the server, traffic passes through load balancers, the chat service processes it, and data is stored in databases — media goes via CDN.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Client (App) — WhatsApp mobile app initiates the request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DNS — resolves chat.example.com to a server IP address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Load Balancer — distributes WebSocket connections across chat servers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Server — handles send/receive business logic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Database / Cache — Cassandra for messages, Redis for sessions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CDN — delivers profile pictures and media from nearest edge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22392"/>
            <a:ext cx="1106424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47725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5733288"/>
            <a:ext cx="1975104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93695" y="5852160"/>
            <a:ext cx="219456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58871" y="5733288"/>
            <a:ext cx="1975104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43119" y="5852160"/>
            <a:ext cx="219456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08295" y="5733288"/>
            <a:ext cx="1975104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92543" y="5852160"/>
            <a:ext cx="219456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57719" y="5733288"/>
            <a:ext cx="1975104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Chat Server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41967" y="5852160"/>
            <a:ext cx="219456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7143" y="5733288"/>
            <a:ext cx="1975104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Cache/DB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Lightweight execution units inside a server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Chat servers use threads/goroutines for concurrent connections.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thread is the smallest unit of CPU execution. Multiple threads within one process share memory and run concurrently — essential for handling thousands of simultaneous chat connections on one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Process vs Thread: process = independent program; threads share process memory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Multi-threading: many connections handled concurrently in one chat server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Thread pool: pre-created workers ready to process incoming messages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Benefit: efficient I/O concurrency without spawning full new processes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Risk: shared state needs locks — e.g. updating unread count safely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Pages (Memory Management)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How the OS manages server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Memory pages affect concurrent chat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 OS splits memory into fixed-size pages (typically 4KB). Virtual memory gives each process its own address space. Under heavy load, inactive pages get swapped to disk — affecting latency and capacity.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Page: fixed block of virtual memory managed by the OS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Virtual memory: each server process gets isolated address space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Page fault: data not in RAM → fetched from disk → adds latency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Why it matters: RAM limits how many concurrent connections one server holds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Capacity planning: RAM per connection × max connections per 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Horizontal vs Vertical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Two ways to handle more users and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Chat platform scales horizontally to billions of messages.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Scaling means growing capacity as demand grows. Vertical scaling adds power to one machine; horizontal scaling adds more machines. Modern chat systems scale horizontally — with stateless servers behind a load balancer.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Vertical Scaling (Scale 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Horizontal Scaling (Scale Out)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Add more CPU / RAM to existing server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Simple — no code changes needed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Good for early stage or DB primary node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Hardware ceiling — cannot scale forever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Single point of failure if server dies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Example: upgrade chat DB from 32GB → 128GB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Add more server instances behind load balancer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Near-unlimited scale — add machines as needed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Fault tolerant — one server fails, others continue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Requires stateless design (session in Redis, not local)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More complex ops: discovery, routing, monitoring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Example: 100+ stateless chat servers + sharded Cassandra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Serverless vs Serverful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Who manages the servers?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Real-time core is serverful; background jobs can be serverless.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Serverful means you manage servers (EC2, containers). Serverless means the cloud runs your code on demand (Lambda). Real-time chat needs persistent connections → serverful core; async tasks can be serverless.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Serverful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Serverless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You manage servers: EC2, VMs, Kubernetes pods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Full control over runtime and configuration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Persistent connections — required for WebSockets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Predictable latency for real-time messaging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servers &amp; WebSocket handlers = serverful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Cloud runs code on demand (Lambda, Cloud Functions)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Auto-scales, pay-per-use, zero server management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Cold starts &amp; time limits — no persistent WebSocket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Ideal for async/event-driven tasks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Thumbnail generation, push triggers, media transcoding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62472"/>
            <a:ext cx="5230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Calibri"/>
              </a:defRPr>
            </a:pPr>
            <a:r>
              <a:t>Hybrid: serverful chat + serverless async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SQL vs NoSQL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Choosing the right data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SQL for users; NoSQL for billions of messages.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SQL databases use fixed schemas and strong ACID guarantees — great for structured, relational data. NoSQL databases offer flexible schemas and horizontal scale — ideal for high-volume, distributed workloads. Chat systems typically use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(RDBMS)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Fixed schema — tables, rows, columns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Strong ACID transactions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Examples: PostgreSQL, MySQL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Best for: user profiles, contacts, settings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Scaling: vertical + read replicas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Chat use: PostgreSQL for user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Flexible schema — document, key-value, column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Often eventual consistency (BASE)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Examples: Cassandra, MongoDB, Redis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Best for: high-volume message history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Scaling: built for horizontal partition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Chat use: Cassandra for message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In-Memory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Ultra-fast data access using 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Redis caches hot chat data to reduce DB 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In-memory databases store data entirely in RAM instead of disk — giving sub-millisecond reads/writes. Used for caching, sessions, pub/sub, and real-time counters. Redis and Memcached are the most common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Redis: rich data structures, persistence options, pub/sub support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Memcached: simple key-value, multi-threaded, no persistence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 cases: session store, recent message cache, online status, rate limits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example: last 50 messages cached in Redis for instant load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Limitation: data lost on restart unless persistence (AOF/RDB) enabled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Data Replication &amp;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Keeping data safe, available, and up to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Messages replicated across regions for availability.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Replication copies data to multiple nodes for fault tolerance and read scaling. Migration moves data between systems — often with zero downtime using dual-write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Leader-Follower: leader handles writes; followers replicate and serve reads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Leader-Leader: multiple write nodes — needs conflict resolution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Why replicate: fault tolerance, read scale, geographic proximity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Migration: dual-write → backfill → switch reads → decommission old DB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Cassandra replicas across 3 data centers; migrate MongoDB → Cassandra at scale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Data Partitioning &amp; Sharding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Splitting data across multiple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Messages sharded by chat_id for horizontal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Partitioning splits data into subsets; sharding distributes those partitions across DB nodes. The shard key (e.g. chat_id) determines which node owns the data. Critical for scaling beyond one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Hash partitioning: hash(chat_id) % N → even distribution across shards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Shard key choice matters: all messages in one chat stay on same shard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Hot shard problem: celebrity group chat overloads one shard → need re-sharding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Resharding: add nodes or split hot shards when storage &gt; 80% full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messages sharded by chat_id across Cassandra cluster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Data Consistency &amp; Isolation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How correct and isolated are your reads and writes?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Consistency defines how quickly all nodes see the same data. Isolation levels control what concurrent transactions can see. Chat uses eventual consistency for messages; payments need strong consistency.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Strong consistency: all nodes see latest write immediately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Eventual consistency: nodes converge over time — OK for online status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Read-your-writes: sender always sees their own sent message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Isolation levels: Read Committed (default) → Repeatable Read → Serializable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eventual consistency for delivery; serializable for premium payments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CAP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The fundamental trade-off in distributed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Chat prioritizes AP — always deliver, sync eventually.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During a network partition, a distributed system can guarantee at most 2 of 3: Consistency (every read is latest), Availability (every request gets a response), Partition Tolerance (works despite network splits). Since partitions happen, you choose CP or 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CA: Consistent + Available — only works on single node (not distributed)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CP: Consistent + Partition tolerant — may reject requests during partition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AP: Available + Partition tolerant — may return slightly stale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systems choose AP: availability over global strong consistency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PACELC: when no partition, trade latency vs consistency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Consistency vs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What happens when the network breaks?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Chat chooses availability — better late than never.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When nodes can't communicate (network partition), you must choose: reject requests to stay consistent, or accept writes locally and sync later. Chat apps choose availability — users expect messaging to always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Consistency-First (CP)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Availability-First (AP)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Reject writes until partition heals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Read receipts only when globally confirmed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Strict global message ordering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Always accurate online status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 in: banking, inventory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Accept writes locally; sync when network heals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'Delivered' shown quickly; 'read' may lag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Ordered within a chat; may reorder cross-region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Online status may lag 30 seconds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 in: chat, social feeds, notifications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Caching — Redis &amp; Memcached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 fast layer between your app and the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Redis caches recent chats for sub-ms reads.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Cache stores frequently accessed data in memory for sub-millisecond reads. It sits between the application and database — reducing DB load and latency. Redis (rich features) and Memcached (simple, fast) are the standard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Cache-aside pattern: check cache → miss → read DB → write to cache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Redis: sessions, recent messages, online status, pub/sub, sorted sets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Memcached: simple key-value for profile data and contact lists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90% of chat reads are recent messages — perfect cache candidates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Invalidation: new message appends to cached chat timeline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Cache Write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When and how data gets written to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Messages use write-back; profiles use write-through.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Write policies define the relationship between cache and database writes. Choose based on consistency needs vs write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Write-through: write to cache AND DB together — always consistent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Write-back: write to cache first; flush to DB async — faster writes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Write-around: write directly to DB; populate cache on read only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write-back for high-volume messages; write-through for profile updates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Cache Replacement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What to evict when cache is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When cache reaches capacity, a replacement policy decides which entries to remove. The right policy keeps hot data in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LRU (Least Recently Used): evict oldest accessed item — general purpose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LFU (Least Frequently Used): evict least popular item — keeps hot group chats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Segmented LRU: separate hot/warm segments — active chats stay hot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TTL (Time To Live): auto-expire after fixed duration — online status (30s)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LRU for message cache; TTL for presence indicators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Content Delivery Networks (CDN)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Serving content from servers close to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All shared media delivered via CDN.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CDN is a geographically distributed network of edge servers that cache content near users. Instead of fetching media from a central origin, users get it from the nearest edge node — dramatically reducing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Flow: origin server (S3) → CDN edge nodes worldwide → user gets nearest copy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Benefits: lower latency, reduced origin load, DDoS protection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Providers: CloudFront, Akamai, Cloudflare, Fastly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Best for static/media content — chat text uses WebSocket, not CDN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profile pics and shared media delivered via CDN edge nodes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TCP vs UDP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Two transport protocols — reliability vs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TCP guarantees delivery with ordering and error checking — slower but reliable. UDP sends packets without guarantees — faster but may lose data. Chat text uses TCP; live media may use UDP.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47088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5394960" cy="4142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2249424"/>
            <a:ext cx="5394960" cy="4142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2359152"/>
            <a:ext cx="513892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Connection-oriented (3-way handshake)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Guaranteed delivery, ordered, error-checked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Slower due to ACK overhead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 for: HTTP, WebSocket, file transfer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TCP/WebSocket for reliable message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359152"/>
            <a:ext cx="5138928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Connectionless — fire and forget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No delivery guarantee — packets may be lost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Faster — minimal overhead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 for: live video, gaming, DNS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WebRTC voice/video may use UDP for speed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HTTP/1, HTTP/2, HTTP/3 &amp;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The protocols powering web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HTTPS for REST APIs; WebSockets for live chat.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HTTP is the foundation of web communication. Each version improved performance: HTTP/2 added multiplexing, HTTP/3 uses QUIC over UDP for faster connects. HTTPS wraps HTTP in TLS encryption — mandatory for all production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HTTP/1.1: persistent connections — used for REST APIs (auth, profiles)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HTTP/2: multiplexing, header compression — efficient multi-call mobile apps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HTTP/3: QUIC (UDP-based) — faster reconnects on mobile networks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HTTPS: HTTP + TLS — all API calls encrypted in transit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Real-time chat uses WebSocket (over TCP), not HTTP polling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WebSockets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Persistent bidirectional connection for real-time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Core real-time channel for all chat users.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WebSockets provide a full-duplex connection over TCP. Unlike HTTP polling (client repeatedly asks 'any new messages?'), the server pushes updates instantly — essential for real-time chat with minimal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Flow: HTTP upgrade handshake → persistent connection → bidirectional frames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vs Polling: wastes bandwidth asking repeatedly — WebSocket pushes instantly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Benefit: message appears on recipient's phone in under 100ms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Scaling: stateful connections need sticky sessions or connection registry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every user maintains a WebSocket to the chat server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WebRTC &amp; Video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Real-time voice, video, and media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WebRTC enables peer-to-peer audio/video in browsers and apps — calls go directly between users (or via TURN relay). Video streaming (status videos) uses CDN-based HLS/DASH protocols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WebRTC: P2P voice/video — signaling server helps peers connect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STUN/TURN: NAT traversal when direct P2P fails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Video calls bypass chat server — data flows peer-to-peer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VOD streaming: pre-recorded content via CDN (HLS/DASH)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WhatsApp calls use WebRTC; status videos use CDN streaming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Load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Distributing traffic across multiple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LB distributes WebSocket connections across chat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load balancer sits in front of server pools and distributes incoming requests. Critical for horizontal scaling — ensures no single server gets overwhelmed.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Round Robin: requests rotate across servers in order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Least Connections: route to server with fewest active connections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Consistent Hashing: hash(user_id) → same server; minimal remap on scale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Stateful LB: sticky sessions for WebSocket connections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consistent hashing routes users to chat servers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Consistent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Stable routing when servers are added or removed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Simple hash(key) % N breaks when servers change. Consistent hashing places servers and keys on a ring — adding a server only moves adjacent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Problem: hash % N remaps 90% of keys when N changes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Solution: hash onto a ring → key maps to next server clockwise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Virtual nodes: multiple ring points per server — better balance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 in: load balancers, distributed Redis/Memcached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user_id hashed to stable chat server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Proxy vs Reverse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Two different proxy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Nginx reverse proxy = single entry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forward proxy sits before clients (hides client identity). A reverse proxy sits before servers — acting as the public entry point for SSL, caching, and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Forward 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Sits in front of clients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Hides client identity from servers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Used: corporate internet filtering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Client knows about the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Sits in front of servers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Hides server identity from clients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SSL termination, caching, routing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Example: Nginx in front of chat cluster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Protecting APIs from abuse and overload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Rate limiting restricts how many requests a client can make in a time window. Essential for preventing spam and ensuring fair resource usage.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Token Bucket: tokens refill at fixed rate; bursts allowed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Sliding Window: count requests in rolling time window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Response: HTTP 429 Too Many Requests when exceeded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Distributed: Redis counter shared across all servers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max 100 messages/minute per user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Message Queues &amp; Async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Decoupling services with asynchronous messaging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Kafka handles async delivery and fan-out.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Message queues sit between services — producers publish events, consumers process them asynchronously. This decouples sender from receiver and smooths traffic spikes.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Kafka: distributed log, high throughput, ordering within a partition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RabbitMQ: traditional broker with routing and acknowledgments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Why async: sender gets instant ACK; delivery happens in background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Queue = one consumer per message; Pub/Sub = all subscribers get a copy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Benefits: buffering, retry on failure, peak load smoothing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Kafka for message events; RabbitMQ for push notifications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Event-Driven Architecture &amp; Saga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Services that react to events, not direct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Group message triggers pub/sub fan-out to all members.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Event-driven architecture publishes events that services react to — loose coupling. The Saga pattern handles distributed transactions as local steps with compensating rollbacks.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Pub/Sub: MessageSent → notification, analytics, search all react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Queue vs Pub/Sub: queue delivers once; pub/sub fans out to all subscribers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Choreography: each service reacts independently to events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Orchestration: central coordinator directs each step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Saga example: upload → transcode → store → notify; rollback on failure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REST vs gRPC vs GraphQL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Three API styles — when to use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REST for public APIs; gRPC for internal; GraphQL for mobile.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REST is universal for public APIs. gRPC is high-performance for internal calls. GraphQL lets clients fetch exactly the fields they need in one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REST: HTTP + JSON — public APIs, third-party integrations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gRPC: HTTP/2 + Protobuf — internal service-to-service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GraphQL: client-specified fields — mobile home screen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REST for user CRUD; gRPC between chat ↔ notification services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Safe retries without duplicate side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Every message send includes an idempotency key.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An idempotent operation produces the same result whether executed once or many times. The client sends an idempotency key; the server rejects or returns cached results for duplicates.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Client sends X-Idempotency-Key (UUID) with each request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Server stores processed keys; duplicates return the original result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Critical for: message send, payments, account creation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Keys stored in Redis with a TTL (e.g. 24 hours)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prevents duplicate messages on network retry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Monolith vs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Two ways to organize a growing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Start monolith → extract services as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monolith is a single codebase and deployment — simple to start. Microservices split the system into independent services with their own databases and deploy cycles. Chat platforms often evolve from monolith to microservices as scale grows.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3949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Monolith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3949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670048"/>
            <a:ext cx="5394960" cy="3721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Single codebase &amp; one deployment unit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Simple for small teams and early stage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Scale the entire application together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One bug can crash everything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Early WhatsApp: single app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779776"/>
            <a:ext cx="5138928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Independent services, each with own DB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Scale only the bottleneck service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Teams deploy independently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Failure isolated per service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Mature: auth, chat, media, notifications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Single Point of Failure (SPOF)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One component whose failure takes down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Every layer has redundancy.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 single point of failure is any component that, if it fails, makes the entire system unavailable. Eliminate SPOFs with redundancy at every layer — load balancers, servers, databases, caches, and queues.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Single DB with no replicas = SPOF for all chat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Fix: multiple LB nodes, chat server replicas, Cassandra cluster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Load balancer SPOF → active-passive LB pair with health checks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DNS SPOF → multiple DNS providers, low TTL, anycast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every layer has redundancy — no single component can kill chat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Cascading Failures, Circuit Breaker &amp; Bulkhead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Building fault-tolerant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Cascading failures happen when one slow service overloads dependents. Prevent them with timeouts, circuit breakers (fail fast), and bulkheads (isolated resource pools).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Cascade example: slow DB → threads block → OOM → total outage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Circuit breaker: stop calling failing service; retry periodically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States: Closed → Open (failing) → Half-Open (testing recovery)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Bulkhead: separate thread pools for messaging vs media vs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Retry with exponential backoff: 1s, 2s, 4s on Kafka publish failure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circuit breaker on notification svc prevents chat outage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Docker &amp;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Packaging apps for consistent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Each chat microservice runs as a Docker container on K8s.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Docker packages an application with its dependencies into a portable container image. Kubernetes orchestrates containers — auto-scaling, healing, and rolling deployments across a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Container: lightweight, isolated runtime sharing the OS kernel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Benefits: dev = staging = prod, fast deploy, isolation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K8s auto-scales chat pods from 10 → 100 during peak hours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CI/CD: Git push → Docker build → registry → rolling deploy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Containers start in seconds vs minutes for VMs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Migration to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Evolving a monolith without a big-bang rewrite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Gradual extraction — don't rewrite everything at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 Strangler Fig pattern gradually replaces monolith parts with new services — extract one bounded context at a time, dual-run, shift traffic, then decommission old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Step 1 — Identify bounded contexts: auth, messaging, media,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Step 2 — Extract one service at a time behind an API gateway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Step 3 — Dual-run old and new; compare results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Step 4 — Shift traffic: 10% → 50% → 100% to new service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Step 5 — Decommission extracted code from monolith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Risk: distributed complexity, data consistency, cross-service ordering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Object Storage (S3)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Unlimited-scale file storage for media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Object storage stores files as objects in a flat namespace — not as blocks or files on disk. AWS S3, GCS, and Azure Blob offer petabyte-scale durability at low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 cases: profile pics, shared photos, voice notes, video messages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Flow: user sends photo → S3 → CDN → recipient views from edge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Pre-signed URLs: temporary authenticated upload/download links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99.999999999% durability; unlimited scale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Chat: all media in S3, delivered via CDN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Recording events for debugging and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Centralized logs help debug 'message not delivered'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Logging captures what happened in your system — timestamps, service names, user IDs, and error details. Structured JSON logs shipped to a central platform make debugging across hundreds of servers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Structured logging: consistent JSON fields (timestamp, level, trace_id)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Tools: CloudWatch, Graylog, ELK Stack (Elasticsearch, Logstash, Kibana)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Log levels: DEBUG, INFO, WARN, ERROR, FATAL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Centralized: search all services for user_id=123 to trace an issue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Best practice: log metadata only — not message content if E2E encrypted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Metrics, Monitoring &amp; 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The observability triad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Trace every message delivery across microservices.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Metrics track numbers over time (throughput, latency, errors). Dashboards visualize them. Distributed tracing follows a single request across all microservices using a shared trace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Prometheus: pull-based metrics collection and alerting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Grafana: dashboards for throughput, p99 latency, error rate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Tracing: follow msg from API Gateway → Chat → Kafka → Notify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Tools: Jaeger, Zipkin, AWS X-Ray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Alerting: PagerDuty when message delivery p99 exceeds 500ms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Anomaly Detection &amp; Disaster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Preparing for catastrophic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Multi-region replication ensures chat survives datacenter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Anomaly detection flags unusual patterns in metrics or logs. Disaster recovery plans define RTO (max downtime) and RPO (max data loss) with multi-region replication and regular failover drills.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Anomaly: spike in failed deliveries → possible outage or spam attack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ML-based: train on normal behavior; flag 10× traffic from one region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DR: US-East down → failover to US-West within minutes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targets: RTO 5 minutes, RPO zero (no message loss)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Strategy: multi-region Cassandra + S3 cross-region backup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Security — Auth, Encryption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Protecting user data in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JWT for auth, E2E encryption for message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Security covers authentication (who you are), authorization (what you can access), and encryption (protecting data in transit and at rest). Chat adds end-to-end encryption so the server cannot read message bodies.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JWT: signed token issued on login; sent with every API/WebSocket request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OAuth/SSO: login with Google; delegated authorization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ACLs: only group members can read group messages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TLS/HTTPS for transit; AES-256 at rest on DB and S3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E2E encryption: Signal Protocol — server can't read message bodies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System Design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Every design decision involves compromises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No perfect solution — only trade-offs. Know them explicitly and justify choices based on your requirements.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65376"/>
          <a:ext cx="11064240" cy="293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 Choice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Push vs Pull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Server pushes updates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Client polls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Push via WebSocket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Consistency vs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Strong (CP)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 — always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SQL vs NoSQL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Structured, ACID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Flexible, scalable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SQL users; NoSQL msgs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Memory vs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More cache =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Less cache = cheaper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Redis for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Monolith vs Microservices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Simple build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Scalable ops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Start monolith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Popular HLD Systems 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One-line glimpse of key concepts each system teaches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3560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CDN, video transcoding, blob storage, 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13716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270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Twitter /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3560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Fan-out on write/read, timeline generation,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22576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3716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1518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2374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WebSockets, message queues, E2E encryption, presence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322576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322576"/>
            <a:ext cx="13716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61518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2374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Geolocation, real-time matching, surge pricing, maps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10712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410712"/>
            <a:ext cx="13716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03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6118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Inventory, payments, consistency, recommendation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10712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410712"/>
            <a:ext cx="1371600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6118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File sync, conflict resolution, chunk 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98848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13716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7914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Netflix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700016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CDN streaming, microservices, recommendation, A/B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98848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498848"/>
            <a:ext cx="13716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7914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700016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Feed generation, media storage, CDN, social graph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86984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5586984"/>
            <a:ext cx="13716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58795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Zoom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78815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WebRTC, SFU/MCU, low-latency video, screen sharing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586984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5586984"/>
            <a:ext cx="13716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58795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Airbnb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78815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Search, booking, payments, geolocation, reviews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Search Autocomplete — HLD Glimpse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Suggesting completions as the user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11155680" cy="3474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In our example (WhatsApp-like Chat System): Contact search uses trie + cache for instant autocomplete.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Autocomplete suggests matching results as the user types each character. A trie (prefix tree) stores all searchable strings; hot prefixes are cached in Redis for sub-10ms responses.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10642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Trie: tree where each path represents a prefix — type 'hel' → hello, help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Cache top 1000 popular prefixes in Redis for instant hits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Ranking: sort by frequency, recency, and relevance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Build index nightly from search analytics logs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Target latency: under 50ms — trie lookup + cache ≈ sub-10ms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LOW LEVEL DESIGN (LLD)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"/>
              </a:defRPr>
            </a:pPr>
            <a:r>
              <a:t>Classes, Patterns, Concurrency &amp; Code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OOP — Object-Oriented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Four pillars of structuring code around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OOP organizes code into objects that bundle data and behavior. The four pillars — encapsulation, abstraction, inheritance, and polymorphism — help model real-world entities in LLD problems like Parking 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Encapsulation: bundle data + methods; hide internal state (ParkingLot hides slot logic)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Abstraction: show only essentials — user calls park(vehicle), not slot-finding details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Inheritance: Car, Motorcycle, Truck extend Vehicle base class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Polymorphism: vehicle.getSpotSize() returns different size per vehicle type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SOLID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Five rules for maintainable, extensible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SOLID principles guide class design so code stays flexible as requirements change. Essential in LLD interviews — apply them to problems like Parking 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 — Single Responsibility: Ticket manages ticket data; Payment handles payment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 — Open/Closed: add new Vehicle type without changing ParkingLot logic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 — Liskov Substitution: any Vehicle subclass works wherever Vehicle is expected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 — Interface Segregation: PaidParking vs FreeParking — separate interfaces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 — Dependency Inversion: ParkingLot depends on PaymentStrategy, not CashPayment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Coupling, Cohesion &amp;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How modules relate to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Low coupling means modules depend little on each other. High cohesion means each module has one focused purpose. Prefer composition (has-a) over inheritance (is-a) unless a true subtype relationship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Coupling: degree of interdependence — keep it loose for easier testing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Cohesion: how focused a module's responsibilities are — keep it high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Composition over inheritance: ParkingLot HAS-A list of Slots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Inherit when genuine 'is-a': Car IS-A Vehicle with shared behavior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Design Patterns — Creational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Patterns for object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Creational patterns control how objects are instantiated — hiding construction complexity and ensuring the right object type is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Singleton: one instance only — DatabaseConnection pool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Factory Method: VehicleFactory.create(type) → Car or Truck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Abstract Factory: UIFactory creates button + dialog for Windows/Mac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Builder: MessageBuilder.setText().setMedia().build() step by step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Prototype: clone message template for broadcast to group members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Design Patterns — 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Patterns for composing classes and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Structural patterns help combine classes and objects into larger structures while keeping them flexible and efficient.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Adapter: wrap legacy API to match new PaymentGateway interface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Facade: ChatFacade.sendMessage() hides DB, cache, queue complexity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Decorator: EncryptedMessageDecorator adds encryption to Message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Proxy: MessageProxy lazy-loads body from S3 when user opens it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Composite: ChatItem can be Message or MessageGroup uniformly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Design Patterns — Behavioral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Patterns for communication between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Behavioral patterns define how objects interact and distribute responsibility — essential for event handling, notifications, and workflow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Observer: User subscribes to Chat; notified on new Message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Strategy: NotificationStrategy — Push / SMS / Email interchangeable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State: MessageState Sent → Delivered → Read changes available actions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Chain of Responsibility: SpamFilter → ProfanityFilter → DeliverMessage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Command: SendMessageCommand with undo support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Mediator: ChatRoomMediator coordinates Users without direct coupling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Concurrency &amp; Thread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Correct behavior when multiple threads access shared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When multiple threads run concurrently, shared data must be protected. Race conditions, deadlocks, and lost updates are common bugs — solved with locks, thread-safe collections, and thread pools.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Thread safety: unread count increment must be atomic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Dependency injection: inject MessageRepository, Notifier into ChatService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Locking: synchronized(chatId) or Read-Write locks for message lists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Producer-Consumer: MessageProducer enqueues; workers dequeue &amp; deliver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ConcurrentHashMap for thread-safe online user registry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Thread pool: ExecutorService with fixed workers for delivery tasks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Deadlock: Thread A locks chat1→waits chat2; Thread B does reverse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UML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Visual blueprints for class and interaction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UML diagrams communicate design before coding. Class diagrams show structure; sequence diagrams show message flow over time; state diagrams show lifecycle transitions.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Class diagram: ParkingLot, Slot, Vehicle, Ticket — attributes &amp; relationships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Sequence diagram: User → ChatService → Repository → DB for sendMessage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State diagram: Message lifecycle Composing → Sent → Delivered → Read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Activity diagram: receive → validate → store → notify → ack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 case diagram: User sends msg; Admin bans user, views analytics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API Design — Request/Response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Designing clean, extensible API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Good API design uses consistent naming, validated DTOs, standard error codes, and cursor-based pagination for real-time data. Version APIs so new fields don't break existing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RESTful endpoints: POST /v1/chats/{chatId}/messages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Request DTO: SendMessageRequest { text, mediaId, replyToId }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Response: { messageId, status, timestamp, serverSeq }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Errors: 400 Bad Request, 401 Unauthorized, 429 Rate Limited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Pagination: cursor-based for messages — GET /messages?cursor=abc&amp;limit=50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Versioning: /v1/ or /v2/ path; optional fields for backward compatibility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Clean Code &amp; Avoiding God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Writing readable, maintainable, and testable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Clean code is easy to read, change, and test. It follows simple principles — DRY, KISS, YAGNI — and keeps each class focused on one job. A God Class tries to do everything and becomes impossible to maintain; split it into smaller, named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DRY (Don't Repeat Yourself): extract shared logic once — ValidatorUtils, not copy-paste per service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KISS (Keep It Simple): simplest working solution first; add patterns only when complexity grows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YAGNI (You Aren't Gonna Need It): don't build features 'just in case' — e.g. skip video calls in v1 chat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Single-purpose classes: MessageValidator validates, MessageStore saves, MessageNotifier sends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Small functions: one clear job, descriptive name — deliverMessageToRecipient() not process()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God Class symptoms: 2000+ lines, dozens of unrelated methods, hard to unit test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God Class fix: split by responsibility — AuthService, MessageService, MediaService, NotificationService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Comments: explain WHY (business rules), not WHAT the code already shows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MVC, MVP, MVVM &amp; Repository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Patterns for separating UI, logic, and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These patterns keep presentation separate from business logic. MVC, MVP, and MVVM differ in who drives the UI updates. The Repository pattern hides database/cache details behind an interface so your domain code stays storage-agnostic.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MVC: Model (data) + View (UI) + Controller (handles user input, updates Model &amp; View)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MVC example: ChatController receives send action → updates MessageModel → refreshes ChatView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MVP: View is passive (dumb UI); Presenter fetches data and tells View what to show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MVP example: Android chat — Presenter loads messages, View only renders what Presenter sends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MVVM: View binds to ViewModel; data changes auto-update UI (observers / data binding)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MVVM example: React/SwiftUI — ViewModel exposes messages list; View re-renders on change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Repository: interface (MessageRepository) with implementations for DB, cache, or mock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Benefit: MessageService calls repository interface — swap Cassandra for MongoDB with zero service changes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When to use: MVC for server-rendered web; MVP/MVVM for mobile and SPA frontends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Schema Design, Testability &amp; Domain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Database and domain design for LLD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Schema design defines tables, relationships, and indexes. Domain models mirror real-world entities with enums for states. Design with interfaces for easy unit test mocking.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1064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Tables: users, chats, chat_members, messages, message_status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Normalization: separate users from messages via chat_members junction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Index: messages(chat_id, created_at) for fast chat history fetch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Enums: MessageStatus { SENT, DELIVERED, READ, FAILED }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Testability: mock MessageRepository in ChatServiceTest — no real DB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DTOs vs domain: MessageDTO for API; Message entity for business logic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Common LLD Problems 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Classic problems that test OOP, patterns, and design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8288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5270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Tic-Tac-Toe / Chess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3560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Game board, rules, turn management, win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18288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15270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Splitwise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43560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Expense splitting, balances, simplify debts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22576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8288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61518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Parking 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52374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Multi-level, multiple vehicle types, slot allocation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322576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322576"/>
            <a:ext cx="18288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Elevator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52374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Multiple lifts, scheduling, direction optimization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10712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410712"/>
            <a:ext cx="18288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37033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Notification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61188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Channels (push/email/SMS), priority, retry, templates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10712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410712"/>
            <a:ext cx="1828800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5352" y="37033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Food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61188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Restaurant, order, delivery agent, tracking,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98848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18288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479145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Movie Ticket Booking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70001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Seat selection, concurrency, show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98848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498848"/>
            <a:ext cx="18288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5352" y="479145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URL Shortener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70001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Encoding, cache, analytics (also HLD classic)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86984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5586984"/>
            <a:ext cx="18288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Logging Framework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57881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Log levels, appenders, formatters, singleton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586984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5586984"/>
            <a:ext cx="18288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45352" y="5879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Rate Limiter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7881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Token bucket, sliding window (also HLD classic)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HLD vs LLD — Same Problem, Two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Messaging and Parking Lot — two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HLD asks how components connect at scale. LLD asks how classes are structured internally. The same product needs both views — architecture diagrams and class diagrams.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65376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HLD View (Chat System)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LLD View (Parking Lot)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How do components connect at scale?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How are classes structured internally?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 Svc, Kafka, Redis, Cassandra, 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ParkingLot, Slot, Vehicle, Ticket,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Flow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Client → LB → Chat Svc → Queue → DB → Push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Vehicle enters → findSlot() → assignTicket() → park()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Key Concern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Availability, latency, 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Extensibility, maintainability, testability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Diagram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Boxes and arrows between services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diagram with inheritance &amp; associations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Study Roadmap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How to prepare for system design interviews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Combine theory with weekly practice — design one HLD system and code one LLD problem regularly. Mock interviews with peers provide the best feedback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064240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HLD: Groking System Design Interview, System Design Primer (GitHub), ByteByteGo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Practice HLD: design 1 system/week on paper — YouTube, Uber, WhatsApp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LLD: Head First Design Patterns, Refactoring Guru, LeetCode LLD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Practice LLD: code Parking Lot, Elevator, Splitwise in your language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Foundations: networking (TCP), database internals (indexing, B-trees)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Mock interviews: Pramp, Interviewing.io, or peers — 45 min weekly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Estimation: practice back-of-envelope QPS, storage, bandwidth every design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What to remember from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System Design spans HLD (architecture) and LLD (code-level design). Use a structured approach, know your trade-offs, and practice with real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064240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HLD: scalability, reliability, trade-offs, distributed building blocks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LLD: OOP, SOLID, design patterns, concurrency, clean code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Approach: Requirements → Estimation → API → Architecture → Deep Dive → Trade-offs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Every decision is a trade-off — consistency vs availability, memory vs latency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Practice HLD with WhatsApp, Uber, YouTube; LLD with Parking Lot, Elevator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Start simple (monolith/naive) — add complexity only when requirements demand it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System Design: HLD + LLD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8280</Words>
  <Application>Microsoft Office PowerPoint</Application>
  <PresentationFormat>Widescreen</PresentationFormat>
  <Paragraphs>766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Kunal Jhalani1 (NAV Fund Services)</cp:lastModifiedBy>
  <cp:revision>1</cp:revision>
  <dcterms:created xsi:type="dcterms:W3CDTF">2013-01-27T09:14:16Z</dcterms:created>
  <dcterms:modified xsi:type="dcterms:W3CDTF">2026-08-25T14:57:33Z</dcterms:modified>
  <cp:category/>
</cp:coreProperties>
</file>