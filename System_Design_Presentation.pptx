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0" d="100"/>
          <a:sy n="80" d="100"/>
        </p:scale>
        <p:origin x="754"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828800"/>
            <a:ext cx="10515600" cy="914400"/>
          </a:xfrm>
          <a:prstGeom prst="rect">
            <a:avLst/>
          </a:prstGeom>
          <a:noFill/>
        </p:spPr>
        <p:txBody>
          <a:bodyPr wrap="square">
            <a:spAutoFit/>
          </a:bodyPr>
          <a:lstStyle/>
          <a:p>
            <a:pPr algn="l">
              <a:defRPr sz="4400" b="1">
                <a:solidFill>
                  <a:srgbClr val="FFFFFF"/>
                </a:solidFill>
                <a:latin typeface="Calibri"/>
              </a:defRPr>
            </a:pPr>
            <a:r>
              <a:t>System Design</a:t>
            </a:r>
          </a:p>
        </p:txBody>
      </p:sp>
      <p:sp>
        <p:nvSpPr>
          <p:cNvPr id="4" name="TextBox 3"/>
          <p:cNvSpPr txBox="1"/>
          <p:nvPr/>
        </p:nvSpPr>
        <p:spPr>
          <a:xfrm>
            <a:off x="731520" y="2834640"/>
            <a:ext cx="10515600" cy="548640"/>
          </a:xfrm>
          <a:prstGeom prst="rect">
            <a:avLst/>
          </a:prstGeom>
          <a:noFill/>
        </p:spPr>
        <p:txBody>
          <a:bodyPr wrap="square">
            <a:spAutoFit/>
          </a:bodyPr>
          <a:lstStyle/>
          <a:p>
            <a:pPr algn="l">
              <a:defRPr sz="2400" b="0">
                <a:solidFill>
                  <a:srgbClr val="00B4D8"/>
                </a:solidFill>
                <a:latin typeface="Calibri"/>
              </a:defRPr>
            </a:pPr>
            <a:r>
              <a:t>High Level Design (HLD) + Low Level Design (LLD)</a:t>
            </a:r>
          </a:p>
        </p:txBody>
      </p:sp>
      <p:sp>
        <p:nvSpPr>
          <p:cNvPr id="5" name="TextBox 4"/>
          <p:cNvSpPr txBox="1"/>
          <p:nvPr/>
        </p:nvSpPr>
        <p:spPr>
          <a:xfrm>
            <a:off x="731520" y="3566160"/>
            <a:ext cx="10515600" cy="457200"/>
          </a:xfrm>
          <a:prstGeom prst="rect">
            <a:avLst/>
          </a:prstGeom>
          <a:noFill/>
        </p:spPr>
        <p:txBody>
          <a:bodyPr wrap="square">
            <a:spAutoFit/>
          </a:bodyPr>
          <a:lstStyle/>
          <a:p>
            <a:pPr algn="l">
              <a:defRPr sz="1600" b="0">
                <a:solidFill>
                  <a:srgbClr val="64748B"/>
                </a:solidFill>
                <a:latin typeface="Calibri"/>
              </a:defRPr>
            </a:pPr>
            <a:r>
              <a:t>A Complete Overview — What to Study &amp; Why It Matters</a:t>
            </a:r>
          </a:p>
        </p:txBody>
      </p:sp>
      <p:sp>
        <p:nvSpPr>
          <p:cNvPr id="6" name="TextBox 5"/>
          <p:cNvSpPr txBox="1"/>
          <p:nvPr/>
        </p:nvSpPr>
        <p:spPr>
          <a:xfrm>
            <a:off x="731520" y="5029200"/>
            <a:ext cx="5486400" cy="365760"/>
          </a:xfrm>
          <a:prstGeom prst="rect">
            <a:avLst/>
          </a:prstGeom>
          <a:noFill/>
        </p:spPr>
        <p:txBody>
          <a:bodyPr wrap="square">
            <a:spAutoFit/>
          </a:bodyPr>
          <a:lstStyle/>
          <a:p>
            <a:pPr algn="l">
              <a:defRPr sz="1400" b="0">
                <a:solidFill>
                  <a:srgbClr val="64748B"/>
                </a:solidFill>
                <a:latin typeface="Calibri"/>
              </a:defRPr>
            </a:pPr>
            <a:r>
              <a:t>Your Name Here  |  45–60 Min Presentation  |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What is System Design?</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Designing software that scales, survives failures, and stays maintainable</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804672"/>
          </a:xfrm>
          <a:prstGeom prst="rect">
            <a:avLst/>
          </a:prstGeom>
          <a:noFill/>
        </p:spPr>
        <p:txBody>
          <a:bodyPr wrap="square">
            <a:spAutoFit/>
          </a:bodyPr>
          <a:lstStyle/>
          <a:p>
            <a:pPr algn="l">
              <a:defRPr sz="1700" b="0">
                <a:solidFill>
                  <a:srgbClr val="1E293B"/>
                </a:solidFill>
                <a:latin typeface="Calibri"/>
              </a:defRPr>
            </a:pPr>
            <a:r>
              <a:t>System Design is the process of defining architecture, components, modules, interfaces, and data for a system to meet specified requirements. It answers one core question: how do we build software that works at real-world scale?</a:t>
            </a:r>
          </a:p>
        </p:txBody>
      </p:sp>
      <p:sp>
        <p:nvSpPr>
          <p:cNvPr id="8" name="TextBox 7"/>
          <p:cNvSpPr txBox="1"/>
          <p:nvPr/>
        </p:nvSpPr>
        <p:spPr>
          <a:xfrm>
            <a:off x="548640" y="1938528"/>
            <a:ext cx="11064240" cy="4453128"/>
          </a:xfrm>
          <a:prstGeom prst="rect">
            <a:avLst/>
          </a:prstGeom>
          <a:noFill/>
        </p:spPr>
        <p:txBody>
          <a:bodyPr wrap="square">
            <a:spAutoFit/>
          </a:bodyPr>
          <a:lstStyle/>
          <a:p>
            <a:pPr>
              <a:spcAft>
                <a:spcPts val="900"/>
              </a:spcAft>
              <a:defRPr sz="1800" b="1">
                <a:solidFill>
                  <a:srgbClr val="1E293B"/>
                </a:solidFill>
                <a:latin typeface="Calibri"/>
              </a:defRPr>
            </a:pPr>
            <a:r>
              <a:t>• HLD (High Level Design) — how major components connect: services, databases, queues, load balancers</a:t>
            </a:r>
          </a:p>
          <a:p>
            <a:pPr>
              <a:spcAft>
                <a:spcPts val="900"/>
              </a:spcAft>
              <a:defRPr sz="1800" b="1">
                <a:solidFill>
                  <a:srgbClr val="1E293B"/>
                </a:solidFill>
                <a:latin typeface="Calibri"/>
              </a:defRPr>
            </a:pPr>
            <a:r>
              <a:t>• LLD (Low Level Design) — how code is structured: classes, patterns, APIs, concurrency</a:t>
            </a:r>
          </a:p>
          <a:p>
            <a:pPr>
              <a:spcAft>
                <a:spcPts val="900"/>
              </a:spcAft>
              <a:defRPr sz="1800" b="1">
                <a:solidFill>
                  <a:srgbClr val="1E293B"/>
                </a:solidFill>
                <a:latin typeface="Calibri"/>
              </a:defRPr>
            </a:pPr>
            <a:r>
              <a:t>• Used in product engineering, architecture reviews, and technical interviews</a:t>
            </a:r>
          </a:p>
          <a:p>
            <a:pPr>
              <a:spcAft>
                <a:spcPts val="900"/>
              </a:spcAft>
              <a:defRPr sz="1800" b="1">
                <a:solidFill>
                  <a:srgbClr val="1E293B"/>
                </a:solidFill>
                <a:latin typeface="Calibri"/>
              </a:defRPr>
            </a:pPr>
            <a:r>
              <a:t>• Running example throughout HLD: a WhatsApp-like chat system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HLD vs LLD</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Two complementary views of the same system</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HLD focuses on architecture and infrastructure; LLD focuses on code-level structure. Both are required — HLD tells you what to build, LLD tells you how to build each piece.</a:t>
            </a:r>
          </a:p>
        </p:txBody>
      </p:sp>
      <p:graphicFrame>
        <p:nvGraphicFramePr>
          <p:cNvPr id="8" name="Table 7"/>
          <p:cNvGraphicFramePr>
            <a:graphicFrameLocks noGrp="1"/>
          </p:cNvGraphicFramePr>
          <p:nvPr/>
        </p:nvGraphicFramePr>
        <p:xfrm>
          <a:off x="502920" y="1865376"/>
          <a:ext cx="11064240" cy="2377440"/>
        </p:xfrm>
        <a:graphic>
          <a:graphicData uri="http://schemas.openxmlformats.org/drawingml/2006/table">
            <a:tbl>
              <a:tblPr firstRow="1" bandRow="1">
                <a:tableStyleId>{5C22544A-7EE6-4342-B048-85BDC9FD1C3A}</a:tableStyleId>
              </a:tblPr>
              <a:tblGrid>
                <a:gridCol w="3688080">
                  <a:extLst>
                    <a:ext uri="{9D8B030D-6E8A-4147-A177-3AD203B41FA5}">
                      <a16:colId xmlns:a16="http://schemas.microsoft.com/office/drawing/2014/main" val="20000"/>
                    </a:ext>
                  </a:extLst>
                </a:gridCol>
                <a:gridCol w="3688080">
                  <a:extLst>
                    <a:ext uri="{9D8B030D-6E8A-4147-A177-3AD203B41FA5}">
                      <a16:colId xmlns:a16="http://schemas.microsoft.com/office/drawing/2014/main" val="20001"/>
                    </a:ext>
                  </a:extLst>
                </a:gridCol>
                <a:gridCol w="3688080">
                  <a:extLst>
                    <a:ext uri="{9D8B030D-6E8A-4147-A177-3AD203B41FA5}">
                      <a16:colId xmlns:a16="http://schemas.microsoft.com/office/drawing/2014/main" val="20002"/>
                    </a:ext>
                  </a:extLst>
                </a:gridCol>
              </a:tblGrid>
              <a:tr h="475488">
                <a:tc>
                  <a:txBody>
                    <a:bodyPr/>
                    <a:lstStyle/>
                    <a:p>
                      <a:pPr>
                        <a:defRPr sz="1600" b="1">
                          <a:solidFill>
                            <a:srgbClr val="FFFFFF"/>
                          </a:solidFill>
                          <a:latin typeface="Calibri"/>
                        </a:defRPr>
                      </a:pPr>
                      <a:r>
                        <a:t>Aspect</a:t>
                      </a:r>
                    </a:p>
                  </a:txBody>
                  <a:tcPr>
                    <a:solidFill>
                      <a:srgbClr val="1A56DB"/>
                    </a:solidFill>
                  </a:tcPr>
                </a:tc>
                <a:tc>
                  <a:txBody>
                    <a:bodyPr/>
                    <a:lstStyle/>
                    <a:p>
                      <a:pPr>
                        <a:defRPr sz="1600" b="1">
                          <a:solidFill>
                            <a:srgbClr val="FFFFFF"/>
                          </a:solidFill>
                          <a:latin typeface="Calibri"/>
                        </a:defRPr>
                      </a:pPr>
                      <a:r>
                        <a:t>HLD</a:t>
                      </a:r>
                    </a:p>
                  </a:txBody>
                  <a:tcPr>
                    <a:solidFill>
                      <a:srgbClr val="1A56DB"/>
                    </a:solidFill>
                  </a:tcPr>
                </a:tc>
                <a:tc>
                  <a:txBody>
                    <a:bodyPr/>
                    <a:lstStyle/>
                    <a:p>
                      <a:pPr>
                        <a:defRPr sz="1600" b="1">
                          <a:solidFill>
                            <a:srgbClr val="FFFFFF"/>
                          </a:solidFill>
                          <a:latin typeface="Calibri"/>
                        </a:defRPr>
                      </a:pPr>
                      <a:r>
                        <a:t>LLD</a:t>
                      </a:r>
                    </a:p>
                  </a:txBody>
                  <a:tcPr>
                    <a:solidFill>
                      <a:srgbClr val="1A56DB"/>
                    </a:solidFill>
                  </a:tcPr>
                </a:tc>
                <a:extLst>
                  <a:ext uri="{0D108BD9-81ED-4DB2-BD59-A6C34878D82A}">
                    <a16:rowId xmlns:a16="http://schemas.microsoft.com/office/drawing/2014/main" val="10000"/>
                  </a:ext>
                </a:extLst>
              </a:tr>
              <a:tr h="475488">
                <a:tc>
                  <a:txBody>
                    <a:bodyPr/>
                    <a:lstStyle/>
                    <a:p>
                      <a:pPr>
                        <a:defRPr sz="1400">
                          <a:solidFill>
                            <a:srgbClr val="1E293B"/>
                          </a:solidFill>
                          <a:latin typeface="Calibri"/>
                        </a:defRPr>
                      </a:pPr>
                      <a:r>
                        <a:t>Focus</a:t>
                      </a:r>
                    </a:p>
                  </a:txBody>
                  <a:tcPr>
                    <a:solidFill>
                      <a:srgbClr val="F0F4F8"/>
                    </a:solidFill>
                  </a:tcPr>
                </a:tc>
                <a:tc>
                  <a:txBody>
                    <a:bodyPr/>
                    <a:lstStyle/>
                    <a:p>
                      <a:pPr>
                        <a:defRPr sz="1400">
                          <a:solidFill>
                            <a:srgbClr val="1E293B"/>
                          </a:solidFill>
                          <a:latin typeface="Calibri"/>
                        </a:defRPr>
                      </a:pPr>
                      <a:r>
                        <a:t>Architecture &amp; component interaction</a:t>
                      </a:r>
                    </a:p>
                  </a:txBody>
                  <a:tcPr>
                    <a:solidFill>
                      <a:srgbClr val="F0F4F8"/>
                    </a:solidFill>
                  </a:tcPr>
                </a:tc>
                <a:tc>
                  <a:txBody>
                    <a:bodyPr/>
                    <a:lstStyle/>
                    <a:p>
                      <a:pPr>
                        <a:defRPr sz="1400">
                          <a:solidFill>
                            <a:srgbClr val="1E293B"/>
                          </a:solidFill>
                          <a:latin typeface="Calibri"/>
                        </a:defRPr>
                      </a:pPr>
                      <a:r>
                        <a:t>Classes, modules &amp; patterns</a:t>
                      </a:r>
                    </a:p>
                  </a:txBody>
                  <a:tcPr>
                    <a:solidFill>
                      <a:srgbClr val="F0F4F8"/>
                    </a:solidFill>
                  </a:tcPr>
                </a:tc>
                <a:extLst>
                  <a:ext uri="{0D108BD9-81ED-4DB2-BD59-A6C34878D82A}">
                    <a16:rowId xmlns:a16="http://schemas.microsoft.com/office/drawing/2014/main" val="10001"/>
                  </a:ext>
                </a:extLst>
              </a:tr>
              <a:tr h="475488">
                <a:tc>
                  <a:txBody>
                    <a:bodyPr/>
                    <a:lstStyle/>
                    <a:p>
                      <a:pPr>
                        <a:defRPr sz="1400">
                          <a:solidFill>
                            <a:srgbClr val="1E293B"/>
                          </a:solidFill>
                          <a:latin typeface="Calibri"/>
                        </a:defRPr>
                      </a:pPr>
                      <a:r>
                        <a:t>Question</a:t>
                      </a:r>
                    </a:p>
                  </a:txBody>
                  <a:tcPr>
                    <a:solidFill>
                      <a:srgbClr val="FFFFFF"/>
                    </a:solidFill>
                  </a:tcPr>
                </a:tc>
                <a:tc>
                  <a:txBody>
                    <a:bodyPr/>
                    <a:lstStyle/>
                    <a:p>
                      <a:pPr>
                        <a:defRPr sz="1400">
                          <a:solidFill>
                            <a:srgbClr val="1E293B"/>
                          </a:solidFill>
                          <a:latin typeface="Calibri"/>
                        </a:defRPr>
                      </a:pPr>
                      <a:r>
                        <a:t>What are the parts? How do they connect?</a:t>
                      </a:r>
                    </a:p>
                  </a:txBody>
                  <a:tcPr>
                    <a:solidFill>
                      <a:srgbClr val="FFFFFF"/>
                    </a:solidFill>
                  </a:tcPr>
                </a:tc>
                <a:tc>
                  <a:txBody>
                    <a:bodyPr/>
                    <a:lstStyle/>
                    <a:p>
                      <a:pPr>
                        <a:defRPr sz="1400">
                          <a:solidFill>
                            <a:srgbClr val="1E293B"/>
                          </a:solidFill>
                          <a:latin typeface="Calibri"/>
                        </a:defRPr>
                      </a:pPr>
                      <a:r>
                        <a:t>How is each part built internally?</a:t>
                      </a:r>
                    </a:p>
                  </a:txBody>
                  <a:tcPr>
                    <a:solidFill>
                      <a:srgbClr val="FFFFFF"/>
                    </a:solidFill>
                  </a:tcPr>
                </a:tc>
                <a:extLst>
                  <a:ext uri="{0D108BD9-81ED-4DB2-BD59-A6C34878D82A}">
                    <a16:rowId xmlns:a16="http://schemas.microsoft.com/office/drawing/2014/main" val="10002"/>
                  </a:ext>
                </a:extLst>
              </a:tr>
              <a:tr h="475488">
                <a:tc>
                  <a:txBody>
                    <a:bodyPr/>
                    <a:lstStyle/>
                    <a:p>
                      <a:pPr>
                        <a:defRPr sz="1400">
                          <a:solidFill>
                            <a:srgbClr val="1E293B"/>
                          </a:solidFill>
                          <a:latin typeface="Calibri"/>
                        </a:defRPr>
                      </a:pPr>
                      <a:r>
                        <a:t>Artifacts</a:t>
                      </a:r>
                    </a:p>
                  </a:txBody>
                  <a:tcPr>
                    <a:solidFill>
                      <a:srgbClr val="F0F4F8"/>
                    </a:solidFill>
                  </a:tcPr>
                </a:tc>
                <a:tc>
                  <a:txBody>
                    <a:bodyPr/>
                    <a:lstStyle/>
                    <a:p>
                      <a:pPr>
                        <a:defRPr sz="1400">
                          <a:solidFill>
                            <a:srgbClr val="1E293B"/>
                          </a:solidFill>
                          <a:latin typeface="Calibri"/>
                        </a:defRPr>
                      </a:pPr>
                      <a:r>
                        <a:t>Architecture diagrams, DB &amp; infra choices</a:t>
                      </a:r>
                    </a:p>
                  </a:txBody>
                  <a:tcPr>
                    <a:solidFill>
                      <a:srgbClr val="F0F4F8"/>
                    </a:solidFill>
                  </a:tcPr>
                </a:tc>
                <a:tc>
                  <a:txBody>
                    <a:bodyPr/>
                    <a:lstStyle/>
                    <a:p>
                      <a:pPr>
                        <a:defRPr sz="1400">
                          <a:solidFill>
                            <a:srgbClr val="1E293B"/>
                          </a:solidFill>
                          <a:latin typeface="Calibri"/>
                        </a:defRPr>
                      </a:pPr>
                      <a:r>
                        <a:t>Class/sequence diagrams, code structure</a:t>
                      </a:r>
                    </a:p>
                  </a:txBody>
                  <a:tcPr>
                    <a:solidFill>
                      <a:srgbClr val="F0F4F8"/>
                    </a:solidFill>
                  </a:tcPr>
                </a:tc>
                <a:extLst>
                  <a:ext uri="{0D108BD9-81ED-4DB2-BD59-A6C34878D82A}">
                    <a16:rowId xmlns:a16="http://schemas.microsoft.com/office/drawing/2014/main" val="10003"/>
                  </a:ext>
                </a:extLst>
              </a:tr>
              <a:tr h="475488">
                <a:tc>
                  <a:txBody>
                    <a:bodyPr/>
                    <a:lstStyle/>
                    <a:p>
                      <a:pPr>
                        <a:defRPr sz="1400">
                          <a:solidFill>
                            <a:srgbClr val="1E293B"/>
                          </a:solidFill>
                          <a:latin typeface="Calibri"/>
                        </a:defRPr>
                      </a:pPr>
                      <a:r>
                        <a:t>Example (Chat)</a:t>
                      </a:r>
                    </a:p>
                  </a:txBody>
                  <a:tcPr>
                    <a:solidFill>
                      <a:srgbClr val="FFFFFF"/>
                    </a:solidFill>
                  </a:tcPr>
                </a:tc>
                <a:tc>
                  <a:txBody>
                    <a:bodyPr/>
                    <a:lstStyle/>
                    <a:p>
                      <a:pPr>
                        <a:defRPr sz="1400">
                          <a:solidFill>
                            <a:srgbClr val="1E293B"/>
                          </a:solidFill>
                          <a:latin typeface="Calibri"/>
                        </a:defRPr>
                      </a:pPr>
                      <a:r>
                        <a:t>Chat svc + Kafka + Redis + Cassandra</a:t>
                      </a:r>
                    </a:p>
                  </a:txBody>
                  <a:tcPr>
                    <a:solidFill>
                      <a:srgbClr val="FFFFFF"/>
                    </a:solidFill>
                  </a:tcPr>
                </a:tc>
                <a:tc>
                  <a:txBody>
                    <a:bodyPr/>
                    <a:lstStyle/>
                    <a:p>
                      <a:pPr>
                        <a:defRPr sz="1400">
                          <a:solidFill>
                            <a:srgbClr val="1E293B"/>
                          </a:solidFill>
                          <a:latin typeface="Calibri"/>
                        </a:defRPr>
                      </a:pPr>
                      <a:r>
                        <a:t>Message, Chat, User + Repository pattern</a:t>
                      </a:r>
                    </a:p>
                  </a:txBody>
                  <a:tcPr>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System Design Approach</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A repeatable 6-step framework for any design problem</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Applied to our WhatsApp-like chat platform.</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Never jump straight to databases or microservices. Follow a structured process — we'll apply each step to our WhatsApp-like chat system.</a:t>
            </a:r>
          </a:p>
        </p:txBody>
      </p:sp>
      <p:sp>
        <p:nvSpPr>
          <p:cNvPr id="10" name="Rounded Rectangle 9"/>
          <p:cNvSpPr/>
          <p:nvPr/>
        </p:nvSpPr>
        <p:spPr>
          <a:xfrm>
            <a:off x="502920" y="2286000"/>
            <a:ext cx="11064240" cy="713232"/>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2920" y="2286000"/>
            <a:ext cx="457200" cy="71323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21207" y="2432304"/>
            <a:ext cx="420624" cy="347472"/>
          </a:xfrm>
          <a:prstGeom prst="rect">
            <a:avLst/>
          </a:prstGeom>
          <a:noFill/>
        </p:spPr>
        <p:txBody>
          <a:bodyPr wrap="square">
            <a:spAutoFit/>
          </a:bodyPr>
          <a:lstStyle/>
          <a:p>
            <a:pPr algn="ctr">
              <a:defRPr sz="1600" b="1">
                <a:solidFill>
                  <a:srgbClr val="FFFFFF"/>
                </a:solidFill>
                <a:latin typeface="Calibri"/>
              </a:defRPr>
            </a:pPr>
            <a:r>
              <a:t>1</a:t>
            </a:r>
          </a:p>
        </p:txBody>
      </p:sp>
      <p:sp>
        <p:nvSpPr>
          <p:cNvPr id="13" name="TextBox 12"/>
          <p:cNvSpPr txBox="1"/>
          <p:nvPr/>
        </p:nvSpPr>
        <p:spPr>
          <a:xfrm>
            <a:off x="1051560" y="2359152"/>
            <a:ext cx="2194560" cy="256032"/>
          </a:xfrm>
          <a:prstGeom prst="rect">
            <a:avLst/>
          </a:prstGeom>
          <a:noFill/>
        </p:spPr>
        <p:txBody>
          <a:bodyPr wrap="square">
            <a:spAutoFit/>
          </a:bodyPr>
          <a:lstStyle/>
          <a:p>
            <a:pPr algn="l">
              <a:defRPr sz="1300" b="1">
                <a:solidFill>
                  <a:srgbClr val="1A56DB"/>
                </a:solidFill>
                <a:latin typeface="Calibri"/>
              </a:defRPr>
            </a:pPr>
            <a:r>
              <a:t>Requirements</a:t>
            </a:r>
          </a:p>
        </p:txBody>
      </p:sp>
      <p:sp>
        <p:nvSpPr>
          <p:cNvPr id="14" name="TextBox 13"/>
          <p:cNvSpPr txBox="1"/>
          <p:nvPr/>
        </p:nvSpPr>
        <p:spPr>
          <a:xfrm>
            <a:off x="1051560" y="2615184"/>
            <a:ext cx="10241280" cy="329184"/>
          </a:xfrm>
          <a:prstGeom prst="rect">
            <a:avLst/>
          </a:prstGeom>
          <a:noFill/>
        </p:spPr>
        <p:txBody>
          <a:bodyPr wrap="square">
            <a:spAutoFit/>
          </a:bodyPr>
          <a:lstStyle/>
          <a:p>
            <a:pPr algn="l">
              <a:defRPr sz="1400" b="0">
                <a:solidFill>
                  <a:srgbClr val="1E293B"/>
                </a:solidFill>
                <a:latin typeface="Calibri"/>
              </a:defRPr>
            </a:pPr>
            <a:r>
              <a:t>Gather functional (features) and non-functional (scale, latency, availability) requirements</a:t>
            </a:r>
          </a:p>
        </p:txBody>
      </p:sp>
      <p:sp>
        <p:nvSpPr>
          <p:cNvPr id="15" name="Rounded Rectangle 14"/>
          <p:cNvSpPr/>
          <p:nvPr/>
        </p:nvSpPr>
        <p:spPr>
          <a:xfrm>
            <a:off x="502920" y="3072384"/>
            <a:ext cx="11064240" cy="713232"/>
          </a:xfrm>
          <a:prstGeom prst="roundRect">
            <a:avLst/>
          </a:prstGeom>
          <a:solidFill>
            <a:srgbClr val="FFFFFF"/>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2920" y="3072384"/>
            <a:ext cx="457200" cy="71323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1207" y="3218688"/>
            <a:ext cx="420624" cy="347472"/>
          </a:xfrm>
          <a:prstGeom prst="rect">
            <a:avLst/>
          </a:prstGeom>
          <a:noFill/>
        </p:spPr>
        <p:txBody>
          <a:bodyPr wrap="square">
            <a:spAutoFit/>
          </a:bodyPr>
          <a:lstStyle/>
          <a:p>
            <a:pPr algn="ctr">
              <a:defRPr sz="1600" b="1">
                <a:solidFill>
                  <a:srgbClr val="FFFFFF"/>
                </a:solidFill>
                <a:latin typeface="Calibri"/>
              </a:defRPr>
            </a:pPr>
            <a:r>
              <a:t>2</a:t>
            </a:r>
          </a:p>
        </p:txBody>
      </p:sp>
      <p:sp>
        <p:nvSpPr>
          <p:cNvPr id="18" name="TextBox 17"/>
          <p:cNvSpPr txBox="1"/>
          <p:nvPr/>
        </p:nvSpPr>
        <p:spPr>
          <a:xfrm>
            <a:off x="1051560" y="3145536"/>
            <a:ext cx="2194560" cy="256032"/>
          </a:xfrm>
          <a:prstGeom prst="rect">
            <a:avLst/>
          </a:prstGeom>
          <a:noFill/>
        </p:spPr>
        <p:txBody>
          <a:bodyPr wrap="square">
            <a:spAutoFit/>
          </a:bodyPr>
          <a:lstStyle/>
          <a:p>
            <a:pPr algn="l">
              <a:defRPr sz="1300" b="1">
                <a:solidFill>
                  <a:srgbClr val="00B4D8"/>
                </a:solidFill>
                <a:latin typeface="Calibri"/>
              </a:defRPr>
            </a:pPr>
            <a:r>
              <a:t>Estimations</a:t>
            </a:r>
          </a:p>
        </p:txBody>
      </p:sp>
      <p:sp>
        <p:nvSpPr>
          <p:cNvPr id="19" name="TextBox 18"/>
          <p:cNvSpPr txBox="1"/>
          <p:nvPr/>
        </p:nvSpPr>
        <p:spPr>
          <a:xfrm>
            <a:off x="1051560" y="3401568"/>
            <a:ext cx="10241280" cy="329184"/>
          </a:xfrm>
          <a:prstGeom prst="rect">
            <a:avLst/>
          </a:prstGeom>
          <a:noFill/>
        </p:spPr>
        <p:txBody>
          <a:bodyPr wrap="square">
            <a:spAutoFit/>
          </a:bodyPr>
          <a:lstStyle/>
          <a:p>
            <a:pPr algn="l">
              <a:defRPr sz="1400" b="0">
                <a:solidFill>
                  <a:srgbClr val="1E293B"/>
                </a:solidFill>
                <a:latin typeface="Calibri"/>
              </a:defRPr>
            </a:pPr>
            <a:r>
              <a:t>Back-of-envelope: DAU, QPS, storage, bandwidth — guides infrastructure choices</a:t>
            </a:r>
          </a:p>
        </p:txBody>
      </p:sp>
      <p:sp>
        <p:nvSpPr>
          <p:cNvPr id="20" name="Rounded Rectangle 19"/>
          <p:cNvSpPr/>
          <p:nvPr/>
        </p:nvSpPr>
        <p:spPr>
          <a:xfrm>
            <a:off x="502920" y="3858768"/>
            <a:ext cx="11064240" cy="713232"/>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2920" y="3858768"/>
            <a:ext cx="457200" cy="7132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1207" y="4005072"/>
            <a:ext cx="420624" cy="347472"/>
          </a:xfrm>
          <a:prstGeom prst="rect">
            <a:avLst/>
          </a:prstGeom>
          <a:noFill/>
        </p:spPr>
        <p:txBody>
          <a:bodyPr wrap="square">
            <a:spAutoFit/>
          </a:bodyPr>
          <a:lstStyle/>
          <a:p>
            <a:pPr algn="ctr">
              <a:defRPr sz="1600" b="1">
                <a:solidFill>
                  <a:srgbClr val="FFFFFF"/>
                </a:solidFill>
                <a:latin typeface="Calibri"/>
              </a:defRPr>
            </a:pPr>
            <a:r>
              <a:t>3</a:t>
            </a:r>
          </a:p>
        </p:txBody>
      </p:sp>
      <p:sp>
        <p:nvSpPr>
          <p:cNvPr id="23" name="TextBox 22"/>
          <p:cNvSpPr txBox="1"/>
          <p:nvPr/>
        </p:nvSpPr>
        <p:spPr>
          <a:xfrm>
            <a:off x="1051560" y="3931920"/>
            <a:ext cx="2194560" cy="256032"/>
          </a:xfrm>
          <a:prstGeom prst="rect">
            <a:avLst/>
          </a:prstGeom>
          <a:noFill/>
        </p:spPr>
        <p:txBody>
          <a:bodyPr wrap="square">
            <a:spAutoFit/>
          </a:bodyPr>
          <a:lstStyle/>
          <a:p>
            <a:pPr algn="l">
              <a:defRPr sz="1300" b="1">
                <a:solidFill>
                  <a:srgbClr val="10B981"/>
                </a:solidFill>
                <a:latin typeface="Calibri"/>
              </a:defRPr>
            </a:pPr>
            <a:r>
              <a:t>API Design</a:t>
            </a:r>
          </a:p>
        </p:txBody>
      </p:sp>
      <p:sp>
        <p:nvSpPr>
          <p:cNvPr id="24" name="TextBox 23"/>
          <p:cNvSpPr txBox="1"/>
          <p:nvPr/>
        </p:nvSpPr>
        <p:spPr>
          <a:xfrm>
            <a:off x="1051560" y="4187952"/>
            <a:ext cx="10241280" cy="329184"/>
          </a:xfrm>
          <a:prstGeom prst="rect">
            <a:avLst/>
          </a:prstGeom>
          <a:noFill/>
        </p:spPr>
        <p:txBody>
          <a:bodyPr wrap="square">
            <a:spAutoFit/>
          </a:bodyPr>
          <a:lstStyle/>
          <a:p>
            <a:pPr algn="l">
              <a:defRPr sz="1400" b="0">
                <a:solidFill>
                  <a:srgbClr val="1E293B"/>
                </a:solidFill>
                <a:latin typeface="Calibri"/>
              </a:defRPr>
            </a:pPr>
            <a:r>
              <a:t>Define endpoints and contracts: POST /messages, WebSocket /connect</a:t>
            </a:r>
          </a:p>
        </p:txBody>
      </p:sp>
      <p:sp>
        <p:nvSpPr>
          <p:cNvPr id="25" name="Rounded Rectangle 24"/>
          <p:cNvSpPr/>
          <p:nvPr/>
        </p:nvSpPr>
        <p:spPr>
          <a:xfrm>
            <a:off x="502920" y="4645152"/>
            <a:ext cx="11064240" cy="713232"/>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02920" y="4645152"/>
            <a:ext cx="457200" cy="7132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21207" y="4791456"/>
            <a:ext cx="420624" cy="347472"/>
          </a:xfrm>
          <a:prstGeom prst="rect">
            <a:avLst/>
          </a:prstGeom>
          <a:noFill/>
        </p:spPr>
        <p:txBody>
          <a:bodyPr wrap="square">
            <a:spAutoFit/>
          </a:bodyPr>
          <a:lstStyle/>
          <a:p>
            <a:pPr algn="ctr">
              <a:defRPr sz="1600" b="1">
                <a:solidFill>
                  <a:srgbClr val="FFFFFF"/>
                </a:solidFill>
                <a:latin typeface="Calibri"/>
              </a:defRPr>
            </a:pPr>
            <a:r>
              <a:t>4</a:t>
            </a:r>
          </a:p>
        </p:txBody>
      </p:sp>
      <p:sp>
        <p:nvSpPr>
          <p:cNvPr id="28" name="TextBox 27"/>
          <p:cNvSpPr txBox="1"/>
          <p:nvPr/>
        </p:nvSpPr>
        <p:spPr>
          <a:xfrm>
            <a:off x="1051560" y="4718304"/>
            <a:ext cx="2194560" cy="256032"/>
          </a:xfrm>
          <a:prstGeom prst="rect">
            <a:avLst/>
          </a:prstGeom>
          <a:noFill/>
        </p:spPr>
        <p:txBody>
          <a:bodyPr wrap="square">
            <a:spAutoFit/>
          </a:bodyPr>
          <a:lstStyle/>
          <a:p>
            <a:pPr algn="l">
              <a:defRPr sz="1300" b="1">
                <a:solidFill>
                  <a:srgbClr val="F59E0B"/>
                </a:solidFill>
                <a:latin typeface="Calibri"/>
              </a:defRPr>
            </a:pPr>
            <a:r>
              <a:t>High-Level Design</a:t>
            </a:r>
          </a:p>
        </p:txBody>
      </p:sp>
      <p:sp>
        <p:nvSpPr>
          <p:cNvPr id="29" name="TextBox 28"/>
          <p:cNvSpPr txBox="1"/>
          <p:nvPr/>
        </p:nvSpPr>
        <p:spPr>
          <a:xfrm>
            <a:off x="1051560" y="4974336"/>
            <a:ext cx="10241280" cy="329184"/>
          </a:xfrm>
          <a:prstGeom prst="rect">
            <a:avLst/>
          </a:prstGeom>
          <a:noFill/>
        </p:spPr>
        <p:txBody>
          <a:bodyPr wrap="square">
            <a:spAutoFit/>
          </a:bodyPr>
          <a:lstStyle/>
          <a:p>
            <a:pPr algn="l">
              <a:defRPr sz="1400" b="0">
                <a:solidFill>
                  <a:srgbClr val="1E293B"/>
                </a:solidFill>
                <a:latin typeface="Calibri"/>
              </a:defRPr>
            </a:pPr>
            <a:r>
              <a:t>Draw components and data flow: Client → LB → Chat Svc → Queue → DB</a:t>
            </a:r>
          </a:p>
        </p:txBody>
      </p:sp>
      <p:sp>
        <p:nvSpPr>
          <p:cNvPr id="30" name="Rounded Rectangle 29"/>
          <p:cNvSpPr/>
          <p:nvPr/>
        </p:nvSpPr>
        <p:spPr>
          <a:xfrm>
            <a:off x="502920" y="5431536"/>
            <a:ext cx="11064240" cy="713232"/>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02920" y="5431536"/>
            <a:ext cx="457200" cy="7132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21207" y="5577840"/>
            <a:ext cx="420624" cy="347472"/>
          </a:xfrm>
          <a:prstGeom prst="rect">
            <a:avLst/>
          </a:prstGeom>
          <a:noFill/>
        </p:spPr>
        <p:txBody>
          <a:bodyPr wrap="square">
            <a:spAutoFit/>
          </a:bodyPr>
          <a:lstStyle/>
          <a:p>
            <a:pPr algn="ctr">
              <a:defRPr sz="1600" b="1">
                <a:solidFill>
                  <a:srgbClr val="FFFFFF"/>
                </a:solidFill>
                <a:latin typeface="Calibri"/>
              </a:defRPr>
            </a:pPr>
            <a:r>
              <a:t>5</a:t>
            </a:r>
          </a:p>
        </p:txBody>
      </p:sp>
      <p:sp>
        <p:nvSpPr>
          <p:cNvPr id="33" name="TextBox 32"/>
          <p:cNvSpPr txBox="1"/>
          <p:nvPr/>
        </p:nvSpPr>
        <p:spPr>
          <a:xfrm>
            <a:off x="1051560" y="5504688"/>
            <a:ext cx="2194560" cy="256032"/>
          </a:xfrm>
          <a:prstGeom prst="rect">
            <a:avLst/>
          </a:prstGeom>
          <a:noFill/>
        </p:spPr>
        <p:txBody>
          <a:bodyPr wrap="square">
            <a:spAutoFit/>
          </a:bodyPr>
          <a:lstStyle/>
          <a:p>
            <a:pPr algn="l">
              <a:defRPr sz="1300" b="1">
                <a:solidFill>
                  <a:srgbClr val="7C3AED"/>
                </a:solidFill>
                <a:latin typeface="Calibri"/>
              </a:defRPr>
            </a:pPr>
            <a:r>
              <a:t>Deep Dive</a:t>
            </a:r>
          </a:p>
        </p:txBody>
      </p:sp>
      <p:sp>
        <p:nvSpPr>
          <p:cNvPr id="34" name="TextBox 33"/>
          <p:cNvSpPr txBox="1"/>
          <p:nvPr/>
        </p:nvSpPr>
        <p:spPr>
          <a:xfrm>
            <a:off x="1051560" y="5760720"/>
            <a:ext cx="10241280" cy="329184"/>
          </a:xfrm>
          <a:prstGeom prst="rect">
            <a:avLst/>
          </a:prstGeom>
          <a:noFill/>
        </p:spPr>
        <p:txBody>
          <a:bodyPr wrap="square">
            <a:spAutoFit/>
          </a:bodyPr>
          <a:lstStyle/>
          <a:p>
            <a:pPr algn="l">
              <a:defRPr sz="1400" b="0">
                <a:solidFill>
                  <a:srgbClr val="1E293B"/>
                </a:solidFill>
                <a:latin typeface="Calibri"/>
              </a:defRPr>
            </a:pPr>
            <a:r>
              <a:t>Detail bottlenecks: shard by chat_id, cache recent messages in Redis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Functional vs Non-Functional Requirements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Every system has feature requirements AND quality requirements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Chat system requirement examples.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500" b="0">
                <a:solidFill>
                  <a:srgbClr val="1E293B"/>
                </a:solidFill>
                <a:latin typeface="Calibri"/>
              </a:defRPr>
            </a:pPr>
            <a:r>
              <a:t>Requirements come in two types. Functional = what the system must do. Non-functional = how well it must perform. Both must be captured before designing architecture.</a:t>
            </a:r>
          </a:p>
        </p:txBody>
      </p:sp>
      <p:sp>
        <p:nvSpPr>
          <p:cNvPr id="10" name="Rectangle 9"/>
          <p:cNvSpPr/>
          <p:nvPr/>
        </p:nvSpPr>
        <p:spPr>
          <a:xfrm>
            <a:off x="502920" y="2212848"/>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76856"/>
            <a:ext cx="5394960" cy="310896"/>
          </a:xfrm>
          <a:prstGeom prst="rect">
            <a:avLst/>
          </a:prstGeom>
          <a:noFill/>
        </p:spPr>
        <p:txBody>
          <a:bodyPr wrap="square">
            <a:spAutoFit/>
          </a:bodyPr>
          <a:lstStyle/>
          <a:p>
            <a:pPr algn="ctr">
              <a:defRPr sz="1800" b="1">
                <a:solidFill>
                  <a:srgbClr val="FFFFFF"/>
                </a:solidFill>
                <a:latin typeface="Calibri"/>
              </a:defRPr>
            </a:pPr>
            <a:r>
              <a:t>Functional Requirements</a:t>
            </a:r>
          </a:p>
        </p:txBody>
      </p:sp>
      <p:sp>
        <p:nvSpPr>
          <p:cNvPr id="12" name="Rectangle 11"/>
          <p:cNvSpPr/>
          <p:nvPr/>
        </p:nvSpPr>
        <p:spPr>
          <a:xfrm>
            <a:off x="6172200" y="2212848"/>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276856"/>
            <a:ext cx="5394960" cy="310896"/>
          </a:xfrm>
          <a:prstGeom prst="rect">
            <a:avLst/>
          </a:prstGeom>
          <a:noFill/>
        </p:spPr>
        <p:txBody>
          <a:bodyPr wrap="square">
            <a:spAutoFit/>
          </a:bodyPr>
          <a:lstStyle/>
          <a:p>
            <a:pPr algn="ctr">
              <a:defRPr sz="1800" b="1">
                <a:solidFill>
                  <a:srgbClr val="FFFFFF"/>
                </a:solidFill>
                <a:latin typeface="Calibri"/>
              </a:defRPr>
            </a:pPr>
            <a:r>
              <a:t>Non-Functional Requirements</a:t>
            </a:r>
          </a:p>
        </p:txBody>
      </p:sp>
      <p:sp>
        <p:nvSpPr>
          <p:cNvPr id="14" name="Rounded Rectangle 13"/>
          <p:cNvSpPr/>
          <p:nvPr/>
        </p:nvSpPr>
        <p:spPr>
          <a:xfrm>
            <a:off x="502920" y="2633472"/>
            <a:ext cx="5394960" cy="3758184"/>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633472"/>
            <a:ext cx="5394960" cy="3758184"/>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Send &amp; receive text messages</a:t>
            </a:r>
          </a:p>
          <a:p>
            <a:pPr>
              <a:spcAft>
                <a:spcPts val="800"/>
              </a:spcAft>
              <a:defRPr sz="1500" b="1">
                <a:solidFill>
                  <a:srgbClr val="1E293B"/>
                </a:solidFill>
                <a:latin typeface="Calibri"/>
              </a:defRPr>
            </a:pPr>
            <a:r>
              <a:t>• Create and manage group chats</a:t>
            </a:r>
          </a:p>
          <a:p>
            <a:pPr>
              <a:spcAft>
                <a:spcPts val="800"/>
              </a:spcAft>
              <a:defRPr sz="1500" b="1">
                <a:solidFill>
                  <a:srgbClr val="1E293B"/>
                </a:solidFill>
                <a:latin typeface="Calibri"/>
              </a:defRPr>
            </a:pPr>
            <a:r>
              <a:t>• Share media (photos, videos, documents)</a:t>
            </a:r>
          </a:p>
          <a:p>
            <a:pPr>
              <a:spcAft>
                <a:spcPts val="800"/>
              </a:spcAft>
              <a:defRPr sz="1500" b="1">
                <a:solidFill>
                  <a:srgbClr val="1E293B"/>
                </a:solidFill>
                <a:latin typeface="Calibri"/>
              </a:defRPr>
            </a:pPr>
            <a:r>
              <a:t>• Read receipts &amp; online status</a:t>
            </a:r>
          </a:p>
          <a:p>
            <a:pPr>
              <a:spcAft>
                <a:spcPts val="800"/>
              </a:spcAft>
              <a:defRPr sz="1500" b="1">
                <a:solidFill>
                  <a:srgbClr val="1E293B"/>
                </a:solidFill>
                <a:latin typeface="Calibri"/>
              </a:defRPr>
            </a:pPr>
            <a:r>
              <a:t>• End-to-end encryption for privacy</a:t>
            </a:r>
          </a:p>
        </p:txBody>
      </p:sp>
      <p:sp>
        <p:nvSpPr>
          <p:cNvPr id="17" name="TextBox 16"/>
          <p:cNvSpPr txBox="1"/>
          <p:nvPr/>
        </p:nvSpPr>
        <p:spPr>
          <a:xfrm>
            <a:off x="630021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Scale: support 1B+ users, 50B msgs/day</a:t>
            </a:r>
          </a:p>
          <a:p>
            <a:pPr>
              <a:spcAft>
                <a:spcPts val="800"/>
              </a:spcAft>
              <a:defRPr sz="1500" b="1">
                <a:solidFill>
                  <a:srgbClr val="1E293B"/>
                </a:solidFill>
                <a:latin typeface="Calibri"/>
              </a:defRPr>
            </a:pPr>
            <a:r>
              <a:t>• Latency: message delivery under 200ms</a:t>
            </a:r>
          </a:p>
          <a:p>
            <a:pPr>
              <a:spcAft>
                <a:spcPts val="800"/>
              </a:spcAft>
              <a:defRPr sz="1500" b="1">
                <a:solidFill>
                  <a:srgbClr val="1E293B"/>
                </a:solidFill>
                <a:latin typeface="Calibri"/>
              </a:defRPr>
            </a:pPr>
            <a:r>
              <a:t>• Availability: 99.99% uptime — always on</a:t>
            </a:r>
          </a:p>
          <a:p>
            <a:pPr>
              <a:spcAft>
                <a:spcPts val="800"/>
              </a:spcAft>
              <a:defRPr sz="1500" b="1">
                <a:solidFill>
                  <a:srgbClr val="1E293B"/>
                </a:solidFill>
                <a:latin typeface="Calibri"/>
              </a:defRPr>
            </a:pPr>
            <a:r>
              <a:t>• Reliability: zero message loss on crash</a:t>
            </a:r>
          </a:p>
          <a:p>
            <a:pPr>
              <a:spcAft>
                <a:spcPts val="800"/>
              </a:spcAft>
              <a:defRPr sz="1500" b="1">
                <a:solidFill>
                  <a:srgbClr val="1E293B"/>
                </a:solidFill>
                <a:latin typeface="Calibri"/>
              </a:defRPr>
            </a:pPr>
            <a:r>
              <a:t>• Security: auth tokens, encrypted transit &amp; 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Back-of-the-Envelope Estimations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Rough calculations before choosing infrastructure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Scale estimates for our chat platform.</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804672"/>
          </a:xfrm>
          <a:prstGeom prst="rect">
            <a:avLst/>
          </a:prstGeom>
          <a:noFill/>
        </p:spPr>
        <p:txBody>
          <a:bodyPr wrap="square">
            <a:spAutoFit/>
          </a:bodyPr>
          <a:lstStyle/>
          <a:p>
            <a:pPr algn="l">
              <a:defRPr sz="1500" b="0">
                <a:solidFill>
                  <a:srgbClr val="1E293B"/>
                </a:solidFill>
                <a:latin typeface="Calibri"/>
              </a:defRPr>
            </a:pPr>
            <a:r>
              <a:t>Estimations prevent over-engineering and under-provisioning. Do quick math on users, QPS (Queries Per Second), storage, and bandwidth — then pick components that match the scale.</a:t>
            </a:r>
          </a:p>
        </p:txBody>
      </p:sp>
      <p:sp>
        <p:nvSpPr>
          <p:cNvPr id="10" name="TextBox 9"/>
          <p:cNvSpPr txBox="1"/>
          <p:nvPr/>
        </p:nvSpPr>
        <p:spPr>
          <a:xfrm>
            <a:off x="548640" y="2359152"/>
            <a:ext cx="11064240" cy="4032504"/>
          </a:xfrm>
          <a:prstGeom prst="rect">
            <a:avLst/>
          </a:prstGeom>
          <a:noFill/>
        </p:spPr>
        <p:txBody>
          <a:bodyPr wrap="square">
            <a:spAutoFit/>
          </a:bodyPr>
          <a:lstStyle/>
          <a:p>
            <a:pPr>
              <a:spcAft>
                <a:spcPts val="900"/>
              </a:spcAft>
              <a:defRPr sz="1600" b="1">
                <a:solidFill>
                  <a:srgbClr val="1E293B"/>
                </a:solidFill>
                <a:latin typeface="Calibri"/>
              </a:defRPr>
            </a:pPr>
            <a:r>
              <a:t>• QPS (Queries Per Second): how many read/write requests the system handles each second</a:t>
            </a:r>
          </a:p>
          <a:p>
            <a:pPr>
              <a:spcAft>
                <a:spcPts val="900"/>
              </a:spcAft>
              <a:defRPr sz="1600" b="1">
                <a:solidFill>
                  <a:srgbClr val="1E293B"/>
                </a:solidFill>
                <a:latin typeface="Calibri"/>
              </a:defRPr>
            </a:pPr>
            <a:r>
              <a:t>• Throughput: total amount of data processed over time (e.g. MB/sec of messages written)</a:t>
            </a:r>
          </a:p>
          <a:p>
            <a:pPr>
              <a:spcAft>
                <a:spcPts val="900"/>
              </a:spcAft>
              <a:defRPr sz="1600" b="1">
                <a:solidFill>
                  <a:srgbClr val="1E293B"/>
                </a:solidFill>
                <a:latin typeface="Calibri"/>
              </a:defRPr>
            </a:pPr>
            <a:r>
              <a:t>• CDN (Content Delivery Network): stores copies of media on edge servers near users for faster delivery</a:t>
            </a:r>
          </a:p>
          <a:p>
            <a:pPr>
              <a:spcAft>
                <a:spcPts val="900"/>
              </a:spcAft>
              <a:defRPr sz="1600" b="1">
                <a:solidFill>
                  <a:srgbClr val="1E293B"/>
                </a:solidFill>
                <a:latin typeface="Calibri"/>
              </a:defRPr>
            </a:pPr>
            <a:r>
              <a:t>• DAU: 20% of 1B users = 200M daily active users</a:t>
            </a:r>
          </a:p>
          <a:p>
            <a:pPr>
              <a:spcAft>
                <a:spcPts val="900"/>
              </a:spcAft>
              <a:defRPr sz="1600" b="1">
                <a:solidFill>
                  <a:srgbClr val="1E293B"/>
                </a:solidFill>
                <a:latin typeface="Calibri"/>
              </a:defRPr>
            </a:pPr>
            <a:r>
              <a:t>• Messages: 200M × 50 msgs/day = 10B messages per day</a:t>
            </a:r>
          </a:p>
          <a:p>
            <a:pPr>
              <a:spcAft>
                <a:spcPts val="900"/>
              </a:spcAft>
              <a:defRPr sz="1600" b="1">
                <a:solidFill>
                  <a:srgbClr val="1E293B"/>
                </a:solidFill>
                <a:latin typeface="Calibri"/>
              </a:defRPr>
            </a:pPr>
            <a:r>
              <a:t>• Peak QPS: 10B / 86400 × 3 (peak factor) ≈ 350K writes/sec</a:t>
            </a:r>
          </a:p>
          <a:p>
            <a:pPr>
              <a:spcAft>
                <a:spcPts val="900"/>
              </a:spcAft>
              <a:defRPr sz="1600" b="1">
                <a:solidFill>
                  <a:srgbClr val="1E293B"/>
                </a:solidFill>
                <a:latin typeface="Calibri"/>
              </a:defRPr>
            </a:pPr>
            <a:r>
              <a:t>• Storage: 10B msgs × 500 bytes ≈ 5 TB/day → ~1.8 PB/year</a:t>
            </a:r>
          </a:p>
          <a:p>
            <a:pPr>
              <a:spcAft>
                <a:spcPts val="900"/>
              </a:spcAft>
              <a:defRPr sz="1600" b="1">
                <a:solidFill>
                  <a:srgbClr val="1E293B"/>
                </a:solidFill>
                <a:latin typeface="Calibri"/>
              </a:defRPr>
            </a:pPr>
            <a:r>
              <a:t>• Media: 10% msgs with ~1MB media ≈ 1 PB/year — served via CDN</a:t>
            </a:r>
          </a:p>
          <a:p>
            <a:pPr>
              <a:spcAft>
                <a:spcPts val="900"/>
              </a:spcAft>
              <a:defRPr sz="1600" b="1">
                <a:solidFill>
                  <a:srgbClr val="1E293B"/>
                </a:solidFill>
                <a:latin typeface="Calibri"/>
              </a:defRPr>
            </a:pPr>
            <a:r>
              <a:t>• Bandwidth: 350K × 500B ≈ 175 MB/sec write throughput</a:t>
            </a:r>
          </a:p>
          <a:p>
            <a:pPr>
              <a:spcAft>
                <a:spcPts val="900"/>
              </a:spcAft>
              <a:defRPr sz="1600" b="1">
                <a:solidFill>
                  <a:srgbClr val="1E293B"/>
                </a:solidFill>
                <a:latin typeface="Calibri"/>
              </a:defRPr>
            </a:pPr>
            <a:r>
              <a:t>• Takeaway: need horizontal scaling, sharding, async queues, and CDN for media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560320"/>
            <a:ext cx="10515600" cy="914400"/>
          </a:xfrm>
          <a:prstGeom prst="rect">
            <a:avLst/>
          </a:prstGeom>
          <a:noFill/>
        </p:spPr>
        <p:txBody>
          <a:bodyPr wrap="square">
            <a:spAutoFit/>
          </a:bodyPr>
          <a:lstStyle/>
          <a:p>
            <a:pPr algn="l">
              <a:defRPr sz="3800" b="1">
                <a:solidFill>
                  <a:srgbClr val="FFFFFF"/>
                </a:solidFill>
                <a:latin typeface="Calibri"/>
              </a:defRPr>
            </a:pPr>
            <a:r>
              <a:t>HIGH LEVEL DESIGN (HLD)</a:t>
            </a:r>
          </a:p>
        </p:txBody>
      </p:sp>
      <p:sp>
        <p:nvSpPr>
          <p:cNvPr id="4" name="TextBox 3"/>
          <p:cNvSpPr txBox="1"/>
          <p:nvPr/>
        </p:nvSpPr>
        <p:spPr>
          <a:xfrm>
            <a:off x="731520" y="3657600"/>
            <a:ext cx="10515600" cy="640080"/>
          </a:xfrm>
          <a:prstGeom prst="rect">
            <a:avLst/>
          </a:prstGeom>
          <a:noFill/>
        </p:spPr>
        <p:txBody>
          <a:bodyPr wrap="square">
            <a:spAutoFit/>
          </a:bodyPr>
          <a:lstStyle/>
          <a:p>
            <a:pPr algn="l">
              <a:defRPr sz="2000" b="0">
                <a:solidFill>
                  <a:srgbClr val="00B4D8"/>
                </a:solidFill>
                <a:latin typeface="Calibri"/>
              </a:defRPr>
            </a:pPr>
            <a:r>
              <a:t>Running Example: WhatsApp-like Chat System</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How Does the Internet Work?</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The path every request travels — from phone to server and back</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Tracing a 'send message' request end-to-end.</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When you send a chat message, data travels through several layers: your app contacts DNS to find the server, traffic passes through load balancers, the chat service processes it, and data is stored in databases — media goes via CDN.</a:t>
            </a:r>
          </a:p>
        </p:txBody>
      </p:sp>
      <p:sp>
        <p:nvSpPr>
          <p:cNvPr id="10" name="TextBox 9"/>
          <p:cNvSpPr txBox="1"/>
          <p:nvPr/>
        </p:nvSpPr>
        <p:spPr>
          <a:xfrm>
            <a:off x="548640" y="2286000"/>
            <a:ext cx="11064240" cy="3063240"/>
          </a:xfrm>
          <a:prstGeom prst="rect">
            <a:avLst/>
          </a:prstGeom>
          <a:noFill/>
        </p:spPr>
        <p:txBody>
          <a:bodyPr wrap="square">
            <a:spAutoFit/>
          </a:bodyPr>
          <a:lstStyle/>
          <a:p>
            <a:pPr>
              <a:spcAft>
                <a:spcPts val="500"/>
              </a:spcAft>
              <a:defRPr sz="1400" b="1">
                <a:solidFill>
                  <a:srgbClr val="1E293B"/>
                </a:solidFill>
                <a:latin typeface="Calibri"/>
              </a:defRPr>
            </a:pPr>
            <a:r>
              <a:t>• Client (App) — WhatsApp mobile app initiates the request</a:t>
            </a:r>
          </a:p>
          <a:p>
            <a:pPr>
              <a:spcAft>
                <a:spcPts val="500"/>
              </a:spcAft>
              <a:defRPr sz="1400" b="1">
                <a:solidFill>
                  <a:srgbClr val="1E293B"/>
                </a:solidFill>
                <a:latin typeface="Calibri"/>
              </a:defRPr>
            </a:pPr>
            <a:r>
              <a:t>• DNS (Domain Name System) — converts names like chat.example.com into server IP addresses</a:t>
            </a:r>
          </a:p>
          <a:p>
            <a:pPr>
              <a:spcAft>
                <a:spcPts val="500"/>
              </a:spcAft>
              <a:defRPr sz="1400" b="1">
                <a:solidFill>
                  <a:srgbClr val="1E293B"/>
                </a:solidFill>
                <a:latin typeface="Calibri"/>
              </a:defRPr>
            </a:pPr>
            <a:r>
              <a:t>• Load Balancer — distributes WebSocket connections across chat servers</a:t>
            </a:r>
          </a:p>
          <a:p>
            <a:pPr>
              <a:spcAft>
                <a:spcPts val="500"/>
              </a:spcAft>
              <a:defRPr sz="1400" b="1">
                <a:solidFill>
                  <a:srgbClr val="1E293B"/>
                </a:solidFill>
                <a:latin typeface="Calibri"/>
              </a:defRPr>
            </a:pPr>
            <a:r>
              <a:t>• Chat Server — handles send/receive business logic</a:t>
            </a:r>
          </a:p>
          <a:p>
            <a:pPr>
              <a:spcAft>
                <a:spcPts val="500"/>
              </a:spcAft>
              <a:defRPr sz="1400" b="1">
                <a:solidFill>
                  <a:srgbClr val="1E293B"/>
                </a:solidFill>
                <a:latin typeface="Calibri"/>
              </a:defRPr>
            </a:pPr>
            <a:r>
              <a:t>• Database / Cache — Cassandra for messages, Redis for sessions</a:t>
            </a:r>
          </a:p>
          <a:p>
            <a:pPr>
              <a:spcAft>
                <a:spcPts val="500"/>
              </a:spcAft>
              <a:defRPr sz="1400" b="1">
                <a:solidFill>
                  <a:srgbClr val="1E293B"/>
                </a:solidFill>
                <a:latin typeface="Calibri"/>
              </a:defRPr>
            </a:pPr>
            <a:r>
              <a:t>• CDN (Content Delivery Network) — serves profile pics &amp; media from the nearest edge server</a:t>
            </a:r>
          </a:p>
        </p:txBody>
      </p:sp>
      <p:sp>
        <p:nvSpPr>
          <p:cNvPr id="11" name="Rectangle 10"/>
          <p:cNvSpPr/>
          <p:nvPr/>
        </p:nvSpPr>
        <p:spPr>
          <a:xfrm>
            <a:off x="502920" y="5422392"/>
            <a:ext cx="11064240" cy="2743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5477256"/>
            <a:ext cx="2743200" cy="219456"/>
          </a:xfrm>
          <a:prstGeom prst="rect">
            <a:avLst/>
          </a:prstGeom>
          <a:noFill/>
        </p:spPr>
        <p:txBody>
          <a:bodyPr wrap="square">
            <a:spAutoFit/>
          </a:bodyPr>
          <a:lstStyle/>
          <a:p>
            <a:pPr algn="l">
              <a:defRPr sz="1200" b="1">
                <a:solidFill>
                  <a:srgbClr val="1A56DB"/>
                </a:solidFill>
                <a:latin typeface="Calibri"/>
              </a:defRPr>
            </a:pPr>
            <a:r>
              <a:t>Flow</a:t>
            </a:r>
          </a:p>
        </p:txBody>
      </p:sp>
      <p:sp>
        <p:nvSpPr>
          <p:cNvPr id="13" name="Rounded Rectangle 12"/>
          <p:cNvSpPr/>
          <p:nvPr/>
        </p:nvSpPr>
        <p:spPr>
          <a:xfrm>
            <a:off x="609447" y="5733288"/>
            <a:ext cx="1975104" cy="457200"/>
          </a:xfrm>
          <a:prstGeom prst="round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t>Client</a:t>
            </a:r>
          </a:p>
        </p:txBody>
      </p:sp>
      <p:sp>
        <p:nvSpPr>
          <p:cNvPr id="14" name="Right Arrow 13"/>
          <p:cNvSpPr/>
          <p:nvPr/>
        </p:nvSpPr>
        <p:spPr>
          <a:xfrm>
            <a:off x="2593695" y="5852160"/>
            <a:ext cx="219456" cy="219456"/>
          </a:xfrm>
          <a:prstGeom prst="rightArrow">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858871" y="5733288"/>
            <a:ext cx="1975104" cy="457200"/>
          </a:xfrm>
          <a:prstGeom prst="round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t>DNS</a:t>
            </a:r>
          </a:p>
        </p:txBody>
      </p:sp>
      <p:sp>
        <p:nvSpPr>
          <p:cNvPr id="16" name="Right Arrow 15"/>
          <p:cNvSpPr/>
          <p:nvPr/>
        </p:nvSpPr>
        <p:spPr>
          <a:xfrm>
            <a:off x="4843119" y="5852160"/>
            <a:ext cx="219456" cy="219456"/>
          </a:xfrm>
          <a:prstGeom prst="rightArrow">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108295" y="5733288"/>
            <a:ext cx="1975104" cy="45720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t>LB</a:t>
            </a:r>
          </a:p>
        </p:txBody>
      </p:sp>
      <p:sp>
        <p:nvSpPr>
          <p:cNvPr id="18" name="Right Arrow 17"/>
          <p:cNvSpPr/>
          <p:nvPr/>
        </p:nvSpPr>
        <p:spPr>
          <a:xfrm>
            <a:off x="7092543" y="5852160"/>
            <a:ext cx="219456" cy="219456"/>
          </a:xfrm>
          <a:prstGeom prst="rightArrow">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57719" y="5733288"/>
            <a:ext cx="1975104" cy="45720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t>Chat Server</a:t>
            </a:r>
          </a:p>
        </p:txBody>
      </p:sp>
      <p:sp>
        <p:nvSpPr>
          <p:cNvPr id="20" name="Right Arrow 19"/>
          <p:cNvSpPr/>
          <p:nvPr/>
        </p:nvSpPr>
        <p:spPr>
          <a:xfrm>
            <a:off x="9341967" y="5852160"/>
            <a:ext cx="219456" cy="219456"/>
          </a:xfrm>
          <a:prstGeom prst="rightArrow">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607143" y="5733288"/>
            <a:ext cx="1975104" cy="4572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t>Cache/DB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Threads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Lightweight execution units inside a server process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Chat servers use threads/goroutines for concurrent connections.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A thread is the smallest unit of CPU execution. Multiple threads within one process share memory and run concurrently — essential for handling thousands of simultaneous chat connections on one server.</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Process vs Thread: process = independent program; threads share process memory</a:t>
            </a:r>
          </a:p>
          <a:p>
            <a:pPr>
              <a:spcAft>
                <a:spcPts val="500"/>
              </a:spcAft>
              <a:defRPr sz="1400" b="1">
                <a:solidFill>
                  <a:srgbClr val="1E293B"/>
                </a:solidFill>
                <a:latin typeface="Calibri"/>
              </a:defRPr>
            </a:pPr>
            <a:r>
              <a:t>• Multi-threading: many connections handled concurrently in one chat server</a:t>
            </a:r>
          </a:p>
          <a:p>
            <a:pPr>
              <a:spcAft>
                <a:spcPts val="500"/>
              </a:spcAft>
              <a:defRPr sz="1400" b="1">
                <a:solidFill>
                  <a:srgbClr val="1E293B"/>
                </a:solidFill>
                <a:latin typeface="Calibri"/>
              </a:defRPr>
            </a:pPr>
            <a:r>
              <a:t>• Thread pool: pre-created workers ready to process incoming messages</a:t>
            </a:r>
          </a:p>
          <a:p>
            <a:pPr>
              <a:spcAft>
                <a:spcPts val="500"/>
              </a:spcAft>
              <a:defRPr sz="1400" b="1">
                <a:solidFill>
                  <a:srgbClr val="1E293B"/>
                </a:solidFill>
                <a:latin typeface="Calibri"/>
              </a:defRPr>
            </a:pPr>
            <a:r>
              <a:t>• Benefit: efficient I/O concurrency without spawning full new processes</a:t>
            </a:r>
          </a:p>
          <a:p>
            <a:pPr>
              <a:spcAft>
                <a:spcPts val="500"/>
              </a:spcAft>
              <a:defRPr sz="1400" b="1">
                <a:solidFill>
                  <a:srgbClr val="1E293B"/>
                </a:solidFill>
                <a:latin typeface="Calibri"/>
              </a:defRPr>
            </a:pPr>
            <a:r>
              <a:t>• Risk — race condition: if two threads update unread count at once, one update can be lost</a:t>
            </a:r>
          </a:p>
          <a:p>
            <a:pPr>
              <a:spcAft>
                <a:spcPts val="500"/>
              </a:spcAft>
              <a:defRPr sz="1400" b="1">
                <a:solidFill>
                  <a:srgbClr val="1E293B"/>
                </a:solidFill>
                <a:latin typeface="Calibri"/>
              </a:defRPr>
            </a:pPr>
            <a:r>
              <a:t>• Fix: use a lock (mutex) — only one thread updates the count at a time; others wait their turn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Pages &amp; Virtual Memory — Part 1: Concepts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Why the OS splits RAM into pages and gives each program private addresses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Think: virtual page = label in the book; physical page = real locker in RAM.</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400" b="0">
                <a:solidFill>
                  <a:srgbClr val="1E293B"/>
                </a:solidFill>
                <a:latin typeface="Calibri"/>
              </a:defRPr>
            </a:pPr>
            <a:r>
              <a:t>Physical RAM is real hardware memory (e.g. 32 GB) shared by every running program. The OS uses pages and virtual memory so programs never overwrite each other's data.</a:t>
            </a:r>
          </a:p>
        </p:txBody>
      </p:sp>
      <p:sp>
        <p:nvSpPr>
          <p:cNvPr id="10" name="TextBox 9"/>
          <p:cNvSpPr txBox="1"/>
          <p:nvPr/>
        </p:nvSpPr>
        <p:spPr>
          <a:xfrm>
            <a:off x="548640" y="2249424"/>
            <a:ext cx="11064240" cy="4142232"/>
          </a:xfrm>
          <a:prstGeom prst="rect">
            <a:avLst/>
          </a:prstGeom>
          <a:noFill/>
        </p:spPr>
        <p:txBody>
          <a:bodyPr wrap="square">
            <a:spAutoFit/>
          </a:bodyPr>
          <a:lstStyle/>
          <a:p>
            <a:pPr>
              <a:spcAft>
                <a:spcPts val="200"/>
              </a:spcAft>
              <a:defRPr sz="1200" b="1">
                <a:solidFill>
                  <a:srgbClr val="1E293B"/>
                </a:solidFill>
                <a:latin typeface="Calibri"/>
              </a:defRPr>
            </a:pPr>
            <a:r>
              <a:t>• 1. Physical RAM — the real deal</a:t>
            </a:r>
          </a:p>
          <a:p>
            <a:pPr>
              <a:spcAft>
                <a:spcPts val="400"/>
              </a:spcAft>
              <a:defRPr sz="1200" b="0">
                <a:solidFill>
                  <a:srgbClr val="1E293B"/>
                </a:solidFill>
                <a:latin typeface="Calibri"/>
              </a:defRPr>
            </a:pPr>
            <a:r>
              <a:t>   Real memory chips on the server. All programs (chat server, database, OS) share this one pool. Data actually lives here — in fixed 4 KB blocks called physical pages (frames).</a:t>
            </a:r>
          </a:p>
          <a:p>
            <a:pPr>
              <a:spcAft>
                <a:spcPts val="200"/>
              </a:spcAft>
              <a:defRPr sz="1200" b="1">
                <a:solidFill>
                  <a:srgbClr val="1E293B"/>
                </a:solidFill>
                <a:latin typeface="Calibri"/>
              </a:defRPr>
            </a:pPr>
            <a:r>
              <a:t>• 2. The work — why memory is needed</a:t>
            </a:r>
          </a:p>
          <a:p>
            <a:pPr>
              <a:spcAft>
                <a:spcPts val="400"/>
              </a:spcAft>
              <a:defRPr sz="1200" b="0">
                <a:solidFill>
                  <a:srgbClr val="1E293B"/>
                </a:solidFill>
                <a:latin typeface="Calibri"/>
              </a:defRPr>
            </a:pPr>
            <a:r>
              <a:t>   Chat server holds code, WebSocket connections, message buffers, and session data. Database holds query caches and table data. All run on the same machine at the same time.</a:t>
            </a:r>
          </a:p>
          <a:p>
            <a:pPr>
              <a:spcAft>
                <a:spcPts val="200"/>
              </a:spcAft>
              <a:defRPr sz="1200" b="1">
                <a:solidFill>
                  <a:srgbClr val="1E293B"/>
                </a:solidFill>
                <a:latin typeface="Calibri"/>
              </a:defRPr>
            </a:pPr>
            <a:r>
              <a:t>• 3. Problem A — isolation (why virtual memory exists)</a:t>
            </a:r>
          </a:p>
          <a:p>
            <a:pPr>
              <a:spcAft>
                <a:spcPts val="400"/>
              </a:spcAft>
              <a:defRPr sz="1200" b="0">
                <a:solidFill>
                  <a:srgbClr val="1E293B"/>
                </a:solidFill>
                <a:latin typeface="Calibri"/>
              </a:defRPr>
            </a:pPr>
            <a:r>
              <a:t>   Without it, two programs could read/write the same physical address. Chat app and database both write at spot 5000 → one overwrites the other → corruption or crash.</a:t>
            </a:r>
          </a:p>
          <a:p>
            <a:pPr>
              <a:spcAft>
                <a:spcPts val="200"/>
              </a:spcAft>
              <a:defRPr sz="1200" b="1">
                <a:solidFill>
                  <a:srgbClr val="1E293B"/>
                </a:solidFill>
                <a:latin typeface="Calibri"/>
              </a:defRPr>
            </a:pPr>
            <a:r>
              <a:t>• 4. Who clashes? Programs, not chat users</a:t>
            </a:r>
          </a:p>
          <a:p>
            <a:pPr>
              <a:spcAft>
                <a:spcPts val="400"/>
              </a:spcAft>
              <a:defRPr sz="1200" b="0">
                <a:solidFill>
                  <a:srgbClr val="1E293B"/>
                </a:solidFill>
                <a:latin typeface="Calibri"/>
              </a:defRPr>
            </a:pPr>
            <a:r>
              <a:t>   Overwrite risk is between programs (chat app vs database vs OS). Not chat_user_105 vs chat_user_108 — the app allocates separate memory for each user internally.</a:t>
            </a:r>
          </a:p>
          <a:p>
            <a:pPr>
              <a:spcAft>
                <a:spcPts val="200"/>
              </a:spcAft>
              <a:defRPr sz="1200" b="1">
                <a:solidFill>
                  <a:srgbClr val="1E293B"/>
                </a:solidFill>
                <a:latin typeface="Calibri"/>
              </a:defRPr>
            </a:pPr>
            <a:r>
              <a:t>• 5. What is a PAGE? — two types</a:t>
            </a:r>
          </a:p>
          <a:p>
            <a:pPr>
              <a:spcAft>
                <a:spcPts val="200"/>
              </a:spcAft>
              <a:defRPr sz="1200" b="0">
                <a:solidFill>
                  <a:srgbClr val="1E293B"/>
                </a:solidFill>
                <a:latin typeface="Calibri"/>
              </a:defRPr>
            </a:pPr>
            <a:r>
              <a:t>   A page = fixed 4 KB chunk, the unit OS uses to manage memory (not byte-by-byte).</a:t>
            </a:r>
          </a:p>
          <a:p>
            <a:pPr>
              <a:spcAft>
                <a:spcPts val="200"/>
              </a:spcAft>
              <a:defRPr sz="1200" b="0">
                <a:solidFill>
                  <a:srgbClr val="1E293B"/>
                </a:solidFill>
                <a:latin typeface="Calibri"/>
              </a:defRPr>
            </a:pPr>
            <a:r>
              <a:t>   Virtual page = slot in a program's private address book (what the program sees).</a:t>
            </a:r>
          </a:p>
          <a:p>
            <a:pPr>
              <a:spcAft>
                <a:spcPts val="400"/>
              </a:spcAft>
              <a:defRPr sz="1200" b="0">
                <a:solidFill>
                  <a:srgbClr val="1E293B"/>
                </a:solidFill>
                <a:latin typeface="Calibri"/>
              </a:defRPr>
            </a:pPr>
            <a:r>
              <a:t>   Physical page (frame) = the real 4 KB box in RAM where bytes are stored.</a:t>
            </a:r>
          </a:p>
          <a:p>
            <a:pPr>
              <a:spcAft>
                <a:spcPts val="200"/>
              </a:spcAft>
              <a:defRPr sz="1200" b="1">
                <a:solidFill>
                  <a:srgbClr val="1E293B"/>
                </a:solidFill>
                <a:latin typeface="Calibri"/>
              </a:defRPr>
            </a:pPr>
            <a:r>
              <a:t>• 6. What is virtual memory?</a:t>
            </a:r>
          </a:p>
          <a:p>
            <a:pPr>
              <a:spcAft>
                <a:spcPts val="400"/>
              </a:spcAft>
              <a:defRPr sz="1200" b="0">
                <a:solidFill>
                  <a:srgbClr val="1E293B"/>
                </a:solidFill>
                <a:latin typeface="Calibri"/>
              </a:defRPr>
            </a:pPr>
            <a:r>
              <a:t>   Each program gets its own private address space — its own virtual page numbers (0, 1, 2…). The program only uses virtual addresses; it never knows where data physically sits in RAM.</a:t>
            </a:r>
          </a:p>
          <a:p>
            <a:pPr>
              <a:spcAft>
                <a:spcPts val="200"/>
              </a:spcAft>
              <a:defRPr sz="1200" b="1">
                <a:solidFill>
                  <a:srgbClr val="1E293B"/>
                </a:solidFill>
                <a:latin typeface="Calibri"/>
              </a:defRPr>
            </a:pPr>
            <a:r>
              <a:t>• 7. Page table — the OS translation map</a:t>
            </a:r>
          </a:p>
          <a:p>
            <a:pPr>
              <a:spcAft>
                <a:spcPts val="200"/>
              </a:spcAft>
              <a:defRPr sz="1200" b="0">
                <a:solidFill>
                  <a:srgbClr val="1E293B"/>
                </a:solidFill>
                <a:latin typeface="Calibri"/>
              </a:defRPr>
            </a:pPr>
            <a:r>
              <a:t>   OS map per program: virtual page → physical page.</a:t>
            </a:r>
          </a:p>
          <a:p>
            <a:pPr>
              <a:spcAft>
                <a:spcPts val="200"/>
              </a:spcAft>
              <a:defRPr sz="1200" b="0">
                <a:solidFill>
                  <a:srgbClr val="1E293B"/>
                </a:solidFill>
                <a:latin typeface="Calibri"/>
              </a:defRPr>
            </a:pPr>
            <a:r>
              <a:t>   Chat app virtual page 101 → physical page 1001.</a:t>
            </a:r>
          </a:p>
          <a:p>
            <a:pPr>
              <a:spcAft>
                <a:spcPts val="200"/>
              </a:spcAft>
              <a:defRPr sz="1200" b="0">
                <a:solidFill>
                  <a:srgbClr val="1E293B"/>
                </a:solidFill>
                <a:latin typeface="Calibri"/>
              </a:defRPr>
            </a:pPr>
            <a:r>
              <a:t>   Database virtual page 101 → physical page 2005.</a:t>
            </a:r>
          </a:p>
          <a:p>
            <a:pPr>
              <a:spcAft>
                <a:spcPts val="400"/>
              </a:spcAft>
              <a:defRPr sz="1200" b="0">
                <a:solidFill>
                  <a:srgbClr val="1E293B"/>
                </a:solidFill>
                <a:latin typeface="Calibri"/>
              </a:defRPr>
            </a:pPr>
            <a:r>
              <a:t>   Same virtual number, different physical spot → no overwrite.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Pages &amp; Virtual Memory — Part 2: In Practice</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How access works, what happens when RAM fills, and why it matters for chat</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Example: 50 KB/connection × 100K connections ≈ 5 GB RAM just for sessions.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400" b="0">
                <a:solidFill>
                  <a:srgbClr val="1E293B"/>
                </a:solidFill>
                <a:latin typeface="Calibri"/>
              </a:defRPr>
            </a:pPr>
            <a:r>
              <a:t>Programs only ever use virtual addresses. The OS translates every access via the page table. When RAM runs out or data is on disk, performance changes — that's separate from the isolation problem.</a:t>
            </a:r>
          </a:p>
        </p:txBody>
      </p:sp>
      <p:sp>
        <p:nvSpPr>
          <p:cNvPr id="10" name="TextBox 9"/>
          <p:cNvSpPr txBox="1"/>
          <p:nvPr/>
        </p:nvSpPr>
        <p:spPr>
          <a:xfrm>
            <a:off x="548640" y="2249424"/>
            <a:ext cx="11064240" cy="4142232"/>
          </a:xfrm>
          <a:prstGeom prst="rect">
            <a:avLst/>
          </a:prstGeom>
          <a:noFill/>
        </p:spPr>
        <p:txBody>
          <a:bodyPr wrap="square">
            <a:spAutoFit/>
          </a:bodyPr>
          <a:lstStyle/>
          <a:p>
            <a:pPr>
              <a:spcAft>
                <a:spcPts val="200"/>
              </a:spcAft>
              <a:defRPr sz="1200" b="1">
                <a:solidFill>
                  <a:srgbClr val="1E293B"/>
                </a:solidFill>
                <a:latin typeface="Calibri"/>
              </a:defRPr>
            </a:pPr>
            <a:r>
              <a:t>• 8. How every read/write works</a:t>
            </a:r>
          </a:p>
          <a:p>
            <a:pPr>
              <a:spcAft>
                <a:spcPts val="400"/>
              </a:spcAft>
              <a:defRPr sz="1200" b="0">
                <a:solidFill>
                  <a:srgbClr val="1E293B"/>
                </a:solidFill>
                <a:latin typeface="Calibri"/>
              </a:defRPr>
            </a:pPr>
            <a:r>
              <a:t>   Program uses virtual page 101 → CPU asks OS → page table lookup → OS reads/writes the mapped physical page in RAM. Program never touches physical RAM directly.</a:t>
            </a:r>
          </a:p>
          <a:p>
            <a:pPr>
              <a:spcAft>
                <a:spcPts val="200"/>
              </a:spcAft>
              <a:defRPr sz="1200" b="1">
                <a:solidFill>
                  <a:srgbClr val="1E293B"/>
                </a:solidFill>
                <a:latin typeface="Calibri"/>
              </a:defRPr>
            </a:pPr>
            <a:r>
              <a:t>• 9. Virtual memory ≠ extra RAM</a:t>
            </a:r>
          </a:p>
          <a:p>
            <a:pPr>
              <a:spcAft>
                <a:spcPts val="400"/>
              </a:spcAft>
              <a:defRPr sz="1200" b="0">
                <a:solidFill>
                  <a:srgbClr val="1E293B"/>
                </a:solidFill>
                <a:latin typeface="Calibri"/>
              </a:defRPr>
            </a:pPr>
            <a:r>
              <a:t>   Virtual memory does not create more physical RAM. It gives private virtual addresses. Only virtual pages actively in use are backed by real physical pages in RAM.</a:t>
            </a:r>
          </a:p>
          <a:p>
            <a:pPr>
              <a:spcAft>
                <a:spcPts val="200"/>
              </a:spcAft>
              <a:defRPr sz="1200" b="1">
                <a:solidFill>
                  <a:srgbClr val="1E293B"/>
                </a:solidFill>
                <a:latin typeface="Calibri"/>
              </a:defRPr>
            </a:pPr>
            <a:r>
              <a:t>• 10. Problem B — RAM fills up (separate from isolation)</a:t>
            </a:r>
          </a:p>
          <a:p>
            <a:pPr>
              <a:spcAft>
                <a:spcPts val="400"/>
              </a:spcAft>
              <a:defRPr sz="1200" b="0">
                <a:solidFill>
                  <a:srgbClr val="1E293B"/>
                </a:solidFill>
                <a:latin typeface="Calibri"/>
              </a:defRPr>
            </a:pPr>
            <a:r>
              <a:t>   When memory need exceeds physical RAM, OS moves inactive pages to disk (swap). System keeps running but slower. Need 500 GB fast? You still need the hardware — swap is not a substitute.</a:t>
            </a:r>
          </a:p>
          <a:p>
            <a:pPr>
              <a:spcAft>
                <a:spcPts val="200"/>
              </a:spcAft>
              <a:defRPr sz="1200" b="1">
                <a:solidFill>
                  <a:srgbClr val="1E293B"/>
                </a:solidFill>
                <a:latin typeface="Calibri"/>
              </a:defRPr>
            </a:pPr>
            <a:r>
              <a:t>• 11. Page fault — loading from disk</a:t>
            </a:r>
          </a:p>
          <a:p>
            <a:pPr>
              <a:spcAft>
                <a:spcPts val="400"/>
              </a:spcAft>
              <a:defRPr sz="1200" b="0">
                <a:solidFill>
                  <a:srgbClr val="1E293B"/>
                </a:solidFill>
                <a:latin typeface="Calibri"/>
              </a:defRPr>
            </a:pPr>
            <a:r>
              <a:t>   Program accesses a virtual page not in RAM → OS loads it from disk into a free physical page → updates page table → continues. Adds milliseconds of latency.</a:t>
            </a:r>
          </a:p>
          <a:p>
            <a:pPr>
              <a:spcAft>
                <a:spcPts val="200"/>
              </a:spcAft>
              <a:defRPr sz="1200" b="1">
                <a:solidFill>
                  <a:srgbClr val="1E293B"/>
                </a:solidFill>
                <a:latin typeface="Calibri"/>
              </a:defRPr>
            </a:pPr>
            <a:r>
              <a:t>• 12. Your laptop does this too</a:t>
            </a:r>
          </a:p>
          <a:p>
            <a:pPr>
              <a:spcAft>
                <a:spcPts val="400"/>
              </a:spcAft>
              <a:defRPr sz="1200" b="0">
                <a:solidFill>
                  <a:srgbClr val="1E293B"/>
                </a:solidFill>
                <a:latin typeface="Calibri"/>
              </a:defRPr>
            </a:pPr>
            <a:r>
              <a:t>   Windows / Mac / Linux gives every app its own virtual memory + page mapping. Laptop slows with many tabs = RAM full + page faults from disk, not memory overwrites.</a:t>
            </a:r>
          </a:p>
          <a:p>
            <a:pPr>
              <a:spcAft>
                <a:spcPts val="200"/>
              </a:spcAft>
              <a:defRPr sz="1200" b="1">
                <a:solidFill>
                  <a:srgbClr val="1E293B"/>
                </a:solidFill>
                <a:latin typeface="Calibri"/>
              </a:defRPr>
            </a:pPr>
            <a:r>
              <a:t>• 13. Chat system design takeaway</a:t>
            </a:r>
          </a:p>
          <a:p>
            <a:pPr>
              <a:spcAft>
                <a:spcPts val="200"/>
              </a:spcAft>
              <a:defRPr sz="1200" b="0">
                <a:solidFill>
                  <a:srgbClr val="1E293B"/>
                </a:solidFill>
                <a:latin typeface="Calibri"/>
              </a:defRPr>
            </a:pPr>
            <a:r>
              <a:t>   Each WebSocket connection uses RAM (~tens of KB for session + buffers).</a:t>
            </a:r>
          </a:p>
          <a:p>
            <a:pPr>
              <a:spcAft>
                <a:spcPts val="200"/>
              </a:spcAft>
              <a:defRPr sz="1200" b="0">
                <a:solidFill>
                  <a:srgbClr val="1E293B"/>
                </a:solidFill>
                <a:latin typeface="Calibri"/>
              </a:defRPr>
            </a:pPr>
            <a:r>
              <a:t>   Capacity: RAM per connection × max connections ≤ server RAM budget.</a:t>
            </a:r>
          </a:p>
          <a:p>
            <a:pPr>
              <a:spcAft>
                <a:spcPts val="400"/>
              </a:spcAft>
              <a:defRPr sz="1200" b="0">
                <a:solidFill>
                  <a:srgbClr val="1E293B"/>
                </a:solidFill>
                <a:latin typeface="Calibri"/>
              </a:defRPr>
            </a:pPr>
            <a:r>
              <a:t>   Hit limit → swap latency, or add RAM / more chat servers.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Horizontal vs Vertical Scaling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Two ways to handle more users and traffic</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Chat platform scales horizontally to billions of messages.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500" b="0">
                <a:solidFill>
                  <a:srgbClr val="1E293B"/>
                </a:solidFill>
                <a:latin typeface="Calibri"/>
              </a:defRPr>
            </a:pPr>
            <a:r>
              <a:t>Scaling means growing capacity as demand grows. Vertical scaling adds power to one machine; horizontal scaling adds more machines. Modern chat systems scale horizontally — with stateless servers behind a load balancer.</a:t>
            </a:r>
          </a:p>
        </p:txBody>
      </p:sp>
      <p:sp>
        <p:nvSpPr>
          <p:cNvPr id="10" name="Rectangle 9"/>
          <p:cNvSpPr/>
          <p:nvPr/>
        </p:nvSpPr>
        <p:spPr>
          <a:xfrm>
            <a:off x="502920" y="2212848"/>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76856"/>
            <a:ext cx="5394960" cy="310896"/>
          </a:xfrm>
          <a:prstGeom prst="rect">
            <a:avLst/>
          </a:prstGeom>
          <a:noFill/>
        </p:spPr>
        <p:txBody>
          <a:bodyPr wrap="square">
            <a:spAutoFit/>
          </a:bodyPr>
          <a:lstStyle/>
          <a:p>
            <a:pPr algn="ctr">
              <a:defRPr sz="1800" b="1">
                <a:solidFill>
                  <a:srgbClr val="FFFFFF"/>
                </a:solidFill>
                <a:latin typeface="Calibri"/>
              </a:defRPr>
            </a:pPr>
            <a:r>
              <a:t>Vertical Scaling (Scale Up)</a:t>
            </a:r>
          </a:p>
        </p:txBody>
      </p:sp>
      <p:sp>
        <p:nvSpPr>
          <p:cNvPr id="12" name="Rectangle 11"/>
          <p:cNvSpPr/>
          <p:nvPr/>
        </p:nvSpPr>
        <p:spPr>
          <a:xfrm>
            <a:off x="6172200" y="2212848"/>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276856"/>
            <a:ext cx="5394960" cy="310896"/>
          </a:xfrm>
          <a:prstGeom prst="rect">
            <a:avLst/>
          </a:prstGeom>
          <a:noFill/>
        </p:spPr>
        <p:txBody>
          <a:bodyPr wrap="square">
            <a:spAutoFit/>
          </a:bodyPr>
          <a:lstStyle/>
          <a:p>
            <a:pPr algn="ctr">
              <a:defRPr sz="1800" b="1">
                <a:solidFill>
                  <a:srgbClr val="FFFFFF"/>
                </a:solidFill>
                <a:latin typeface="Calibri"/>
              </a:defRPr>
            </a:pPr>
            <a:r>
              <a:t>Horizontal Scaling (Scale Out)</a:t>
            </a:r>
          </a:p>
        </p:txBody>
      </p:sp>
      <p:sp>
        <p:nvSpPr>
          <p:cNvPr id="14" name="Rounded Rectangle 13"/>
          <p:cNvSpPr/>
          <p:nvPr/>
        </p:nvSpPr>
        <p:spPr>
          <a:xfrm>
            <a:off x="502920" y="2633472"/>
            <a:ext cx="5394960" cy="3758184"/>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633472"/>
            <a:ext cx="5394960" cy="3758184"/>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Add more CPU / RAM to existing server</a:t>
            </a:r>
          </a:p>
          <a:p>
            <a:pPr>
              <a:spcAft>
                <a:spcPts val="800"/>
              </a:spcAft>
              <a:defRPr sz="1500" b="1">
                <a:solidFill>
                  <a:srgbClr val="1E293B"/>
                </a:solidFill>
                <a:latin typeface="Calibri"/>
              </a:defRPr>
            </a:pPr>
            <a:r>
              <a:t>• Simple — no code changes needed</a:t>
            </a:r>
          </a:p>
          <a:p>
            <a:pPr>
              <a:spcAft>
                <a:spcPts val="800"/>
              </a:spcAft>
              <a:defRPr sz="1500" b="1">
                <a:solidFill>
                  <a:srgbClr val="1E293B"/>
                </a:solidFill>
                <a:latin typeface="Calibri"/>
              </a:defRPr>
            </a:pPr>
            <a:r>
              <a:t>• Good for early stage or DB primary node</a:t>
            </a:r>
          </a:p>
          <a:p>
            <a:pPr>
              <a:spcAft>
                <a:spcPts val="800"/>
              </a:spcAft>
              <a:defRPr sz="1500" b="1">
                <a:solidFill>
                  <a:srgbClr val="1E293B"/>
                </a:solidFill>
                <a:latin typeface="Calibri"/>
              </a:defRPr>
            </a:pPr>
            <a:r>
              <a:t>• Hardware ceiling — cannot scale forever</a:t>
            </a:r>
          </a:p>
          <a:p>
            <a:pPr>
              <a:spcAft>
                <a:spcPts val="800"/>
              </a:spcAft>
              <a:defRPr sz="1500" b="1">
                <a:solidFill>
                  <a:srgbClr val="1E293B"/>
                </a:solidFill>
                <a:latin typeface="Calibri"/>
              </a:defRPr>
            </a:pPr>
            <a:r>
              <a:t>• Single point of failure if server dies</a:t>
            </a:r>
          </a:p>
          <a:p>
            <a:pPr>
              <a:spcAft>
                <a:spcPts val="800"/>
              </a:spcAft>
              <a:defRPr sz="1500" b="1">
                <a:solidFill>
                  <a:srgbClr val="1E293B"/>
                </a:solidFill>
                <a:latin typeface="Calibri"/>
              </a:defRPr>
            </a:pPr>
            <a:r>
              <a:t>• Example: upgrade chat DB from 32GB → 128GB RAM</a:t>
            </a:r>
          </a:p>
        </p:txBody>
      </p:sp>
      <p:sp>
        <p:nvSpPr>
          <p:cNvPr id="17" name="TextBox 16"/>
          <p:cNvSpPr txBox="1"/>
          <p:nvPr/>
        </p:nvSpPr>
        <p:spPr>
          <a:xfrm>
            <a:off x="630021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Add more server instances behind load balancer</a:t>
            </a:r>
          </a:p>
          <a:p>
            <a:pPr>
              <a:spcAft>
                <a:spcPts val="800"/>
              </a:spcAft>
              <a:defRPr sz="1500" b="1">
                <a:solidFill>
                  <a:srgbClr val="1E293B"/>
                </a:solidFill>
                <a:latin typeface="Calibri"/>
              </a:defRPr>
            </a:pPr>
            <a:r>
              <a:t>• Near-unlimited scale — add machines as needed</a:t>
            </a:r>
          </a:p>
          <a:p>
            <a:pPr>
              <a:spcAft>
                <a:spcPts val="800"/>
              </a:spcAft>
              <a:defRPr sz="1500" b="1">
                <a:solidFill>
                  <a:srgbClr val="1E293B"/>
                </a:solidFill>
                <a:latin typeface="Calibri"/>
              </a:defRPr>
            </a:pPr>
            <a:r>
              <a:t>• Fault tolerant — one server fails, others continue</a:t>
            </a:r>
          </a:p>
          <a:p>
            <a:pPr>
              <a:spcAft>
                <a:spcPts val="800"/>
              </a:spcAft>
              <a:defRPr sz="1500" b="1">
                <a:solidFill>
                  <a:srgbClr val="1E293B"/>
                </a:solidFill>
                <a:latin typeface="Calibri"/>
              </a:defRPr>
            </a:pPr>
            <a:r>
              <a:t>• Requires stateless design (session in Redis, not local)</a:t>
            </a:r>
          </a:p>
          <a:p>
            <a:pPr>
              <a:spcAft>
                <a:spcPts val="800"/>
              </a:spcAft>
              <a:defRPr sz="1500" b="1">
                <a:solidFill>
                  <a:srgbClr val="1E293B"/>
                </a:solidFill>
                <a:latin typeface="Calibri"/>
              </a:defRPr>
            </a:pPr>
            <a:r>
              <a:t>• More complex ops: discovery, routing, monitoring</a:t>
            </a:r>
          </a:p>
          <a:p>
            <a:pPr>
              <a:spcAft>
                <a:spcPts val="800"/>
              </a:spcAft>
              <a:defRPr sz="1500" b="1">
                <a:solidFill>
                  <a:srgbClr val="1E293B"/>
                </a:solidFill>
                <a:latin typeface="Calibri"/>
              </a:defRPr>
            </a:pPr>
            <a:r>
              <a:t>• Example: 100+ stateless chat servers + sharded Cassandra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Serverful vs Serverless — Part 1</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Architecture, execution, and who manages the infrastructure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Serverful = always-on compute you operate. Serverless = on-demand functions the cloud runs.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500" b="0">
                <a:solidFill>
                  <a:srgbClr val="1E293B"/>
                </a:solidFill>
                <a:latin typeface="Calibri"/>
              </a:defRPr>
            </a:pPr>
            <a:r>
              <a:t>Serverful: you operate always-on servers (EC2, Kubernetes). Serverless: you deploy functions; cloud runs them on events (Lambda, Cloud Functions).</a:t>
            </a:r>
          </a:p>
        </p:txBody>
      </p:sp>
      <p:sp>
        <p:nvSpPr>
          <p:cNvPr id="10" name="Rectangle 9"/>
          <p:cNvSpPr/>
          <p:nvPr/>
        </p:nvSpPr>
        <p:spPr>
          <a:xfrm>
            <a:off x="502920" y="2212848"/>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76856"/>
            <a:ext cx="5394960" cy="310896"/>
          </a:xfrm>
          <a:prstGeom prst="rect">
            <a:avLst/>
          </a:prstGeom>
          <a:noFill/>
        </p:spPr>
        <p:txBody>
          <a:bodyPr wrap="square">
            <a:spAutoFit/>
          </a:bodyPr>
          <a:lstStyle/>
          <a:p>
            <a:pPr algn="ctr">
              <a:defRPr sz="1800" b="1">
                <a:solidFill>
                  <a:srgbClr val="FFFFFF"/>
                </a:solidFill>
                <a:latin typeface="Calibri"/>
              </a:defRPr>
            </a:pPr>
            <a:r>
              <a:t>Serverful</a:t>
            </a:r>
          </a:p>
        </p:txBody>
      </p:sp>
      <p:sp>
        <p:nvSpPr>
          <p:cNvPr id="12" name="Rectangle 11"/>
          <p:cNvSpPr/>
          <p:nvPr/>
        </p:nvSpPr>
        <p:spPr>
          <a:xfrm>
            <a:off x="6172200" y="2212848"/>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276856"/>
            <a:ext cx="5394960" cy="310896"/>
          </a:xfrm>
          <a:prstGeom prst="rect">
            <a:avLst/>
          </a:prstGeom>
          <a:noFill/>
        </p:spPr>
        <p:txBody>
          <a:bodyPr wrap="square">
            <a:spAutoFit/>
          </a:bodyPr>
          <a:lstStyle/>
          <a:p>
            <a:pPr algn="ctr">
              <a:defRPr sz="1800" b="1">
                <a:solidFill>
                  <a:srgbClr val="FFFFFF"/>
                </a:solidFill>
                <a:latin typeface="Calibri"/>
              </a:defRPr>
            </a:pPr>
            <a:r>
              <a:t>Serverless</a:t>
            </a:r>
          </a:p>
        </p:txBody>
      </p:sp>
      <p:sp>
        <p:nvSpPr>
          <p:cNvPr id="14" name="Rounded Rectangle 13"/>
          <p:cNvSpPr/>
          <p:nvPr/>
        </p:nvSpPr>
        <p:spPr>
          <a:xfrm>
            <a:off x="502920" y="2633472"/>
            <a:ext cx="5394960" cy="3758184"/>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633472"/>
            <a:ext cx="5394960" cy="3758184"/>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2724912"/>
            <a:ext cx="5175504" cy="2935224"/>
          </a:xfrm>
          <a:prstGeom prst="rect">
            <a:avLst/>
          </a:prstGeom>
          <a:noFill/>
        </p:spPr>
        <p:txBody>
          <a:bodyPr wrap="square">
            <a:spAutoFit/>
          </a:bodyPr>
          <a:lstStyle/>
          <a:p>
            <a:pPr>
              <a:spcAft>
                <a:spcPts val="900"/>
              </a:spcAft>
              <a:defRPr sz="1500" b="1">
                <a:solidFill>
                  <a:srgbClr val="1E293B"/>
                </a:solidFill>
                <a:latin typeface="Calibri"/>
              </a:defRPr>
            </a:pPr>
            <a:r>
              <a:t>• Infrastructure: you provision EC2, VMs, or Kubernetes pods</a:t>
            </a:r>
          </a:p>
          <a:p>
            <a:pPr>
              <a:spcAft>
                <a:spcPts val="900"/>
              </a:spcAft>
              <a:defRPr sz="1500" b="1">
                <a:solidFill>
                  <a:srgbClr val="1E293B"/>
                </a:solidFill>
                <a:latin typeface="Calibri"/>
              </a:defRPr>
            </a:pPr>
            <a:r>
              <a:t>• Execution: long-running process — server listens 24/7 for requests</a:t>
            </a:r>
          </a:p>
          <a:p>
            <a:pPr>
              <a:spcAft>
                <a:spcPts val="900"/>
              </a:spcAft>
              <a:defRPr sz="1500" b="1">
                <a:solidFill>
                  <a:srgbClr val="1E293B"/>
                </a:solidFill>
                <a:latin typeface="Calibri"/>
              </a:defRPr>
            </a:pPr>
            <a:r>
              <a:t>• Operations: your team owns OS, runtime, deploys, patching, and monitoring</a:t>
            </a:r>
          </a:p>
          <a:p>
            <a:pPr>
              <a:spcAft>
                <a:spcPts val="900"/>
              </a:spcAft>
              <a:defRPr sz="1500" b="1">
                <a:solidFill>
                  <a:srgbClr val="1E293B"/>
                </a:solidFill>
                <a:latin typeface="Calibri"/>
              </a:defRPr>
            </a:pPr>
            <a:r>
              <a:t>• Scaling: add/remove server instances or pods via manual or auto-scaling groups</a:t>
            </a:r>
          </a:p>
        </p:txBody>
      </p:sp>
      <p:sp>
        <p:nvSpPr>
          <p:cNvPr id="17" name="TextBox 16"/>
          <p:cNvSpPr txBox="1"/>
          <p:nvPr/>
        </p:nvSpPr>
        <p:spPr>
          <a:xfrm>
            <a:off x="6300216" y="2724912"/>
            <a:ext cx="5175504" cy="2935224"/>
          </a:xfrm>
          <a:prstGeom prst="rect">
            <a:avLst/>
          </a:prstGeom>
          <a:noFill/>
        </p:spPr>
        <p:txBody>
          <a:bodyPr wrap="square">
            <a:spAutoFit/>
          </a:bodyPr>
          <a:lstStyle/>
          <a:p>
            <a:pPr>
              <a:spcAft>
                <a:spcPts val="900"/>
              </a:spcAft>
              <a:defRPr sz="1500" b="1">
                <a:solidFill>
                  <a:srgbClr val="1E293B"/>
                </a:solidFill>
                <a:latin typeface="Calibri"/>
              </a:defRPr>
            </a:pPr>
            <a:r>
              <a:t>• Infrastructure: cloud provides ephemeral runtime — no servers to provision</a:t>
            </a:r>
          </a:p>
          <a:p>
            <a:pPr>
              <a:spcAft>
                <a:spcPts val="900"/>
              </a:spcAft>
              <a:defRPr sz="1500" b="1">
                <a:solidFill>
                  <a:srgbClr val="1E293B"/>
                </a:solidFill>
                <a:latin typeface="Calibri"/>
              </a:defRPr>
            </a:pPr>
            <a:r>
              <a:t>• Execution: function runs on event (HTTP, queue, S3 upload), then stops</a:t>
            </a:r>
          </a:p>
          <a:p>
            <a:pPr>
              <a:spcAft>
                <a:spcPts val="900"/>
              </a:spcAft>
              <a:defRPr sz="1500" b="1">
                <a:solidFill>
                  <a:srgbClr val="1E293B"/>
                </a:solidFill>
                <a:latin typeface="Calibri"/>
              </a:defRPr>
            </a:pPr>
            <a:r>
              <a:t>• Operations: you manage function code only — no OS, patching, or uptime duty</a:t>
            </a:r>
          </a:p>
          <a:p>
            <a:pPr>
              <a:spcAft>
                <a:spcPts val="900"/>
              </a:spcAft>
              <a:defRPr sz="1500" b="1">
                <a:solidFill>
                  <a:srgbClr val="1E293B"/>
                </a:solidFill>
                <a:latin typeface="Calibri"/>
              </a:defRPr>
            </a:pPr>
            <a:r>
              <a:t>• Scaling: cloud auto-scales concurrent function executions on demand</a:t>
            </a:r>
          </a:p>
        </p:txBody>
      </p:sp>
      <p:sp>
        <p:nvSpPr>
          <p:cNvPr id="18" name="Rounded Rectangle 17"/>
          <p:cNvSpPr/>
          <p:nvPr/>
        </p:nvSpPr>
        <p:spPr>
          <a:xfrm>
            <a:off x="594360" y="5696712"/>
            <a:ext cx="5230368" cy="53035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769864"/>
            <a:ext cx="5065776" cy="420624"/>
          </a:xfrm>
          <a:prstGeom prst="rect">
            <a:avLst/>
          </a:prstGeom>
          <a:noFill/>
        </p:spPr>
        <p:txBody>
          <a:bodyPr wrap="square">
            <a:spAutoFit/>
          </a:bodyPr>
          <a:lstStyle/>
          <a:p>
            <a:pPr algn="l">
              <a:defRPr sz="1300" b="1">
                <a:solidFill>
                  <a:srgbClr val="1A56DB"/>
                </a:solidFill>
                <a:latin typeface="Calibri"/>
              </a:defRPr>
            </a:pPr>
            <a:r>
              <a:t>Example: EKS cluster with Go WebSocket chat-api — HPA scales pods 10 → 50 on load</a:t>
            </a:r>
          </a:p>
        </p:txBody>
      </p:sp>
      <p:sp>
        <p:nvSpPr>
          <p:cNvPr id="20" name="Rounded Rectangle 19"/>
          <p:cNvSpPr/>
          <p:nvPr/>
        </p:nvSpPr>
        <p:spPr>
          <a:xfrm>
            <a:off x="6263640" y="5696712"/>
            <a:ext cx="5230368" cy="530352"/>
          </a:xfrm>
          <a:prstGeom prst="roundRect">
            <a:avLst/>
          </a:prstGeom>
          <a:solidFill>
            <a:srgbClr val="E0F2FE"/>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5769864"/>
            <a:ext cx="5065776" cy="420624"/>
          </a:xfrm>
          <a:prstGeom prst="rect">
            <a:avLst/>
          </a:prstGeom>
          <a:noFill/>
        </p:spPr>
        <p:txBody>
          <a:bodyPr wrap="square">
            <a:spAutoFit/>
          </a:bodyPr>
          <a:lstStyle/>
          <a:p>
            <a:pPr algn="l">
              <a:defRPr sz="1300" b="1">
                <a:solidFill>
                  <a:srgbClr val="10B981"/>
                </a:solidFill>
                <a:latin typeface="Calibri"/>
              </a:defRPr>
            </a:pPr>
            <a:r>
              <a:t>Example: Lambda on S3 photo upload — 1,000 uploads spin up 1,000 parallel functions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Serverful vs Serverless — Part 2</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Cost, trade-offs, and where each fits in a chat system</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Hybrid at scale: serverful messaging core + serverless async pipeline.</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500" b="0">
                <a:solidFill>
                  <a:srgbClr val="1E293B"/>
                </a:solidFill>
                <a:latin typeface="Calibri"/>
              </a:defRPr>
            </a:pPr>
            <a:r>
              <a:t>Choose serverful for persistent, low-latency connections. Choose serverless for event-driven, short-lived tasks. Production chat systems combine both.</a:t>
            </a:r>
          </a:p>
        </p:txBody>
      </p:sp>
      <p:sp>
        <p:nvSpPr>
          <p:cNvPr id="10" name="Rectangle 9"/>
          <p:cNvSpPr/>
          <p:nvPr/>
        </p:nvSpPr>
        <p:spPr>
          <a:xfrm>
            <a:off x="502920" y="2212848"/>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76856"/>
            <a:ext cx="5394960" cy="310896"/>
          </a:xfrm>
          <a:prstGeom prst="rect">
            <a:avLst/>
          </a:prstGeom>
          <a:noFill/>
        </p:spPr>
        <p:txBody>
          <a:bodyPr wrap="square">
            <a:spAutoFit/>
          </a:bodyPr>
          <a:lstStyle/>
          <a:p>
            <a:pPr algn="ctr">
              <a:defRPr sz="1800" b="1">
                <a:solidFill>
                  <a:srgbClr val="FFFFFF"/>
                </a:solidFill>
                <a:latin typeface="Calibri"/>
              </a:defRPr>
            </a:pPr>
            <a:r>
              <a:t>Serverful</a:t>
            </a:r>
          </a:p>
        </p:txBody>
      </p:sp>
      <p:sp>
        <p:nvSpPr>
          <p:cNvPr id="12" name="Rectangle 11"/>
          <p:cNvSpPr/>
          <p:nvPr/>
        </p:nvSpPr>
        <p:spPr>
          <a:xfrm>
            <a:off x="6172200" y="2212848"/>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276856"/>
            <a:ext cx="5394960" cy="310896"/>
          </a:xfrm>
          <a:prstGeom prst="rect">
            <a:avLst/>
          </a:prstGeom>
          <a:noFill/>
        </p:spPr>
        <p:txBody>
          <a:bodyPr wrap="square">
            <a:spAutoFit/>
          </a:bodyPr>
          <a:lstStyle/>
          <a:p>
            <a:pPr algn="ctr">
              <a:defRPr sz="1800" b="1">
                <a:solidFill>
                  <a:srgbClr val="FFFFFF"/>
                </a:solidFill>
                <a:latin typeface="Calibri"/>
              </a:defRPr>
            </a:pPr>
            <a:r>
              <a:t>Serverless</a:t>
            </a:r>
          </a:p>
        </p:txBody>
      </p:sp>
      <p:sp>
        <p:nvSpPr>
          <p:cNvPr id="14" name="Rounded Rectangle 13"/>
          <p:cNvSpPr/>
          <p:nvPr/>
        </p:nvSpPr>
        <p:spPr>
          <a:xfrm>
            <a:off x="502920" y="2633472"/>
            <a:ext cx="5394960" cy="3758184"/>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633472"/>
            <a:ext cx="5394960" cy="3758184"/>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2724912"/>
            <a:ext cx="5175504" cy="2935224"/>
          </a:xfrm>
          <a:prstGeom prst="rect">
            <a:avLst/>
          </a:prstGeom>
          <a:noFill/>
        </p:spPr>
        <p:txBody>
          <a:bodyPr wrap="square">
            <a:spAutoFit/>
          </a:bodyPr>
          <a:lstStyle/>
          <a:p>
            <a:pPr>
              <a:spcAft>
                <a:spcPts val="900"/>
              </a:spcAft>
              <a:defRPr sz="1500" b="1">
                <a:solidFill>
                  <a:srgbClr val="1E293B"/>
                </a:solidFill>
                <a:latin typeface="Calibri"/>
              </a:defRPr>
            </a:pPr>
            <a:r>
              <a:t>• Pricing: pay for server uptime — cost continues even when traffic is idle</a:t>
            </a:r>
          </a:p>
          <a:p>
            <a:pPr>
              <a:spcAft>
                <a:spcPts val="900"/>
              </a:spcAft>
              <a:defRPr sz="1500" b="1">
                <a:solidFill>
                  <a:srgbClr val="1E293B"/>
                </a:solidFill>
                <a:latin typeface="Calibri"/>
              </a:defRPr>
            </a:pPr>
            <a:r>
              <a:t>• Strengths: full control, custom runtime, WebSockets, predictable latency</a:t>
            </a:r>
          </a:p>
          <a:p>
            <a:pPr>
              <a:spcAft>
                <a:spcPts val="900"/>
              </a:spcAft>
              <a:defRPr sz="1500" b="1">
                <a:solidFill>
                  <a:srgbClr val="1E293B"/>
                </a:solidFill>
                <a:latin typeface="Calibri"/>
              </a:defRPr>
            </a:pPr>
            <a:r>
              <a:t>• Limitations: ops overhead, idle capacity cost, you handle crash recovery</a:t>
            </a:r>
          </a:p>
          <a:p>
            <a:pPr>
              <a:spcAft>
                <a:spcPts val="900"/>
              </a:spcAft>
              <a:defRPr sz="1500" b="1">
                <a:solidFill>
                  <a:srgbClr val="1E293B"/>
                </a:solidFill>
                <a:latin typeface="Calibri"/>
              </a:defRPr>
            </a:pPr>
            <a:r>
              <a:t>• Chat use: WebSocket + REST API on K8s — always-on, behind load balancer</a:t>
            </a:r>
          </a:p>
        </p:txBody>
      </p:sp>
      <p:sp>
        <p:nvSpPr>
          <p:cNvPr id="17" name="TextBox 16"/>
          <p:cNvSpPr txBox="1"/>
          <p:nvPr/>
        </p:nvSpPr>
        <p:spPr>
          <a:xfrm>
            <a:off x="6300216" y="2724912"/>
            <a:ext cx="5175504" cy="2935224"/>
          </a:xfrm>
          <a:prstGeom prst="rect">
            <a:avLst/>
          </a:prstGeom>
          <a:noFill/>
        </p:spPr>
        <p:txBody>
          <a:bodyPr wrap="square">
            <a:spAutoFit/>
          </a:bodyPr>
          <a:lstStyle/>
          <a:p>
            <a:pPr>
              <a:spcAft>
                <a:spcPts val="900"/>
              </a:spcAft>
              <a:defRPr sz="1500" b="1">
                <a:solidFill>
                  <a:srgbClr val="1E293B"/>
                </a:solidFill>
                <a:latin typeface="Calibri"/>
              </a:defRPr>
            </a:pPr>
            <a:r>
              <a:t>• Pricing: pay per invocation + compute time — zero cost when idle</a:t>
            </a:r>
          </a:p>
          <a:p>
            <a:pPr>
              <a:spcAft>
                <a:spcPts val="900"/>
              </a:spcAft>
              <a:defRPr sz="1500" b="1">
                <a:solidFill>
                  <a:srgbClr val="1E293B"/>
                </a:solidFill>
                <a:latin typeface="Calibri"/>
              </a:defRPr>
            </a:pPr>
            <a:r>
              <a:t>• Strengths: no idle spend, instant scale for bursty or sporadic workloads</a:t>
            </a:r>
          </a:p>
          <a:p>
            <a:pPr>
              <a:spcAft>
                <a:spcPts val="900"/>
              </a:spcAft>
              <a:defRPr sz="1500" b="1">
                <a:solidFill>
                  <a:srgbClr val="1E293B"/>
                </a:solidFill>
                <a:latin typeface="Calibri"/>
              </a:defRPr>
            </a:pPr>
            <a:r>
              <a:t>• Limitations: ~15 min max runtime, cold-start delay, no persistent WebSocket</a:t>
            </a:r>
          </a:p>
          <a:p>
            <a:pPr>
              <a:spcAft>
                <a:spcPts val="900"/>
              </a:spcAft>
              <a:defRPr sz="1500" b="1">
                <a:solidFill>
                  <a:srgbClr val="1E293B"/>
                </a:solidFill>
                <a:latin typeface="Calibri"/>
              </a:defRPr>
            </a:pPr>
            <a:r>
              <a:t>• Chat use: image thumbnail, push notification trigger, media transcoding</a:t>
            </a:r>
          </a:p>
        </p:txBody>
      </p:sp>
      <p:sp>
        <p:nvSpPr>
          <p:cNvPr id="18" name="Rounded Rectangle 17"/>
          <p:cNvSpPr/>
          <p:nvPr/>
        </p:nvSpPr>
        <p:spPr>
          <a:xfrm>
            <a:off x="594360" y="5696712"/>
            <a:ext cx="5230368" cy="53035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769864"/>
            <a:ext cx="5065776" cy="420624"/>
          </a:xfrm>
          <a:prstGeom prst="rect">
            <a:avLst/>
          </a:prstGeom>
          <a:noFill/>
        </p:spPr>
        <p:txBody>
          <a:bodyPr wrap="square">
            <a:spAutoFit/>
          </a:bodyPr>
          <a:lstStyle/>
          <a:p>
            <a:pPr algn="l">
              <a:defRPr sz="1300" b="1">
                <a:solidFill>
                  <a:srgbClr val="1A56DB"/>
                </a:solidFill>
                <a:latin typeface="Calibri"/>
              </a:defRPr>
            </a:pPr>
            <a:r>
              <a:t>Example: EC2 chat servers push via WebSocket in &lt;100ms — billed 24/7 even when idle</a:t>
            </a:r>
          </a:p>
        </p:txBody>
      </p:sp>
      <p:sp>
        <p:nvSpPr>
          <p:cNvPr id="20" name="Rounded Rectangle 19"/>
          <p:cNvSpPr/>
          <p:nvPr/>
        </p:nvSpPr>
        <p:spPr>
          <a:xfrm>
            <a:off x="6263640" y="5696712"/>
            <a:ext cx="5230368" cy="530352"/>
          </a:xfrm>
          <a:prstGeom prst="roundRect">
            <a:avLst/>
          </a:prstGeom>
          <a:solidFill>
            <a:srgbClr val="E0F2FE"/>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55080" y="5769864"/>
            <a:ext cx="5065776" cy="420624"/>
          </a:xfrm>
          <a:prstGeom prst="rect">
            <a:avLst/>
          </a:prstGeom>
          <a:noFill/>
        </p:spPr>
        <p:txBody>
          <a:bodyPr wrap="square">
            <a:spAutoFit/>
          </a:bodyPr>
          <a:lstStyle/>
          <a:p>
            <a:pPr algn="l">
              <a:defRPr sz="1300" b="1">
                <a:solidFill>
                  <a:srgbClr val="10B981"/>
                </a:solidFill>
                <a:latin typeface="Calibri"/>
              </a:defRPr>
            </a:pPr>
            <a:r>
              <a:t>Example: Lambda resizes photo thumbnail after upload — charged only per run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SQL vs NoSQL Databases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Choosing the right data store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SQL for users; NoSQL for billions of messages.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500" b="0">
                <a:solidFill>
                  <a:srgbClr val="1E293B"/>
                </a:solidFill>
                <a:latin typeface="Calibri"/>
              </a:defRPr>
            </a:pPr>
            <a:r>
              <a:t>SQL databases use fixed schemas and strong ACID guarantees — great for structured, relational data. NoSQL databases offer flexible schemas and horizontal scale — ideal for high-volume, distributed workloads. Chat systems typically use both.</a:t>
            </a:r>
          </a:p>
        </p:txBody>
      </p:sp>
      <p:sp>
        <p:nvSpPr>
          <p:cNvPr id="10" name="Rectangle 9"/>
          <p:cNvSpPr/>
          <p:nvPr/>
        </p:nvSpPr>
        <p:spPr>
          <a:xfrm>
            <a:off x="502920" y="2212848"/>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76856"/>
            <a:ext cx="5394960" cy="310896"/>
          </a:xfrm>
          <a:prstGeom prst="rect">
            <a:avLst/>
          </a:prstGeom>
          <a:noFill/>
        </p:spPr>
        <p:txBody>
          <a:bodyPr wrap="square">
            <a:spAutoFit/>
          </a:bodyPr>
          <a:lstStyle/>
          <a:p>
            <a:pPr algn="ctr">
              <a:defRPr sz="1800" b="1">
                <a:solidFill>
                  <a:srgbClr val="FFFFFF"/>
                </a:solidFill>
                <a:latin typeface="Calibri"/>
              </a:defRPr>
            </a:pPr>
            <a:r>
              <a:t>SQL (RDBMS)</a:t>
            </a:r>
          </a:p>
        </p:txBody>
      </p:sp>
      <p:sp>
        <p:nvSpPr>
          <p:cNvPr id="12" name="Rectangle 11"/>
          <p:cNvSpPr/>
          <p:nvPr/>
        </p:nvSpPr>
        <p:spPr>
          <a:xfrm>
            <a:off x="6172200" y="2212848"/>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276856"/>
            <a:ext cx="5394960" cy="310896"/>
          </a:xfrm>
          <a:prstGeom prst="rect">
            <a:avLst/>
          </a:prstGeom>
          <a:noFill/>
        </p:spPr>
        <p:txBody>
          <a:bodyPr wrap="square">
            <a:spAutoFit/>
          </a:bodyPr>
          <a:lstStyle/>
          <a:p>
            <a:pPr algn="ctr">
              <a:defRPr sz="1800" b="1">
                <a:solidFill>
                  <a:srgbClr val="FFFFFF"/>
                </a:solidFill>
                <a:latin typeface="Calibri"/>
              </a:defRPr>
            </a:pPr>
            <a:r>
              <a:t>NoSQL</a:t>
            </a:r>
          </a:p>
        </p:txBody>
      </p:sp>
      <p:sp>
        <p:nvSpPr>
          <p:cNvPr id="14" name="Rounded Rectangle 13"/>
          <p:cNvSpPr/>
          <p:nvPr/>
        </p:nvSpPr>
        <p:spPr>
          <a:xfrm>
            <a:off x="502920" y="2633472"/>
            <a:ext cx="5394960" cy="3758184"/>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633472"/>
            <a:ext cx="5394960" cy="3758184"/>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2724912"/>
            <a:ext cx="5175504" cy="3557016"/>
          </a:xfrm>
          <a:prstGeom prst="rect">
            <a:avLst/>
          </a:prstGeom>
          <a:noFill/>
        </p:spPr>
        <p:txBody>
          <a:bodyPr wrap="square">
            <a:spAutoFit/>
          </a:bodyPr>
          <a:lstStyle/>
          <a:p>
            <a:pPr>
              <a:spcAft>
                <a:spcPts val="800"/>
              </a:spcAft>
              <a:defRPr sz="1400" b="1">
                <a:solidFill>
                  <a:srgbClr val="1E293B"/>
                </a:solidFill>
                <a:latin typeface="Calibri"/>
              </a:defRPr>
            </a:pPr>
            <a:r>
              <a:t>• Fixed schema — tables, rows, columns</a:t>
            </a:r>
          </a:p>
          <a:p>
            <a:pPr>
              <a:spcAft>
                <a:spcPts val="200"/>
              </a:spcAft>
              <a:defRPr sz="1400" b="1">
                <a:solidFill>
                  <a:srgbClr val="1E293B"/>
                </a:solidFill>
                <a:latin typeface="Calibri"/>
              </a:defRPr>
            </a:pPr>
            <a:r>
              <a:t>• Strong ACID transactions</a:t>
            </a:r>
          </a:p>
          <a:p>
            <a:pPr>
              <a:spcAft>
                <a:spcPts val="200"/>
              </a:spcAft>
              <a:defRPr sz="1300" b="0">
                <a:solidFill>
                  <a:srgbClr val="1E293B"/>
                </a:solidFill>
                <a:latin typeface="Calibri"/>
              </a:defRPr>
            </a:pPr>
            <a:r>
              <a:t>   Atomicity: all-or-nothing — every step succeeds or none do</a:t>
            </a:r>
          </a:p>
          <a:p>
            <a:pPr>
              <a:spcAft>
                <a:spcPts val="200"/>
              </a:spcAft>
              <a:defRPr sz="1300" b="0">
                <a:solidFill>
                  <a:srgbClr val="1E293B"/>
                </a:solidFill>
                <a:latin typeface="Calibri"/>
              </a:defRPr>
            </a:pPr>
            <a:r>
              <a:t>   Consistency: valid state always — data rules are never broken</a:t>
            </a:r>
          </a:p>
          <a:p>
            <a:pPr>
              <a:spcAft>
                <a:spcPts val="200"/>
              </a:spcAft>
              <a:defRPr sz="1300" b="0">
                <a:solidFill>
                  <a:srgbClr val="1E293B"/>
                </a:solidFill>
                <a:latin typeface="Calibri"/>
              </a:defRPr>
            </a:pPr>
            <a:r>
              <a:t>   Isolation: concurrent transactions don't clash — one doesn't see another's unfinished work</a:t>
            </a:r>
          </a:p>
          <a:p>
            <a:pPr>
              <a:spcAft>
                <a:spcPts val="800"/>
              </a:spcAft>
              <a:defRPr sz="1300" b="0">
                <a:solidFill>
                  <a:srgbClr val="1E293B"/>
                </a:solidFill>
                <a:latin typeface="Calibri"/>
              </a:defRPr>
            </a:pPr>
            <a:r>
              <a:t>   Durability: committed data survives crashes — saved writes persist after restart</a:t>
            </a:r>
          </a:p>
          <a:p>
            <a:pPr>
              <a:spcAft>
                <a:spcPts val="800"/>
              </a:spcAft>
              <a:defRPr sz="1400" b="1">
                <a:solidFill>
                  <a:srgbClr val="1E293B"/>
                </a:solidFill>
                <a:latin typeface="Calibri"/>
              </a:defRPr>
            </a:pPr>
            <a:r>
              <a:t>• Examples: PostgreSQL, MySQL</a:t>
            </a:r>
          </a:p>
          <a:p>
            <a:pPr>
              <a:spcAft>
                <a:spcPts val="800"/>
              </a:spcAft>
              <a:defRPr sz="1400" b="1">
                <a:solidFill>
                  <a:srgbClr val="1E293B"/>
                </a:solidFill>
                <a:latin typeface="Calibri"/>
              </a:defRPr>
            </a:pPr>
            <a:r>
              <a:t>• Best for: user profiles, contacts, settings</a:t>
            </a:r>
          </a:p>
          <a:p>
            <a:pPr>
              <a:spcAft>
                <a:spcPts val="800"/>
              </a:spcAft>
              <a:defRPr sz="1400" b="1">
                <a:solidFill>
                  <a:srgbClr val="1E293B"/>
                </a:solidFill>
                <a:latin typeface="Calibri"/>
              </a:defRPr>
            </a:pPr>
            <a:r>
              <a:t>• Scaling: vertical + read replicas</a:t>
            </a:r>
          </a:p>
          <a:p>
            <a:pPr>
              <a:spcAft>
                <a:spcPts val="800"/>
              </a:spcAft>
              <a:defRPr sz="1400" b="1">
                <a:solidFill>
                  <a:srgbClr val="1E293B"/>
                </a:solidFill>
                <a:latin typeface="Calibri"/>
              </a:defRPr>
            </a:pPr>
            <a:r>
              <a:t>• Chat use: PostgreSQL for user metadata</a:t>
            </a:r>
          </a:p>
        </p:txBody>
      </p:sp>
      <p:sp>
        <p:nvSpPr>
          <p:cNvPr id="17" name="TextBox 16"/>
          <p:cNvSpPr txBox="1"/>
          <p:nvPr/>
        </p:nvSpPr>
        <p:spPr>
          <a:xfrm>
            <a:off x="6300216" y="2724912"/>
            <a:ext cx="5175504" cy="3557016"/>
          </a:xfrm>
          <a:prstGeom prst="rect">
            <a:avLst/>
          </a:prstGeom>
          <a:noFill/>
        </p:spPr>
        <p:txBody>
          <a:bodyPr wrap="square">
            <a:spAutoFit/>
          </a:bodyPr>
          <a:lstStyle/>
          <a:p>
            <a:pPr>
              <a:spcAft>
                <a:spcPts val="800"/>
              </a:spcAft>
              <a:defRPr sz="1400" b="1">
                <a:solidFill>
                  <a:srgbClr val="1E293B"/>
                </a:solidFill>
                <a:latin typeface="Calibri"/>
              </a:defRPr>
            </a:pPr>
            <a:r>
              <a:t>• Flexible schema — document, key-value, column</a:t>
            </a:r>
          </a:p>
          <a:p>
            <a:pPr>
              <a:spcAft>
                <a:spcPts val="800"/>
              </a:spcAft>
              <a:defRPr sz="1400" b="1">
                <a:solidFill>
                  <a:srgbClr val="1E293B"/>
                </a:solidFill>
                <a:latin typeface="Calibri"/>
              </a:defRPr>
            </a:pPr>
            <a:r>
              <a:t>• Often eventual consistency (BASE)</a:t>
            </a:r>
          </a:p>
          <a:p>
            <a:pPr>
              <a:spcAft>
                <a:spcPts val="800"/>
              </a:spcAft>
              <a:defRPr sz="1400" b="1">
                <a:solidFill>
                  <a:srgbClr val="1E293B"/>
                </a:solidFill>
                <a:latin typeface="Calibri"/>
              </a:defRPr>
            </a:pPr>
            <a:r>
              <a:t>• Examples: Cassandra, MongoDB, Redis</a:t>
            </a:r>
          </a:p>
          <a:p>
            <a:pPr>
              <a:spcAft>
                <a:spcPts val="800"/>
              </a:spcAft>
              <a:defRPr sz="1400" b="1">
                <a:solidFill>
                  <a:srgbClr val="1E293B"/>
                </a:solidFill>
                <a:latin typeface="Calibri"/>
              </a:defRPr>
            </a:pPr>
            <a:r>
              <a:t>• Best for: high-volume message history</a:t>
            </a:r>
          </a:p>
          <a:p>
            <a:pPr>
              <a:spcAft>
                <a:spcPts val="800"/>
              </a:spcAft>
              <a:defRPr sz="1400" b="1">
                <a:solidFill>
                  <a:srgbClr val="1E293B"/>
                </a:solidFill>
                <a:latin typeface="Calibri"/>
              </a:defRPr>
            </a:pPr>
            <a:r>
              <a:t>• Scaling: built for horizontal partition</a:t>
            </a:r>
          </a:p>
          <a:p>
            <a:pPr>
              <a:spcAft>
                <a:spcPts val="800"/>
              </a:spcAft>
              <a:defRPr sz="1400" b="1">
                <a:solidFill>
                  <a:srgbClr val="1E293B"/>
                </a:solidFill>
                <a:latin typeface="Calibri"/>
              </a:defRPr>
            </a:pPr>
            <a:r>
              <a:t>• Chat use: Cassandra for message storage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In-Memory Databases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Ultra-fast data access using RAM</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Redis caches hot chat data to reduce DB load.</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60120"/>
          </a:xfrm>
          <a:prstGeom prst="rect">
            <a:avLst/>
          </a:prstGeom>
          <a:noFill/>
        </p:spPr>
        <p:txBody>
          <a:bodyPr wrap="square">
            <a:spAutoFit/>
          </a:bodyPr>
          <a:lstStyle/>
          <a:p>
            <a:pPr algn="l">
              <a:defRPr sz="1400" b="0">
                <a:solidFill>
                  <a:srgbClr val="1E293B"/>
                </a:solidFill>
                <a:latin typeface="Calibri"/>
              </a:defRPr>
            </a:pPr>
            <a:r>
              <a:t>In-memory databases store data entirely in RAM (Random Access Memory) instead of on disk — giving sub-millisecond reads and writes. They are ideal for caching, sessions, real-time counters, and event broadcasting. Because RAM is volatile, data can be lost on restart unless persistence is configured. Redis and Memcached are the two most common production choices.</a:t>
            </a:r>
          </a:p>
        </p:txBody>
      </p:sp>
      <p:sp>
        <p:nvSpPr>
          <p:cNvPr id="10" name="TextBox 9"/>
          <p:cNvSpPr txBox="1"/>
          <p:nvPr/>
        </p:nvSpPr>
        <p:spPr>
          <a:xfrm>
            <a:off x="548640" y="2496312"/>
            <a:ext cx="11064240" cy="3895344"/>
          </a:xfrm>
          <a:prstGeom prst="rect">
            <a:avLst/>
          </a:prstGeom>
          <a:noFill/>
        </p:spPr>
        <p:txBody>
          <a:bodyPr wrap="square">
            <a:spAutoFit/>
          </a:bodyPr>
          <a:lstStyle/>
          <a:p>
            <a:pPr>
              <a:spcAft>
                <a:spcPts val="500"/>
              </a:spcAft>
              <a:defRPr sz="1400" b="1">
                <a:solidFill>
                  <a:srgbClr val="1E293B"/>
                </a:solidFill>
                <a:latin typeface="Calibri"/>
              </a:defRPr>
            </a:pPr>
            <a:r>
              <a:t>• Redis: rich data structures (lists, sets, sorted sets) plus optional disk persistence</a:t>
            </a:r>
          </a:p>
          <a:p>
            <a:pPr>
              <a:spcAft>
                <a:spcPts val="500"/>
              </a:spcAft>
              <a:defRPr sz="1400" b="1">
                <a:solidFill>
                  <a:srgbClr val="1E293B"/>
                </a:solidFill>
                <a:latin typeface="Calibri"/>
              </a:defRPr>
            </a:pPr>
            <a:r>
              <a:t>• Publish/Subscribe (pub/sub): a messaging pattern where publishers emit events and subscribers receive them instantly — used for typing indicators and live presence updates</a:t>
            </a:r>
          </a:p>
          <a:p>
            <a:pPr>
              <a:spcAft>
                <a:spcPts val="500"/>
              </a:spcAft>
              <a:defRPr sz="1400" b="1">
                <a:solidFill>
                  <a:srgbClr val="1E293B"/>
                </a:solidFill>
                <a:latin typeface="Calibri"/>
              </a:defRPr>
            </a:pPr>
            <a:r>
              <a:t>• AOF (Append-Only File): logs every write operation to disk — safer but slightly slower recovery</a:t>
            </a:r>
          </a:p>
          <a:p>
            <a:pPr>
              <a:spcAft>
                <a:spcPts val="500"/>
              </a:spcAft>
              <a:defRPr sz="1400" b="1">
                <a:solidFill>
                  <a:srgbClr val="1E293B"/>
                </a:solidFill>
                <a:latin typeface="Calibri"/>
              </a:defRPr>
            </a:pPr>
            <a:r>
              <a:t>• RDB (Redis Database snapshot): periodic point-in-time backup of memory — faster restart, small data-loss window</a:t>
            </a:r>
          </a:p>
          <a:p>
            <a:pPr>
              <a:spcAft>
                <a:spcPts val="500"/>
              </a:spcAft>
              <a:defRPr sz="1400" b="1">
                <a:solidFill>
                  <a:srgbClr val="1E293B"/>
                </a:solidFill>
                <a:latin typeface="Calibri"/>
              </a:defRPr>
            </a:pPr>
            <a:r>
              <a:t>• Memcached: simple key-value cache, multi-threaded, no persistence — pure speed, no durability</a:t>
            </a:r>
          </a:p>
          <a:p>
            <a:pPr>
              <a:spcAft>
                <a:spcPts val="500"/>
              </a:spcAft>
              <a:defRPr sz="1400" b="1">
                <a:solidFill>
                  <a:srgbClr val="1E293B"/>
                </a:solidFill>
                <a:latin typeface="Calibri"/>
              </a:defRPr>
            </a:pPr>
            <a:r>
              <a:t>• Use cases: session store, recent message cache, online status, rate-limit counters</a:t>
            </a:r>
          </a:p>
          <a:p>
            <a:pPr>
              <a:spcAft>
                <a:spcPts val="500"/>
              </a:spcAft>
              <a:defRPr sz="1400" b="1">
                <a:solidFill>
                  <a:srgbClr val="1E293B"/>
                </a:solidFill>
                <a:latin typeface="Calibri"/>
              </a:defRPr>
            </a:pPr>
            <a:r>
              <a:t>• Chat example: last 50 messages cached in Redis — opening a chat avoids a slow database round-trip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Data Replication &amp; Migration</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Keeping data safe, available, and up to date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Messages replicated across regions for availability.</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60120"/>
          </a:xfrm>
          <a:prstGeom prst="rect">
            <a:avLst/>
          </a:prstGeom>
          <a:noFill/>
        </p:spPr>
        <p:txBody>
          <a:bodyPr wrap="square">
            <a:spAutoFit/>
          </a:bodyPr>
          <a:lstStyle/>
          <a:p>
            <a:pPr algn="l">
              <a:defRPr sz="1400" b="0">
                <a:solidFill>
                  <a:srgbClr val="1E293B"/>
                </a:solidFill>
                <a:latin typeface="Calibri"/>
              </a:defRPr>
            </a:pPr>
            <a:r>
              <a:t>Replication means copying the same data to multiple database nodes so the system survives failures and can serve reads from nearby replicas. Migration means moving data from one database system to another — for example, outgrowing MongoDB and moving message history to Cassandra — without taking the app offline for hours.</a:t>
            </a:r>
          </a:p>
        </p:txBody>
      </p:sp>
      <p:sp>
        <p:nvSpPr>
          <p:cNvPr id="10" name="TextBox 9"/>
          <p:cNvSpPr txBox="1"/>
          <p:nvPr/>
        </p:nvSpPr>
        <p:spPr>
          <a:xfrm>
            <a:off x="548640" y="2496312"/>
            <a:ext cx="11064240" cy="3895344"/>
          </a:xfrm>
          <a:prstGeom prst="rect">
            <a:avLst/>
          </a:prstGeom>
          <a:noFill/>
        </p:spPr>
        <p:txBody>
          <a:bodyPr wrap="square">
            <a:spAutoFit/>
          </a:bodyPr>
          <a:lstStyle/>
          <a:p>
            <a:pPr>
              <a:spcAft>
                <a:spcPts val="500"/>
              </a:spcAft>
              <a:defRPr sz="1400" b="1">
                <a:solidFill>
                  <a:srgbClr val="1E293B"/>
                </a:solidFill>
                <a:latin typeface="Calibri"/>
              </a:defRPr>
            </a:pPr>
            <a:r>
              <a:t>• Leader-Follower (Primary-Replica): one leader node accepts all writes; follower nodes copy the leader and serve read queries — simple and widely used</a:t>
            </a:r>
          </a:p>
          <a:p>
            <a:pPr>
              <a:spcAft>
                <a:spcPts val="500"/>
              </a:spcAft>
              <a:defRPr sz="1400" b="1">
                <a:solidFill>
                  <a:srgbClr val="1E293B"/>
                </a:solidFill>
                <a:latin typeface="Calibri"/>
              </a:defRPr>
            </a:pPr>
            <a:r>
              <a:t>• Leader-Leader (Multi-Master): multiple nodes accept writes simultaneously — higher write availability but needs conflict resolution when two nodes update the same record</a:t>
            </a:r>
          </a:p>
          <a:p>
            <a:pPr>
              <a:spcAft>
                <a:spcPts val="500"/>
              </a:spcAft>
              <a:defRPr sz="1400" b="1">
                <a:solidFill>
                  <a:srgbClr val="1E293B"/>
                </a:solidFill>
                <a:latin typeface="Calibri"/>
              </a:defRPr>
            </a:pPr>
            <a:r>
              <a:t>• Why replicate: survive node crashes, scale read traffic, place copies closer to users in different regions</a:t>
            </a:r>
          </a:p>
          <a:p>
            <a:pPr>
              <a:spcAft>
                <a:spcPts val="500"/>
              </a:spcAft>
              <a:defRPr sz="1400" b="1">
                <a:solidFill>
                  <a:srgbClr val="1E293B"/>
                </a:solidFill>
                <a:latin typeface="Calibri"/>
              </a:defRPr>
            </a:pPr>
            <a:r>
              <a:t>• Database migration (step by step): dual-write to old and new DB → backfill historical data → switch reads to new DB → stop old DB once verified</a:t>
            </a:r>
          </a:p>
          <a:p>
            <a:pPr>
              <a:spcAft>
                <a:spcPts val="500"/>
              </a:spcAft>
              <a:defRPr sz="1400" b="1">
                <a:solidFill>
                  <a:srgbClr val="1E293B"/>
                </a:solidFill>
                <a:latin typeface="Calibri"/>
              </a:defRPr>
            </a:pPr>
            <a:r>
              <a:t>• Chat replication example: Cassandra stores 3 copies of each message across 3 data centers — one region can fail without losing messages</a:t>
            </a:r>
          </a:p>
          <a:p>
            <a:pPr>
              <a:spcAft>
                <a:spcPts val="500"/>
              </a:spcAft>
              <a:defRPr sz="1400" b="1">
                <a:solidFill>
                  <a:srgbClr val="1E293B"/>
                </a:solidFill>
                <a:latin typeface="Calibri"/>
              </a:defRPr>
            </a:pPr>
            <a:r>
              <a:t>• Chat migration example: early startup uses MongoDB; at billions of messages/day, migrate to Cassandra for horizontal sharding and higher write throughput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Data Partitioning &amp; Sharding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Splitting data across multiple nodes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Messages sharded by chat_id for horizontal scale.</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60120"/>
          </a:xfrm>
          <a:prstGeom prst="rect">
            <a:avLst/>
          </a:prstGeom>
          <a:noFill/>
        </p:spPr>
        <p:txBody>
          <a:bodyPr wrap="square">
            <a:spAutoFit/>
          </a:bodyPr>
          <a:lstStyle/>
          <a:p>
            <a:pPr algn="l">
              <a:defRPr sz="1400" b="0">
                <a:solidFill>
                  <a:srgbClr val="1E293B"/>
                </a:solidFill>
                <a:latin typeface="Calibri"/>
              </a:defRPr>
            </a:pPr>
            <a:r>
              <a:t>When one database server can no longer hold all your data or handle all writes, you split it. Partitioning divides data into logical subsets; sharding places those subsets on separate physical nodes. The shard key (e.g. chat_id) decides which node owns each record — choose it carefully because it affects performance and query patterns.</a:t>
            </a:r>
          </a:p>
        </p:txBody>
      </p:sp>
      <p:sp>
        <p:nvSpPr>
          <p:cNvPr id="10" name="TextBox 9"/>
          <p:cNvSpPr txBox="1"/>
          <p:nvPr/>
        </p:nvSpPr>
        <p:spPr>
          <a:xfrm>
            <a:off x="548640" y="2496312"/>
            <a:ext cx="11064240" cy="3895344"/>
          </a:xfrm>
          <a:prstGeom prst="rect">
            <a:avLst/>
          </a:prstGeom>
          <a:noFill/>
        </p:spPr>
        <p:txBody>
          <a:bodyPr wrap="square">
            <a:spAutoFit/>
          </a:bodyPr>
          <a:lstStyle/>
          <a:p>
            <a:pPr>
              <a:spcAft>
                <a:spcPts val="500"/>
              </a:spcAft>
              <a:defRPr sz="1400" b="1">
                <a:solidFill>
                  <a:srgbClr val="1E293B"/>
                </a:solidFill>
                <a:latin typeface="Calibri"/>
              </a:defRPr>
            </a:pPr>
            <a:r>
              <a:t>• Hash partitioning: hash(chat_id) % N maps each chat to one of N shards — spreads load evenly across nodes</a:t>
            </a:r>
          </a:p>
          <a:p>
            <a:pPr>
              <a:spcAft>
                <a:spcPts val="500"/>
              </a:spcAft>
              <a:defRPr sz="1400" b="1">
                <a:solidFill>
                  <a:srgbClr val="1E293B"/>
                </a:solidFill>
                <a:latin typeface="Calibri"/>
              </a:defRPr>
            </a:pPr>
            <a:r>
              <a:t>• Shard key rule: all messages in one chat must land on the same shard — otherwise fetching a conversation requires cross-shard joins (slow and complex)</a:t>
            </a:r>
          </a:p>
          <a:p>
            <a:pPr>
              <a:spcAft>
                <a:spcPts val="500"/>
              </a:spcAft>
              <a:defRPr sz="1400" b="1">
                <a:solidFill>
                  <a:srgbClr val="1E293B"/>
                </a:solidFill>
                <a:latin typeface="Calibri"/>
              </a:defRPr>
            </a:pPr>
            <a:r>
              <a:t>• Hot shard problem: a celebrity group chat with millions of members can overload one shard — that single node becomes a bottleneck</a:t>
            </a:r>
          </a:p>
          <a:p>
            <a:pPr>
              <a:spcAft>
                <a:spcPts val="500"/>
              </a:spcAft>
              <a:defRPr sz="1400" b="1">
                <a:solidFill>
                  <a:srgbClr val="1E293B"/>
                </a:solidFill>
                <a:latin typeface="Calibri"/>
              </a:defRPr>
            </a:pPr>
            <a:r>
              <a:t>• Resharding: add new nodes or split overloaded shards when storage exceeds ~80% or one shard gets disproportionate traffic</a:t>
            </a:r>
          </a:p>
          <a:p>
            <a:pPr>
              <a:spcAft>
                <a:spcPts val="500"/>
              </a:spcAft>
              <a:defRPr sz="1400" b="1">
                <a:solidFill>
                  <a:srgbClr val="1E293B"/>
                </a:solidFill>
                <a:latin typeface="Calibri"/>
              </a:defRPr>
            </a:pPr>
            <a:r>
              <a:t>• Range vs hash: range partitioning groups by ID ranges (simple) but can create hot spots; hash gives better balance</a:t>
            </a:r>
          </a:p>
          <a:p>
            <a:pPr>
              <a:spcAft>
                <a:spcPts val="500"/>
              </a:spcAft>
              <a:defRPr sz="1400" b="1">
                <a:solidFill>
                  <a:srgbClr val="1E293B"/>
                </a:solidFill>
                <a:latin typeface="Calibri"/>
              </a:defRPr>
            </a:pPr>
            <a:r>
              <a:t>• Chat example: message rows sharded by chat_id across a Cassandra cluster — each chat's history lives on one shard for fast reads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Data Consistency &amp; Isolation Levels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How correct and isolated are your reads and writes?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960120"/>
          </a:xfrm>
          <a:prstGeom prst="rect">
            <a:avLst/>
          </a:prstGeom>
          <a:noFill/>
        </p:spPr>
        <p:txBody>
          <a:bodyPr wrap="square">
            <a:spAutoFit/>
          </a:bodyPr>
          <a:lstStyle/>
          <a:p>
            <a:pPr algn="l">
              <a:defRPr sz="1400" b="0">
                <a:solidFill>
                  <a:srgbClr val="1E293B"/>
                </a:solidFill>
                <a:latin typeface="Calibri"/>
              </a:defRPr>
            </a:pPr>
            <a:r>
              <a:t>In a distributed system, data may exist on multiple nodes at once — consistency defines whether every reader sees the latest write immediately or only after nodes sync. Isolation levels (from SQL databases) define how much one in-flight transaction can see of another's unfinished work. Chat messages tolerate slight delay; financial transactions do not.</a:t>
            </a:r>
          </a:p>
        </p:txBody>
      </p:sp>
      <p:sp>
        <p:nvSpPr>
          <p:cNvPr id="8" name="TextBox 7"/>
          <p:cNvSpPr txBox="1"/>
          <p:nvPr/>
        </p:nvSpPr>
        <p:spPr>
          <a:xfrm>
            <a:off x="548640" y="2075688"/>
            <a:ext cx="11064240" cy="4315968"/>
          </a:xfrm>
          <a:prstGeom prst="rect">
            <a:avLst/>
          </a:prstGeom>
          <a:noFill/>
        </p:spPr>
        <p:txBody>
          <a:bodyPr wrap="square">
            <a:spAutoFit/>
          </a:bodyPr>
          <a:lstStyle/>
          <a:p>
            <a:pPr>
              <a:spcAft>
                <a:spcPts val="500"/>
              </a:spcAft>
              <a:defRPr sz="1400" b="1">
                <a:solidFill>
                  <a:srgbClr val="1E293B"/>
                </a:solidFill>
                <a:latin typeface="Calibri"/>
              </a:defRPr>
            </a:pPr>
            <a:r>
              <a:t>• Strong consistency: every read returns the most recent write — all nodes agree before responding (slower, safer)</a:t>
            </a:r>
          </a:p>
          <a:p>
            <a:pPr>
              <a:spcAft>
                <a:spcPts val="500"/>
              </a:spcAft>
              <a:defRPr sz="1400" b="1">
                <a:solidFill>
                  <a:srgbClr val="1E293B"/>
                </a:solidFill>
                <a:latin typeface="Calibri"/>
              </a:defRPr>
            </a:pPr>
            <a:r>
              <a:t>• Eventual consistency: nodes may briefly disagree but converge over seconds — acceptable for online status or read receipts</a:t>
            </a:r>
          </a:p>
          <a:p>
            <a:pPr>
              <a:spcAft>
                <a:spcPts val="500"/>
              </a:spcAft>
              <a:defRPr sz="1400" b="1">
                <a:solidFill>
                  <a:srgbClr val="1E293B"/>
                </a:solidFill>
                <a:latin typeface="Calibri"/>
              </a:defRPr>
            </a:pPr>
            <a:r>
              <a:t>• Read-your-writes: after you send a message, you always see it in your own chat — even if other regions haven't synced yet</a:t>
            </a:r>
          </a:p>
          <a:p>
            <a:pPr>
              <a:spcAft>
                <a:spcPts val="500"/>
              </a:spcAft>
              <a:defRPr sz="1400" b="1">
                <a:solidFill>
                  <a:srgbClr val="1E293B"/>
                </a:solidFill>
                <a:latin typeface="Calibri"/>
              </a:defRPr>
            </a:pPr>
            <a:r>
              <a:t>• Read Committed: a transaction only sees data that has been committed — prevents reading half-finished writes</a:t>
            </a:r>
          </a:p>
          <a:p>
            <a:pPr>
              <a:spcAft>
                <a:spcPts val="500"/>
              </a:spcAft>
              <a:defRPr sz="1400" b="1">
                <a:solidFill>
                  <a:srgbClr val="1E293B"/>
                </a:solidFill>
                <a:latin typeface="Calibri"/>
              </a:defRPr>
            </a:pPr>
            <a:r>
              <a:t>• Repeatable Read → Serializable: progressively stricter — prevents phantom reads and concurrent update conflicts</a:t>
            </a:r>
          </a:p>
          <a:p>
            <a:pPr>
              <a:spcAft>
                <a:spcPts val="500"/>
              </a:spcAft>
              <a:defRPr sz="1400" b="1">
                <a:solidFill>
                  <a:srgbClr val="1E293B"/>
                </a:solidFill>
                <a:latin typeface="Calibri"/>
              </a:defRPr>
            </a:pPr>
            <a:r>
              <a:t>• Chat: eventual consistency for message delivery and presence; strong/serializable consistency for premium payments or wallet debits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CAP Theorem</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The fundamental trade-off in distributed systems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Chat prioritizes AP — always deliver, sync eventually.</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60120"/>
          </a:xfrm>
          <a:prstGeom prst="rect">
            <a:avLst/>
          </a:prstGeom>
          <a:noFill/>
        </p:spPr>
        <p:txBody>
          <a:bodyPr wrap="square">
            <a:spAutoFit/>
          </a:bodyPr>
          <a:lstStyle/>
          <a:p>
            <a:pPr algn="l">
              <a:defRPr sz="1400" b="0">
                <a:solidFill>
                  <a:srgbClr val="1E293B"/>
                </a:solidFill>
                <a:latin typeface="Calibri"/>
              </a:defRPr>
            </a:pPr>
            <a:r>
              <a:t>CAP states that during a network partition (nodes cannot talk to each other), a distributed database can guarantee at most two of three properties: Consistency (every read returns the latest write), Availability (every request gets a response), and Partition Tolerance (the system keeps running despite network splits). Since network failures are inevitable, real systems choose between CP and AP.</a:t>
            </a:r>
          </a:p>
        </p:txBody>
      </p:sp>
      <p:sp>
        <p:nvSpPr>
          <p:cNvPr id="10" name="TextBox 9"/>
          <p:cNvSpPr txBox="1"/>
          <p:nvPr/>
        </p:nvSpPr>
        <p:spPr>
          <a:xfrm>
            <a:off x="548640" y="2496312"/>
            <a:ext cx="11064240" cy="3895344"/>
          </a:xfrm>
          <a:prstGeom prst="rect">
            <a:avLst/>
          </a:prstGeom>
          <a:noFill/>
        </p:spPr>
        <p:txBody>
          <a:bodyPr wrap="square">
            <a:spAutoFit/>
          </a:bodyPr>
          <a:lstStyle/>
          <a:p>
            <a:pPr>
              <a:spcAft>
                <a:spcPts val="500"/>
              </a:spcAft>
              <a:defRPr sz="1400" b="1">
                <a:solidFill>
                  <a:srgbClr val="1E293B"/>
                </a:solidFill>
                <a:latin typeface="Calibri"/>
              </a:defRPr>
            </a:pPr>
            <a:r>
              <a:t>• Consistency (C): all nodes return the same, up-to-date data — no stale reads</a:t>
            </a:r>
          </a:p>
          <a:p>
            <a:pPr>
              <a:spcAft>
                <a:spcPts val="500"/>
              </a:spcAft>
              <a:defRPr sz="1400" b="1">
                <a:solidFill>
                  <a:srgbClr val="1E293B"/>
                </a:solidFill>
                <a:latin typeface="Calibri"/>
              </a:defRPr>
            </a:pPr>
            <a:r>
              <a:t>• Availability (A): every request receives a response — the system never says 'try again later' because a node is unreachable</a:t>
            </a:r>
          </a:p>
          <a:p>
            <a:pPr>
              <a:spcAft>
                <a:spcPts val="500"/>
              </a:spcAft>
              <a:defRPr sz="1400" b="1">
                <a:solidFill>
                  <a:srgbClr val="1E293B"/>
                </a:solidFill>
                <a:latin typeface="Calibri"/>
              </a:defRPr>
            </a:pPr>
            <a:r>
              <a:t>• Partition Tolerance (P): the system continues operating even when network links between nodes break</a:t>
            </a:r>
          </a:p>
          <a:p>
            <a:pPr>
              <a:spcAft>
                <a:spcPts val="500"/>
              </a:spcAft>
              <a:defRPr sz="1400" b="1">
                <a:solidFill>
                  <a:srgbClr val="1E293B"/>
                </a:solidFill>
                <a:latin typeface="Calibri"/>
              </a:defRPr>
            </a:pPr>
            <a:r>
              <a:t>• CA systems: consistent + available — only possible on a single node (not truly distributed)</a:t>
            </a:r>
          </a:p>
          <a:p>
            <a:pPr>
              <a:spcAft>
                <a:spcPts val="500"/>
              </a:spcAft>
              <a:defRPr sz="1400" b="1">
                <a:solidFill>
                  <a:srgbClr val="1E293B"/>
                </a:solidFill>
                <a:latin typeface="Calibri"/>
              </a:defRPr>
            </a:pPr>
            <a:r>
              <a:t>• CP systems: reject writes or reads during a partition to avoid returning stale data — used in banking</a:t>
            </a:r>
          </a:p>
          <a:p>
            <a:pPr>
              <a:spcAft>
                <a:spcPts val="500"/>
              </a:spcAft>
              <a:defRPr sz="1400" b="1">
                <a:solidFill>
                  <a:srgbClr val="1E293B"/>
                </a:solidFill>
                <a:latin typeface="Calibri"/>
              </a:defRPr>
            </a:pPr>
            <a:r>
              <a:t>• AP systems: accept writes locally and reconcile later — chat apps choose this so users can always send messages</a:t>
            </a:r>
          </a:p>
          <a:p>
            <a:pPr>
              <a:spcAft>
                <a:spcPts val="500"/>
              </a:spcAft>
              <a:defRPr sz="1400" b="1">
                <a:solidFill>
                  <a:srgbClr val="1E293B"/>
                </a:solidFill>
                <a:latin typeface="Calibri"/>
              </a:defRPr>
            </a:pPr>
            <a:r>
              <a:t>• PACELC extension: when there is no partition, you still trade Latency vs Consistency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Consistency vs Availability</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What happens when the network breaks?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Chat chooses availability — better late than never.</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1024128"/>
          </a:xfrm>
          <a:prstGeom prst="rect">
            <a:avLst/>
          </a:prstGeom>
          <a:noFill/>
        </p:spPr>
        <p:txBody>
          <a:bodyPr wrap="square">
            <a:spAutoFit/>
          </a:bodyPr>
          <a:lstStyle/>
          <a:p>
            <a:pPr algn="l">
              <a:defRPr sz="1400" b="0">
                <a:solidFill>
                  <a:srgbClr val="1E293B"/>
                </a:solidFill>
                <a:latin typeface="Calibri"/>
              </a:defRPr>
            </a:pPr>
            <a:r>
              <a:t>Imagine two data centers lose connectivity. If you require every node to agree before confirming a write (consistency-first), some users cannot send messages until the link recovers. If you accept writes locally and sync later (availability-first), everyone can keep chatting — but two users might briefly see different message order. Chat products choose availability because a silent app is worse than a slightly delayed sync.</a:t>
            </a:r>
          </a:p>
        </p:txBody>
      </p:sp>
      <p:sp>
        <p:nvSpPr>
          <p:cNvPr id="10" name="Rectangle 9"/>
          <p:cNvSpPr/>
          <p:nvPr/>
        </p:nvSpPr>
        <p:spPr>
          <a:xfrm>
            <a:off x="502920" y="2523744"/>
            <a:ext cx="5394960" cy="40233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587752"/>
            <a:ext cx="5394960" cy="310896"/>
          </a:xfrm>
          <a:prstGeom prst="rect">
            <a:avLst/>
          </a:prstGeom>
          <a:noFill/>
        </p:spPr>
        <p:txBody>
          <a:bodyPr wrap="square">
            <a:spAutoFit/>
          </a:bodyPr>
          <a:lstStyle/>
          <a:p>
            <a:pPr algn="ctr">
              <a:defRPr sz="1800" b="1">
                <a:solidFill>
                  <a:srgbClr val="FFFFFF"/>
                </a:solidFill>
                <a:latin typeface="Calibri"/>
              </a:defRPr>
            </a:pPr>
            <a:r>
              <a:t>Consistency-First (CP)</a:t>
            </a:r>
          </a:p>
        </p:txBody>
      </p:sp>
      <p:sp>
        <p:nvSpPr>
          <p:cNvPr id="12" name="Rectangle 11"/>
          <p:cNvSpPr/>
          <p:nvPr/>
        </p:nvSpPr>
        <p:spPr>
          <a:xfrm>
            <a:off x="6172200" y="2523744"/>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587752"/>
            <a:ext cx="5394960" cy="310896"/>
          </a:xfrm>
          <a:prstGeom prst="rect">
            <a:avLst/>
          </a:prstGeom>
          <a:noFill/>
        </p:spPr>
        <p:txBody>
          <a:bodyPr wrap="square">
            <a:spAutoFit/>
          </a:bodyPr>
          <a:lstStyle/>
          <a:p>
            <a:pPr algn="ctr">
              <a:defRPr sz="1800" b="1">
                <a:solidFill>
                  <a:srgbClr val="FFFFFF"/>
                </a:solidFill>
                <a:latin typeface="Calibri"/>
              </a:defRPr>
            </a:pPr>
            <a:r>
              <a:t>Availability-First (AP)</a:t>
            </a:r>
          </a:p>
        </p:txBody>
      </p:sp>
      <p:sp>
        <p:nvSpPr>
          <p:cNvPr id="14" name="Rounded Rectangle 13"/>
          <p:cNvSpPr/>
          <p:nvPr/>
        </p:nvSpPr>
        <p:spPr>
          <a:xfrm>
            <a:off x="502920" y="2944368"/>
            <a:ext cx="5394960" cy="3447288"/>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944368"/>
            <a:ext cx="5394960" cy="3447288"/>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3035808"/>
            <a:ext cx="5175504" cy="3246120"/>
          </a:xfrm>
          <a:prstGeom prst="rect">
            <a:avLst/>
          </a:prstGeom>
          <a:noFill/>
        </p:spPr>
        <p:txBody>
          <a:bodyPr wrap="square">
            <a:spAutoFit/>
          </a:bodyPr>
          <a:lstStyle/>
          <a:p>
            <a:pPr>
              <a:spcAft>
                <a:spcPts val="600"/>
              </a:spcAft>
              <a:defRPr sz="1400" b="1">
                <a:solidFill>
                  <a:srgbClr val="1E293B"/>
                </a:solidFill>
                <a:latin typeface="Calibri"/>
              </a:defRPr>
            </a:pPr>
            <a:r>
              <a:t>• Reject new writes until the network partition heals</a:t>
            </a:r>
          </a:p>
          <a:p>
            <a:pPr>
              <a:spcAft>
                <a:spcPts val="600"/>
              </a:spcAft>
              <a:defRPr sz="1400" b="1">
                <a:solidFill>
                  <a:srgbClr val="1E293B"/>
                </a:solidFill>
                <a:latin typeface="Calibri"/>
              </a:defRPr>
            </a:pPr>
            <a:r>
              <a:t>• Read receipts shown only after all replicas confirm delivery</a:t>
            </a:r>
          </a:p>
          <a:p>
            <a:pPr>
              <a:spcAft>
                <a:spcPts val="600"/>
              </a:spcAft>
              <a:defRPr sz="1400" b="1">
                <a:solidFill>
                  <a:srgbClr val="1E293B"/>
                </a:solidFill>
                <a:latin typeface="Calibri"/>
              </a:defRPr>
            </a:pPr>
            <a:r>
              <a:t>• Strict global ordering of every message worldwide</a:t>
            </a:r>
          </a:p>
          <a:p>
            <a:pPr>
              <a:spcAft>
                <a:spcPts val="600"/>
              </a:spcAft>
              <a:defRPr sz="1400" b="1">
                <a:solidFill>
                  <a:srgbClr val="1E293B"/>
                </a:solidFill>
                <a:latin typeface="Calibri"/>
              </a:defRPr>
            </a:pPr>
            <a:r>
              <a:t>• Online status always accurate across all regions</a:t>
            </a:r>
          </a:p>
          <a:p>
            <a:pPr>
              <a:spcAft>
                <a:spcPts val="600"/>
              </a:spcAft>
              <a:defRPr sz="1400" b="1">
                <a:solidFill>
                  <a:srgbClr val="1E293B"/>
                </a:solidFill>
                <a:latin typeface="Calibri"/>
              </a:defRPr>
            </a:pPr>
            <a:r>
              <a:t>• Risk: users see errors or timeouts during outages</a:t>
            </a:r>
          </a:p>
          <a:p>
            <a:pPr>
              <a:spcAft>
                <a:spcPts val="600"/>
              </a:spcAft>
              <a:defRPr sz="1400" b="1">
                <a:solidFill>
                  <a:srgbClr val="1E293B"/>
                </a:solidFill>
                <a:latin typeface="Calibri"/>
              </a:defRPr>
            </a:pPr>
            <a:r>
              <a:t>• Used in: banking, inventory, ticket booking</a:t>
            </a:r>
          </a:p>
        </p:txBody>
      </p:sp>
      <p:sp>
        <p:nvSpPr>
          <p:cNvPr id="17" name="TextBox 16"/>
          <p:cNvSpPr txBox="1"/>
          <p:nvPr/>
        </p:nvSpPr>
        <p:spPr>
          <a:xfrm>
            <a:off x="6300216" y="3035808"/>
            <a:ext cx="5175504" cy="3246120"/>
          </a:xfrm>
          <a:prstGeom prst="rect">
            <a:avLst/>
          </a:prstGeom>
          <a:noFill/>
        </p:spPr>
        <p:txBody>
          <a:bodyPr wrap="square">
            <a:spAutoFit/>
          </a:bodyPr>
          <a:lstStyle/>
          <a:p>
            <a:pPr>
              <a:spcAft>
                <a:spcPts val="600"/>
              </a:spcAft>
              <a:defRPr sz="1400" b="1">
                <a:solidFill>
                  <a:srgbClr val="1E293B"/>
                </a:solidFill>
                <a:latin typeface="Calibri"/>
              </a:defRPr>
            </a:pPr>
            <a:r>
              <a:t>• Accept writes locally; background sync merges when network returns</a:t>
            </a:r>
          </a:p>
          <a:p>
            <a:pPr>
              <a:spcAft>
                <a:spcPts val="600"/>
              </a:spcAft>
              <a:defRPr sz="1400" b="1">
                <a:solidFill>
                  <a:srgbClr val="1E293B"/>
                </a:solidFill>
                <a:latin typeface="Calibri"/>
              </a:defRPr>
            </a:pPr>
            <a:r>
              <a:t>• 'Delivered' shown quickly; 'read' receipt may lag a few seconds</a:t>
            </a:r>
          </a:p>
          <a:p>
            <a:pPr>
              <a:spcAft>
                <a:spcPts val="600"/>
              </a:spcAft>
              <a:defRPr sz="1400" b="1">
                <a:solidFill>
                  <a:srgbClr val="1E293B"/>
                </a:solidFill>
                <a:latin typeface="Calibri"/>
              </a:defRPr>
            </a:pPr>
            <a:r>
              <a:t>• Messages ordered within one chat; cross-region order may differ briefly</a:t>
            </a:r>
          </a:p>
          <a:p>
            <a:pPr>
              <a:spcAft>
                <a:spcPts val="600"/>
              </a:spcAft>
              <a:defRPr sz="1400" b="1">
                <a:solidFill>
                  <a:srgbClr val="1E293B"/>
                </a:solidFill>
                <a:latin typeface="Calibri"/>
              </a:defRPr>
            </a:pPr>
            <a:r>
              <a:t>• Online status may be up to 30 seconds stale</a:t>
            </a:r>
          </a:p>
          <a:p>
            <a:pPr>
              <a:spcAft>
                <a:spcPts val="600"/>
              </a:spcAft>
              <a:defRPr sz="1400" b="1">
                <a:solidFill>
                  <a:srgbClr val="1E293B"/>
                </a:solidFill>
                <a:latin typeface="Calibri"/>
              </a:defRPr>
            </a:pPr>
            <a:r>
              <a:t>• Benefit: messaging always works — even on flaky mobile networks</a:t>
            </a:r>
          </a:p>
          <a:p>
            <a:pPr>
              <a:spcAft>
                <a:spcPts val="600"/>
              </a:spcAft>
              <a:defRPr sz="1400" b="1">
                <a:solidFill>
                  <a:srgbClr val="1E293B"/>
                </a:solidFill>
                <a:latin typeface="Calibri"/>
              </a:defRPr>
            </a:pPr>
            <a:r>
              <a:t>• Used in: chat, social feeds, push notifications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Caching — Redis &amp; Memcached</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A fast layer between your app and the database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Redis caches recent chats for sub-ms reads.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60120"/>
          </a:xfrm>
          <a:prstGeom prst="rect">
            <a:avLst/>
          </a:prstGeom>
          <a:noFill/>
        </p:spPr>
        <p:txBody>
          <a:bodyPr wrap="square">
            <a:spAutoFit/>
          </a:bodyPr>
          <a:lstStyle/>
          <a:p>
            <a:pPr algn="l">
              <a:defRPr sz="1400" b="0">
                <a:solidFill>
                  <a:srgbClr val="1E293B"/>
                </a:solidFill>
                <a:latin typeface="Calibri"/>
              </a:defRPr>
            </a:pPr>
            <a:r>
              <a:t>A cache is a small, fast memory store that holds copies of frequently accessed data so the app does not hit the slow database on every request. It sits between your application and the primary database — on a cache hit you respond in sub-milliseconds; on a miss you read from DB and populate the cache for next time. Redis offers rich features; Memcached offers pure simplicity and speed.</a:t>
            </a:r>
          </a:p>
        </p:txBody>
      </p:sp>
      <p:sp>
        <p:nvSpPr>
          <p:cNvPr id="10" name="TextBox 9"/>
          <p:cNvSpPr txBox="1"/>
          <p:nvPr/>
        </p:nvSpPr>
        <p:spPr>
          <a:xfrm>
            <a:off x="548640" y="2496312"/>
            <a:ext cx="11064240" cy="3895344"/>
          </a:xfrm>
          <a:prstGeom prst="rect">
            <a:avLst/>
          </a:prstGeom>
          <a:noFill/>
        </p:spPr>
        <p:txBody>
          <a:bodyPr wrap="square">
            <a:spAutoFit/>
          </a:bodyPr>
          <a:lstStyle/>
          <a:p>
            <a:pPr>
              <a:spcAft>
                <a:spcPts val="500"/>
              </a:spcAft>
              <a:defRPr sz="1400" b="1">
                <a:solidFill>
                  <a:srgbClr val="1E293B"/>
                </a:solidFill>
                <a:latin typeface="Calibri"/>
              </a:defRPr>
            </a:pPr>
            <a:r>
              <a:t>• Cache-aside (lazy loading): app checks cache first → on miss, reads DB → writes result into cache for future requests</a:t>
            </a:r>
          </a:p>
          <a:p>
            <a:pPr>
              <a:spcAft>
                <a:spcPts val="500"/>
              </a:spcAft>
              <a:defRPr sz="1400" b="1">
                <a:solidFill>
                  <a:srgbClr val="1E293B"/>
                </a:solidFill>
                <a:latin typeface="Calibri"/>
              </a:defRPr>
            </a:pPr>
            <a:r>
              <a:t>• Cache hit vs miss: hit = data found in cache (fast); miss = must query DB and rebuild cache entry (slower)</a:t>
            </a:r>
          </a:p>
          <a:p>
            <a:pPr>
              <a:spcAft>
                <a:spcPts val="500"/>
              </a:spcAft>
              <a:defRPr sz="1400" b="1">
                <a:solidFill>
                  <a:srgbClr val="1E293B"/>
                </a:solidFill>
                <a:latin typeface="Calibri"/>
              </a:defRPr>
            </a:pPr>
            <a:r>
              <a:t>• Redis: sessions, recent messages, online status, Publish/Subscribe events, sorted sets for leaderboards</a:t>
            </a:r>
          </a:p>
          <a:p>
            <a:pPr>
              <a:spcAft>
                <a:spcPts val="500"/>
              </a:spcAft>
              <a:defRPr sz="1400" b="1">
                <a:solidFill>
                  <a:srgbClr val="1E293B"/>
                </a:solidFill>
                <a:latin typeface="Calibri"/>
              </a:defRPr>
            </a:pPr>
            <a:r>
              <a:t>• Memcached: plain key-value for profile photos metadata, contact lists — no built-in persistence or pub/sub</a:t>
            </a:r>
          </a:p>
          <a:p>
            <a:pPr>
              <a:spcAft>
                <a:spcPts val="500"/>
              </a:spcAft>
              <a:defRPr sz="1400" b="1">
                <a:solidFill>
                  <a:srgbClr val="1E293B"/>
                </a:solidFill>
                <a:latin typeface="Calibri"/>
              </a:defRPr>
            </a:pPr>
            <a:r>
              <a:t>• Why cache chat data: ~90% of reads are recent messages in active conversations — perfect cache candidates</a:t>
            </a:r>
          </a:p>
          <a:p>
            <a:pPr>
              <a:spcAft>
                <a:spcPts val="500"/>
              </a:spcAft>
              <a:defRPr sz="1400" b="1">
                <a:solidFill>
                  <a:srgbClr val="1E293B"/>
                </a:solidFill>
                <a:latin typeface="Calibri"/>
              </a:defRPr>
            </a:pPr>
            <a:r>
              <a:t>• Invalidation: when a new message arrives, append it to the cached timeline instead of flushing the entire cache</a:t>
            </a:r>
          </a:p>
          <a:p>
            <a:pPr>
              <a:spcAft>
                <a:spcPts val="500"/>
              </a:spcAft>
              <a:defRPr sz="1400" b="1">
                <a:solidFill>
                  <a:srgbClr val="1E293B"/>
                </a:solidFill>
                <a:latin typeface="Calibri"/>
              </a:defRPr>
            </a:pPr>
            <a:r>
              <a:t>• Risk: stale cache — always define TTL (Time To Live) or explicit invalidation rules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Cache Write Policies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When and how data gets written to cache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Messages use write-back; profiles use write-through.</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14400"/>
          </a:xfrm>
          <a:prstGeom prst="rect">
            <a:avLst/>
          </a:prstGeom>
          <a:noFill/>
        </p:spPr>
        <p:txBody>
          <a:bodyPr wrap="square">
            <a:spAutoFit/>
          </a:bodyPr>
          <a:lstStyle/>
          <a:p>
            <a:pPr algn="l">
              <a:defRPr sz="1400" b="0">
                <a:solidFill>
                  <a:srgbClr val="1E293B"/>
                </a:solidFill>
                <a:latin typeface="Calibri"/>
              </a:defRPr>
            </a:pPr>
            <a:r>
              <a:t>Write policies control whether the cache and database are updated together or separately. The right choice depends on how much consistency you need versus how fast writes must complete. High-volume chat messages favor speed; user profile changes favor correctness.</a:t>
            </a:r>
          </a:p>
        </p:txBody>
      </p:sp>
      <p:sp>
        <p:nvSpPr>
          <p:cNvPr id="10" name="TextBox 9"/>
          <p:cNvSpPr txBox="1"/>
          <p:nvPr/>
        </p:nvSpPr>
        <p:spPr>
          <a:xfrm>
            <a:off x="548640" y="2450592"/>
            <a:ext cx="11064240" cy="3941064"/>
          </a:xfrm>
          <a:prstGeom prst="rect">
            <a:avLst/>
          </a:prstGeom>
          <a:noFill/>
        </p:spPr>
        <p:txBody>
          <a:bodyPr wrap="square">
            <a:spAutoFit/>
          </a:bodyPr>
          <a:lstStyle/>
          <a:p>
            <a:pPr>
              <a:spcAft>
                <a:spcPts val="500"/>
              </a:spcAft>
              <a:defRPr sz="1400" b="1">
                <a:solidFill>
                  <a:srgbClr val="1E293B"/>
                </a:solidFill>
                <a:latin typeface="Calibri"/>
              </a:defRPr>
            </a:pPr>
            <a:r>
              <a:t>• Write-through: every write goes to cache AND database at the same time — cache and DB always match; slightly slower writes</a:t>
            </a:r>
          </a:p>
          <a:p>
            <a:pPr>
              <a:spcAft>
                <a:spcPts val="500"/>
              </a:spcAft>
              <a:defRPr sz="1400" b="1">
                <a:solidFill>
                  <a:srgbClr val="1E293B"/>
                </a:solidFill>
                <a:latin typeface="Calibri"/>
              </a:defRPr>
            </a:pPr>
            <a:r>
              <a:t>• Write-back (write-behind): write to cache immediately; flush to database asynchronously in batches — fastest writes, small data-loss risk on crash</a:t>
            </a:r>
          </a:p>
          <a:p>
            <a:pPr>
              <a:spcAft>
                <a:spcPts val="500"/>
              </a:spcAft>
              <a:defRPr sz="1400" b="1">
                <a:solidFill>
                  <a:srgbClr val="1E293B"/>
                </a:solidFill>
                <a:latin typeface="Calibri"/>
              </a:defRPr>
            </a:pPr>
            <a:r>
              <a:t>• Write-around: skip cache on write — go straight to DB; cache populated only on next read — avoids polluting cache with one-time writes</a:t>
            </a:r>
          </a:p>
          <a:p>
            <a:pPr>
              <a:spcAft>
                <a:spcPts val="500"/>
              </a:spcAft>
              <a:defRPr sz="1400" b="1">
                <a:solidFill>
                  <a:srgbClr val="1E293B"/>
                </a:solidFill>
                <a:latin typeface="Calibri"/>
              </a:defRPr>
            </a:pPr>
            <a:r>
              <a:t>• When to use write-through: profile name change, password update — user must see correct data immediately everywhere</a:t>
            </a:r>
          </a:p>
          <a:p>
            <a:pPr>
              <a:spcAft>
                <a:spcPts val="500"/>
              </a:spcAft>
              <a:defRPr sz="1400" b="1">
                <a:solidFill>
                  <a:srgbClr val="1E293B"/>
                </a:solidFill>
                <a:latin typeface="Calibri"/>
              </a:defRPr>
            </a:pPr>
            <a:r>
              <a:t>• When to use write-back: high-volume message ingestion — sender gets instant ACK while DB write happens in background</a:t>
            </a:r>
          </a:p>
          <a:p>
            <a:pPr>
              <a:spcAft>
                <a:spcPts val="500"/>
              </a:spcAft>
              <a:defRPr sz="1400" b="1">
                <a:solidFill>
                  <a:srgbClr val="1E293B"/>
                </a:solidFill>
                <a:latin typeface="Calibri"/>
              </a:defRPr>
            </a:pPr>
            <a:r>
              <a:t>• Chat example: messages use write-back for throughput; profile/settings use write-through for consistency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Cache Replacement Policies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What to evict when cache is full</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914400"/>
          </a:xfrm>
          <a:prstGeom prst="rect">
            <a:avLst/>
          </a:prstGeom>
          <a:noFill/>
        </p:spPr>
        <p:txBody>
          <a:bodyPr wrap="square">
            <a:spAutoFit/>
          </a:bodyPr>
          <a:lstStyle/>
          <a:p>
            <a:pPr algn="l">
              <a:defRPr sz="1400" b="0">
                <a:solidFill>
                  <a:srgbClr val="1E293B"/>
                </a:solidFill>
                <a:latin typeface="Calibri"/>
              </a:defRPr>
            </a:pPr>
            <a:r>
              <a:t>Cache memory is finite. When it fills up, a replacement (eviction) policy decides which entries to remove to make room for new ones. A good policy keeps frequently accessed data in cache and drops data that is unlikely to be read again soon.</a:t>
            </a:r>
          </a:p>
        </p:txBody>
      </p:sp>
      <p:sp>
        <p:nvSpPr>
          <p:cNvPr id="8" name="TextBox 7"/>
          <p:cNvSpPr txBox="1"/>
          <p:nvPr/>
        </p:nvSpPr>
        <p:spPr>
          <a:xfrm>
            <a:off x="548640" y="2029968"/>
            <a:ext cx="11064240" cy="4361688"/>
          </a:xfrm>
          <a:prstGeom prst="rect">
            <a:avLst/>
          </a:prstGeom>
          <a:noFill/>
        </p:spPr>
        <p:txBody>
          <a:bodyPr wrap="square">
            <a:spAutoFit/>
          </a:bodyPr>
          <a:lstStyle/>
          <a:p>
            <a:pPr>
              <a:spcAft>
                <a:spcPts val="500"/>
              </a:spcAft>
              <a:defRPr sz="1400" b="1">
                <a:solidFill>
                  <a:srgbClr val="1E293B"/>
                </a:solidFill>
                <a:latin typeface="Calibri"/>
              </a:defRPr>
            </a:pPr>
            <a:r>
              <a:t>• LRU (Least Recently Used): evict the entry not accessed for the longest time — good general default for chat timelines</a:t>
            </a:r>
          </a:p>
          <a:p>
            <a:pPr>
              <a:spcAft>
                <a:spcPts val="500"/>
              </a:spcAft>
              <a:defRPr sz="1400" b="1">
                <a:solidFill>
                  <a:srgbClr val="1E293B"/>
                </a:solidFill>
                <a:latin typeface="Calibri"/>
              </a:defRPr>
            </a:pPr>
            <a:r>
              <a:t>• LFU (Least Frequently Used): evict the entry read the fewest times — keeps permanently popular group chats hot</a:t>
            </a:r>
          </a:p>
          <a:p>
            <a:pPr>
              <a:spcAft>
                <a:spcPts val="500"/>
              </a:spcAft>
              <a:defRPr sz="1400" b="1">
                <a:solidFill>
                  <a:srgbClr val="1E293B"/>
                </a:solidFill>
                <a:latin typeface="Calibri"/>
              </a:defRPr>
            </a:pPr>
            <a:r>
              <a:t>• Segmented LRU: separate 'hot' and 'warm' segments — active conversations stay in the hot segment longer</a:t>
            </a:r>
          </a:p>
          <a:p>
            <a:pPr>
              <a:spcAft>
                <a:spcPts val="500"/>
              </a:spcAft>
              <a:defRPr sz="1400" b="1">
                <a:solidFill>
                  <a:srgbClr val="1E293B"/>
                </a:solidFill>
                <a:latin typeface="Calibri"/>
              </a:defRPr>
            </a:pPr>
            <a:r>
              <a:t>• TTL (Time To Live): entry auto-expires after a fixed duration — ideal for data that goes stale quickly</a:t>
            </a:r>
          </a:p>
          <a:p>
            <a:pPr>
              <a:spcAft>
                <a:spcPts val="500"/>
              </a:spcAft>
              <a:defRPr sz="1400" b="1">
                <a:solidFill>
                  <a:srgbClr val="1E293B"/>
                </a:solidFill>
                <a:latin typeface="Calibri"/>
              </a:defRPr>
            </a:pPr>
            <a:r>
              <a:t>• FIFO (First In, First Out): evict oldest inserted entry — simple but ignores access patterns; rarely used alone</a:t>
            </a:r>
          </a:p>
          <a:p>
            <a:pPr>
              <a:spcAft>
                <a:spcPts val="500"/>
              </a:spcAft>
              <a:defRPr sz="1400" b="1">
                <a:solidFill>
                  <a:srgbClr val="1E293B"/>
                </a:solidFill>
                <a:latin typeface="Calibri"/>
              </a:defRPr>
            </a:pPr>
            <a:r>
              <a:t>• Chat example: LRU for recent message cache; TTL of 30 seconds for online/presence indicators that change constantly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Content Delivery Networks (CDN)</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Serving content from servers close to users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All shared media delivered via CDN.</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60120"/>
          </a:xfrm>
          <a:prstGeom prst="rect">
            <a:avLst/>
          </a:prstGeom>
          <a:noFill/>
        </p:spPr>
        <p:txBody>
          <a:bodyPr wrap="square">
            <a:spAutoFit/>
          </a:bodyPr>
          <a:lstStyle/>
          <a:p>
            <a:pPr algn="l">
              <a:defRPr sz="1400" b="0">
                <a:solidFill>
                  <a:srgbClr val="1E293B"/>
                </a:solidFill>
                <a:latin typeface="Calibri"/>
              </a:defRPr>
            </a:pPr>
            <a:r>
              <a:t>A CDN (Content Delivery Network) is a global network of edge servers that store copies of static and media files close to end users. Instead of every user downloading a profile photo from one central origin server (slow and expensive), the CDN serves it from the nearest edge node — cutting latency from hundreds of milliseconds to tens.</a:t>
            </a:r>
          </a:p>
        </p:txBody>
      </p:sp>
      <p:sp>
        <p:nvSpPr>
          <p:cNvPr id="10" name="TextBox 9"/>
          <p:cNvSpPr txBox="1"/>
          <p:nvPr/>
        </p:nvSpPr>
        <p:spPr>
          <a:xfrm>
            <a:off x="548640" y="2496312"/>
            <a:ext cx="11064240" cy="3895344"/>
          </a:xfrm>
          <a:prstGeom prst="rect">
            <a:avLst/>
          </a:prstGeom>
          <a:noFill/>
        </p:spPr>
        <p:txBody>
          <a:bodyPr wrap="square">
            <a:spAutoFit/>
          </a:bodyPr>
          <a:lstStyle/>
          <a:p>
            <a:pPr>
              <a:spcAft>
                <a:spcPts val="500"/>
              </a:spcAft>
              <a:defRPr sz="1400" b="1">
                <a:solidFill>
                  <a:srgbClr val="1E293B"/>
                </a:solidFill>
                <a:latin typeface="Calibri"/>
              </a:defRPr>
            </a:pPr>
            <a:r>
              <a:t>• Flow: upload media to origin (e.g. S3) → CDN pulls and caches copies at edge nodes worldwide → user downloads from nearest edge</a:t>
            </a:r>
          </a:p>
          <a:p>
            <a:pPr>
              <a:spcAft>
                <a:spcPts val="500"/>
              </a:spcAft>
              <a:defRPr sz="1400" b="1">
                <a:solidFill>
                  <a:srgbClr val="1E293B"/>
                </a:solidFill>
                <a:latin typeface="Calibri"/>
              </a:defRPr>
            </a:pPr>
            <a:r>
              <a:t>• Edge server: a CDN node in the user's city or region — not the main data center</a:t>
            </a:r>
          </a:p>
          <a:p>
            <a:pPr>
              <a:spcAft>
                <a:spcPts val="500"/>
              </a:spcAft>
              <a:defRPr sz="1400" b="1">
                <a:solidFill>
                  <a:srgbClr val="1E293B"/>
                </a:solidFill>
                <a:latin typeface="Calibri"/>
              </a:defRPr>
            </a:pPr>
            <a:r>
              <a:t>• Benefits: lower latency, reduced load on origin, built-in DDoS (Distributed Denial of Service) protection</a:t>
            </a:r>
          </a:p>
          <a:p>
            <a:pPr>
              <a:spcAft>
                <a:spcPts val="500"/>
              </a:spcAft>
              <a:defRPr sz="1400" b="1">
                <a:solidFill>
                  <a:srgbClr val="1E293B"/>
                </a:solidFill>
                <a:latin typeface="Calibri"/>
              </a:defRPr>
            </a:pPr>
            <a:r>
              <a:t>• Major providers: CloudFront (AWS), Akamai, Cloudflare, Fastly</a:t>
            </a:r>
          </a:p>
          <a:p>
            <a:pPr>
              <a:spcAft>
                <a:spcPts val="500"/>
              </a:spcAft>
              <a:defRPr sz="1400" b="1">
                <a:solidFill>
                  <a:srgbClr val="1E293B"/>
                </a:solidFill>
                <a:latin typeface="Calibri"/>
              </a:defRPr>
            </a:pPr>
            <a:r>
              <a:t>• What belongs on CDN: profile pictures, shared photos/videos, stickers — large, read-heavy, rarely changing files</a:t>
            </a:r>
          </a:p>
          <a:p>
            <a:pPr>
              <a:spcAft>
                <a:spcPts val="500"/>
              </a:spcAft>
              <a:defRPr sz="1400" b="1">
                <a:solidFill>
                  <a:srgbClr val="1E293B"/>
                </a:solidFill>
                <a:latin typeface="Calibri"/>
              </a:defRPr>
            </a:pPr>
            <a:r>
              <a:t>• What does NOT use CDN: live chat text — delivered over WebSocket in real time, not as cached static files</a:t>
            </a:r>
          </a:p>
          <a:p>
            <a:pPr>
              <a:spcAft>
                <a:spcPts val="500"/>
              </a:spcAft>
              <a:defRPr sz="1400" b="1">
                <a:solidFill>
                  <a:srgbClr val="1E293B"/>
                </a:solidFill>
                <a:latin typeface="Calibri"/>
              </a:defRPr>
            </a:pPr>
            <a:r>
              <a:t>• Chat example: a 2 MB photo shared in Mumbai is served from a Mumbai edge node, not from a US origin server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TCP &amp; UDP — Transport Layer Basics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How data moves between devices on a network</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1024128"/>
          </a:xfrm>
          <a:prstGeom prst="rect">
            <a:avLst/>
          </a:prstGeom>
          <a:noFill/>
        </p:spPr>
        <p:txBody>
          <a:bodyPr wrap="square">
            <a:spAutoFit/>
          </a:bodyPr>
          <a:lstStyle/>
          <a:p>
            <a:pPr algn="l">
              <a:defRPr sz="1400" b="0">
                <a:solidFill>
                  <a:srgbClr val="1E293B"/>
                </a:solidFill>
                <a:latin typeface="Calibri"/>
              </a:defRPr>
            </a:pPr>
            <a:r>
              <a:t>At the transport layer (Layer 4 of the network stack), data is broken into packets and sent between applications. TCP (Transmission Control Protocol) and UDP (User Datagram Protocol) are the two dominant choices. TCP sets up a reliable connection, reorders packets, and retransmits losses — like registered mail. UDP sends packets with no guarantees — like dropping postcards in a mailbox: faster, but some may never arrive.</a:t>
            </a:r>
          </a:p>
        </p:txBody>
      </p:sp>
      <p:sp>
        <p:nvSpPr>
          <p:cNvPr id="8" name="TextBox 7"/>
          <p:cNvSpPr txBox="1"/>
          <p:nvPr/>
        </p:nvSpPr>
        <p:spPr>
          <a:xfrm>
            <a:off x="548640" y="2139696"/>
            <a:ext cx="11064240" cy="4251960"/>
          </a:xfrm>
          <a:prstGeom prst="rect">
            <a:avLst/>
          </a:prstGeom>
          <a:noFill/>
        </p:spPr>
        <p:txBody>
          <a:bodyPr wrap="square">
            <a:spAutoFit/>
          </a:bodyPr>
          <a:lstStyle/>
          <a:p>
            <a:pPr>
              <a:spcAft>
                <a:spcPts val="500"/>
              </a:spcAft>
              <a:defRPr sz="1400" b="1">
                <a:solidFill>
                  <a:srgbClr val="1E293B"/>
                </a:solidFill>
                <a:latin typeface="Calibri"/>
              </a:defRPr>
            </a:pPr>
            <a:r>
              <a:t>• TCP (Transmission Control Protocol): connection-oriented — client and server perform a 3-way handshake before sending data</a:t>
            </a:r>
          </a:p>
          <a:p>
            <a:pPr>
              <a:spcAft>
                <a:spcPts val="500"/>
              </a:spcAft>
              <a:defRPr sz="1400" b="1">
                <a:solidFill>
                  <a:srgbClr val="1E293B"/>
                </a:solidFill>
                <a:latin typeface="Calibri"/>
              </a:defRPr>
            </a:pPr>
            <a:r>
              <a:t>• TCP guarantees: packets arrive, in order, without corruption — the receiver sends acknowledgments (ACKs) back</a:t>
            </a:r>
          </a:p>
          <a:p>
            <a:pPr>
              <a:spcAft>
                <a:spcPts val="500"/>
              </a:spcAft>
              <a:defRPr sz="1400" b="1">
                <a:solidFill>
                  <a:srgbClr val="1E293B"/>
                </a:solidFill>
                <a:latin typeface="Calibri"/>
              </a:defRPr>
            </a:pPr>
            <a:r>
              <a:t>• UDP (User Datagram Protocol): connectionless — sender fires packets without setup, ordering, or retransmission</a:t>
            </a:r>
          </a:p>
          <a:p>
            <a:pPr>
              <a:spcAft>
                <a:spcPts val="500"/>
              </a:spcAft>
              <a:defRPr sz="1400" b="1">
                <a:solidFill>
                  <a:srgbClr val="1E293B"/>
                </a:solidFill>
                <a:latin typeface="Calibri"/>
              </a:defRPr>
            </a:pPr>
            <a:r>
              <a:t>• UDP trade-off: lower latency and overhead, but packets can be lost, duplicated, or arrive out of order</a:t>
            </a:r>
          </a:p>
          <a:p>
            <a:pPr>
              <a:spcAft>
                <a:spcPts val="500"/>
              </a:spcAft>
              <a:defRPr sz="1400" b="1">
                <a:solidFill>
                  <a:srgbClr val="1E293B"/>
                </a:solidFill>
                <a:latin typeface="Calibri"/>
              </a:defRPr>
            </a:pPr>
            <a:r>
              <a:t>• Other transport protocols exist but are niche: SCTP (Stream Control Transmission Protocol) for telecom; ICMP (Internet Control Message Protocol) for network diagnostics like ping</a:t>
            </a:r>
          </a:p>
          <a:p>
            <a:pPr>
              <a:spcAft>
                <a:spcPts val="500"/>
              </a:spcAft>
              <a:defRPr sz="1400" b="1">
                <a:solidFill>
                  <a:srgbClr val="1E293B"/>
                </a:solidFill>
                <a:latin typeface="Calibri"/>
              </a:defRPr>
            </a:pPr>
            <a:r>
              <a:t>• Rule of thumb: use TCP when correctness matters (messages, files, APIs); use UDP when speed beats perfect delivery (live video, voice, gaming)</a:t>
            </a:r>
          </a:p>
          <a:p>
            <a:pPr>
              <a:spcAft>
                <a:spcPts val="500"/>
              </a:spcAft>
              <a:defRPr sz="1400" b="1">
                <a:solidFill>
                  <a:srgbClr val="1E293B"/>
                </a:solidFill>
                <a:latin typeface="Calibri"/>
              </a:defRPr>
            </a:pPr>
            <a:r>
              <a:t>• Chat: text messages and WebSocket connections run over TCP; voice/video calls via WebRTC often use UDP for low latency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TCP vs UDP — Side-by-Side</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Same network layer — opposite design goals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914400"/>
          </a:xfrm>
          <a:prstGeom prst="rect">
            <a:avLst/>
          </a:prstGeom>
          <a:noFill/>
        </p:spPr>
        <p:txBody>
          <a:bodyPr wrap="square">
            <a:spAutoFit/>
          </a:bodyPr>
          <a:lstStyle/>
          <a:p>
            <a:pPr algn="l">
              <a:defRPr sz="1400" b="0">
                <a:solidFill>
                  <a:srgbClr val="1E293B"/>
                </a:solidFill>
                <a:latin typeface="Calibri"/>
              </a:defRPr>
            </a:pPr>
            <a:r>
              <a:t>Both TCP and UDP wrap application data into packets and hand them to IP (Internet Protocol) for routing. The difference is what guarantees they provide. TCP optimizes for reliability; UDP optimizes for speed and simplicity. Most production systems use both — TCP for control and data integrity, UDP for real-time media where a lost frame is acceptable.</a:t>
            </a:r>
          </a:p>
        </p:txBody>
      </p:sp>
      <p:sp>
        <p:nvSpPr>
          <p:cNvPr id="8" name="Rectangle 7"/>
          <p:cNvSpPr/>
          <p:nvPr/>
        </p:nvSpPr>
        <p:spPr>
          <a:xfrm>
            <a:off x="502920" y="1993392"/>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057400"/>
            <a:ext cx="5394960" cy="310896"/>
          </a:xfrm>
          <a:prstGeom prst="rect">
            <a:avLst/>
          </a:prstGeom>
          <a:noFill/>
        </p:spPr>
        <p:txBody>
          <a:bodyPr wrap="square">
            <a:spAutoFit/>
          </a:bodyPr>
          <a:lstStyle/>
          <a:p>
            <a:pPr algn="ctr">
              <a:defRPr sz="1800" b="1">
                <a:solidFill>
                  <a:srgbClr val="FFFFFF"/>
                </a:solidFill>
                <a:latin typeface="Calibri"/>
              </a:defRPr>
            </a:pPr>
            <a:r>
              <a:t>TCP — Reliable</a:t>
            </a:r>
          </a:p>
        </p:txBody>
      </p:sp>
      <p:sp>
        <p:nvSpPr>
          <p:cNvPr id="10" name="Rectangle 9"/>
          <p:cNvSpPr/>
          <p:nvPr/>
        </p:nvSpPr>
        <p:spPr>
          <a:xfrm>
            <a:off x="6172200" y="1993392"/>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72200" y="2057400"/>
            <a:ext cx="5394960" cy="310896"/>
          </a:xfrm>
          <a:prstGeom prst="rect">
            <a:avLst/>
          </a:prstGeom>
          <a:noFill/>
        </p:spPr>
        <p:txBody>
          <a:bodyPr wrap="square">
            <a:spAutoFit/>
          </a:bodyPr>
          <a:lstStyle/>
          <a:p>
            <a:pPr algn="ctr">
              <a:defRPr sz="1800" b="1">
                <a:solidFill>
                  <a:srgbClr val="FFFFFF"/>
                </a:solidFill>
                <a:latin typeface="Calibri"/>
              </a:defRPr>
            </a:pPr>
            <a:r>
              <a:t>UDP — Fast</a:t>
            </a:r>
          </a:p>
        </p:txBody>
      </p:sp>
      <p:sp>
        <p:nvSpPr>
          <p:cNvPr id="12" name="Rounded Rectangle 11"/>
          <p:cNvSpPr/>
          <p:nvPr/>
        </p:nvSpPr>
        <p:spPr>
          <a:xfrm>
            <a:off x="502920" y="2414016"/>
            <a:ext cx="5394960" cy="3977640"/>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72200" y="2414016"/>
            <a:ext cx="5394960" cy="39776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 y="2505456"/>
            <a:ext cx="5175504" cy="3776472"/>
          </a:xfrm>
          <a:prstGeom prst="rect">
            <a:avLst/>
          </a:prstGeom>
          <a:noFill/>
        </p:spPr>
        <p:txBody>
          <a:bodyPr wrap="square">
            <a:spAutoFit/>
          </a:bodyPr>
          <a:lstStyle/>
          <a:p>
            <a:pPr>
              <a:spcAft>
                <a:spcPts val="500"/>
              </a:spcAft>
              <a:defRPr sz="1300" b="1">
                <a:solidFill>
                  <a:srgbClr val="1E293B"/>
                </a:solidFill>
                <a:latin typeface="Calibri"/>
              </a:defRPr>
            </a:pPr>
            <a:r>
              <a:t>• 3-way handshake before data transfer (SYN → SYN-ACK → ACK)</a:t>
            </a:r>
          </a:p>
          <a:p>
            <a:pPr>
              <a:spcAft>
                <a:spcPts val="500"/>
              </a:spcAft>
              <a:defRPr sz="1300" b="1">
                <a:solidFill>
                  <a:srgbClr val="1E293B"/>
                </a:solidFill>
                <a:latin typeface="Calibri"/>
              </a:defRPr>
            </a:pPr>
            <a:r>
              <a:t>• Guaranteed delivery with automatic retransmission on loss</a:t>
            </a:r>
          </a:p>
          <a:p>
            <a:pPr>
              <a:spcAft>
                <a:spcPts val="500"/>
              </a:spcAft>
              <a:defRPr sz="1300" b="1">
                <a:solidFill>
                  <a:srgbClr val="1E293B"/>
                </a:solidFill>
                <a:latin typeface="Calibri"/>
              </a:defRPr>
            </a:pPr>
            <a:r>
              <a:t>• Packets always arrive in the correct order</a:t>
            </a:r>
          </a:p>
          <a:p>
            <a:pPr>
              <a:spcAft>
                <a:spcPts val="500"/>
              </a:spcAft>
              <a:defRPr sz="1300" b="1">
                <a:solidFill>
                  <a:srgbClr val="1E293B"/>
                </a:solidFill>
                <a:latin typeface="Calibri"/>
              </a:defRPr>
            </a:pPr>
            <a:r>
              <a:t>• Flow control prevents overwhelming a slow receiver</a:t>
            </a:r>
          </a:p>
          <a:p>
            <a:pPr>
              <a:spcAft>
                <a:spcPts val="500"/>
              </a:spcAft>
              <a:defRPr sz="1300" b="1">
                <a:solidFill>
                  <a:srgbClr val="1E293B"/>
                </a:solidFill>
                <a:latin typeface="Calibri"/>
              </a:defRPr>
            </a:pPr>
            <a:r>
              <a:t>• Higher latency due to ACK overhead and connection setup</a:t>
            </a:r>
          </a:p>
          <a:p>
            <a:pPr>
              <a:spcAft>
                <a:spcPts val="500"/>
              </a:spcAft>
              <a:defRPr sz="1300" b="1">
                <a:solidFill>
                  <a:srgbClr val="1E293B"/>
                </a:solidFill>
                <a:latin typeface="Calibri"/>
              </a:defRPr>
            </a:pPr>
            <a:r>
              <a:t>• Used for: HTTP, WebSocket, file transfer, email (SMTP)</a:t>
            </a:r>
          </a:p>
          <a:p>
            <a:pPr>
              <a:spcAft>
                <a:spcPts val="500"/>
              </a:spcAft>
              <a:defRPr sz="1300" b="1">
                <a:solidFill>
                  <a:srgbClr val="1E293B"/>
                </a:solidFill>
                <a:latin typeface="Calibri"/>
              </a:defRPr>
            </a:pPr>
            <a:r>
              <a:t>• Chat: every text message delivered exactly once, in order</a:t>
            </a:r>
          </a:p>
        </p:txBody>
      </p:sp>
      <p:sp>
        <p:nvSpPr>
          <p:cNvPr id="15" name="TextBox 14"/>
          <p:cNvSpPr txBox="1"/>
          <p:nvPr/>
        </p:nvSpPr>
        <p:spPr>
          <a:xfrm>
            <a:off x="6300216" y="2505456"/>
            <a:ext cx="5175504" cy="3776472"/>
          </a:xfrm>
          <a:prstGeom prst="rect">
            <a:avLst/>
          </a:prstGeom>
          <a:noFill/>
        </p:spPr>
        <p:txBody>
          <a:bodyPr wrap="square">
            <a:spAutoFit/>
          </a:bodyPr>
          <a:lstStyle/>
          <a:p>
            <a:pPr>
              <a:spcAft>
                <a:spcPts val="500"/>
              </a:spcAft>
              <a:defRPr sz="1300" b="1">
                <a:solidFill>
                  <a:srgbClr val="1E293B"/>
                </a:solidFill>
                <a:latin typeface="Calibri"/>
              </a:defRPr>
            </a:pPr>
            <a:r>
              <a:t>• No handshake — send immediately ('fire and forget')</a:t>
            </a:r>
          </a:p>
          <a:p>
            <a:pPr>
              <a:spcAft>
                <a:spcPts val="500"/>
              </a:spcAft>
              <a:defRPr sz="1300" b="1">
                <a:solidFill>
                  <a:srgbClr val="1E293B"/>
                </a:solidFill>
                <a:latin typeface="Calibri"/>
              </a:defRPr>
            </a:pPr>
            <a:r>
              <a:t>• No delivery guarantee — lost packets are not retransmitted</a:t>
            </a:r>
          </a:p>
          <a:p>
            <a:pPr>
              <a:spcAft>
                <a:spcPts val="500"/>
              </a:spcAft>
              <a:defRPr sz="1300" b="1">
                <a:solidFill>
                  <a:srgbClr val="1E293B"/>
                </a:solidFill>
                <a:latin typeface="Calibri"/>
              </a:defRPr>
            </a:pPr>
            <a:r>
              <a:t>• No ordering guarantee — app must handle out-of-order data</a:t>
            </a:r>
          </a:p>
          <a:p>
            <a:pPr>
              <a:spcAft>
                <a:spcPts val="500"/>
              </a:spcAft>
              <a:defRPr sz="1300" b="1">
                <a:solidFill>
                  <a:srgbClr val="1E293B"/>
                </a:solidFill>
                <a:latin typeface="Calibri"/>
              </a:defRPr>
            </a:pPr>
            <a:r>
              <a:t>• Minimal header overhead — ideal for high-frequency small packets</a:t>
            </a:r>
          </a:p>
          <a:p>
            <a:pPr>
              <a:spcAft>
                <a:spcPts val="500"/>
              </a:spcAft>
              <a:defRPr sz="1300" b="1">
                <a:solidFill>
                  <a:srgbClr val="1E293B"/>
                </a:solidFill>
                <a:latin typeface="Calibri"/>
              </a:defRPr>
            </a:pPr>
            <a:r>
              <a:t>• Lower latency — no waiting for ACKs or connection setup</a:t>
            </a:r>
          </a:p>
          <a:p>
            <a:pPr>
              <a:spcAft>
                <a:spcPts val="500"/>
              </a:spcAft>
              <a:defRPr sz="1300" b="1">
                <a:solidFill>
                  <a:srgbClr val="1E293B"/>
                </a:solidFill>
                <a:latin typeface="Calibri"/>
              </a:defRPr>
            </a:pPr>
            <a:r>
              <a:t>• Used for: live video, online gaming, DNS lookups, QUIC (HTTP/3)</a:t>
            </a:r>
          </a:p>
          <a:p>
            <a:pPr>
              <a:spcAft>
                <a:spcPts val="500"/>
              </a:spcAft>
              <a:defRPr sz="1300" b="1">
                <a:solidFill>
                  <a:srgbClr val="1E293B"/>
                </a:solidFill>
                <a:latin typeface="Calibri"/>
              </a:defRPr>
            </a:pPr>
            <a:r>
              <a:t>• Chat: WebRTC voice/video tolerates occasional dropped frames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HTTP/1, HTTP/2, HTTP/3 &amp; HTTPS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The protocols powering web APIs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HTTPS for REST APIs; WebSockets for live chat.</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960120"/>
          </a:xfrm>
          <a:prstGeom prst="rect">
            <a:avLst/>
          </a:prstGeom>
          <a:noFill/>
        </p:spPr>
        <p:txBody>
          <a:bodyPr wrap="square">
            <a:spAutoFit/>
          </a:bodyPr>
          <a:lstStyle/>
          <a:p>
            <a:pPr algn="l">
              <a:defRPr sz="1400" b="0">
                <a:solidFill>
                  <a:srgbClr val="1E293B"/>
                </a:solidFill>
                <a:latin typeface="Calibri"/>
              </a:defRPr>
            </a:pPr>
            <a:r>
              <a:t>HTTP (Hypertext Transfer Protocol) is the request-response protocol behind web APIs. Each version improved performance: HTTP/2 multiplexes many requests on one connection; HTTP/3 runs on QUIC (Quick UDP Internet Connections) for faster mobile reconnects. HTTPS is HTTP wrapped in TLS (Transport Layer Security) encryption — mandatory for all production traffic to protect data in transit.</a:t>
            </a:r>
          </a:p>
        </p:txBody>
      </p:sp>
      <p:sp>
        <p:nvSpPr>
          <p:cNvPr id="10" name="TextBox 9"/>
          <p:cNvSpPr txBox="1"/>
          <p:nvPr/>
        </p:nvSpPr>
        <p:spPr>
          <a:xfrm>
            <a:off x="548640" y="2496312"/>
            <a:ext cx="11064240" cy="3895344"/>
          </a:xfrm>
          <a:prstGeom prst="rect">
            <a:avLst/>
          </a:prstGeom>
          <a:noFill/>
        </p:spPr>
        <p:txBody>
          <a:bodyPr wrap="square">
            <a:spAutoFit/>
          </a:bodyPr>
          <a:lstStyle/>
          <a:p>
            <a:pPr>
              <a:spcAft>
                <a:spcPts val="500"/>
              </a:spcAft>
              <a:defRPr sz="1400" b="1">
                <a:solidFill>
                  <a:srgbClr val="1E293B"/>
                </a:solidFill>
                <a:latin typeface="Calibri"/>
              </a:defRPr>
            </a:pPr>
            <a:r>
              <a:t>• HTTP/1.1: one request at a time per connection (or limited parallelism) — still used for simple REST APIs (login, profiles)</a:t>
            </a:r>
          </a:p>
          <a:p>
            <a:pPr>
              <a:spcAft>
                <a:spcPts val="500"/>
              </a:spcAft>
              <a:defRPr sz="1400" b="1">
                <a:solidFill>
                  <a:srgbClr val="1E293B"/>
                </a:solidFill>
                <a:latin typeface="Calibri"/>
              </a:defRPr>
            </a:pPr>
            <a:r>
              <a:t>• HTTP/2: multiplexing sends many requests simultaneously on one TCP connection; header compression reduces bandwidth</a:t>
            </a:r>
          </a:p>
          <a:p>
            <a:pPr>
              <a:spcAft>
                <a:spcPts val="500"/>
              </a:spcAft>
              <a:defRPr sz="1400" b="1">
                <a:solidFill>
                  <a:srgbClr val="1E293B"/>
                </a:solidFill>
                <a:latin typeface="Calibri"/>
              </a:defRPr>
            </a:pPr>
            <a:r>
              <a:t>• HTTP/3: uses QUIC over UDP instead of TCP — faster connection setup and better performance on lossy mobile networks</a:t>
            </a:r>
          </a:p>
          <a:p>
            <a:pPr>
              <a:spcAft>
                <a:spcPts val="500"/>
              </a:spcAft>
              <a:defRPr sz="1400" b="1">
                <a:solidFill>
                  <a:srgbClr val="1E293B"/>
                </a:solidFill>
                <a:latin typeface="Calibri"/>
              </a:defRPr>
            </a:pPr>
            <a:r>
              <a:t>• QUIC (Quick UDP Internet Connections): combines UDP speed with built-in encryption and connection migration (switch Wi-Fi → 4G without reconnecting)</a:t>
            </a:r>
          </a:p>
          <a:p>
            <a:pPr>
              <a:spcAft>
                <a:spcPts val="500"/>
              </a:spcAft>
              <a:defRPr sz="1400" b="1">
                <a:solidFill>
                  <a:srgbClr val="1E293B"/>
                </a:solidFill>
                <a:latin typeface="Calibri"/>
              </a:defRPr>
            </a:pPr>
            <a:r>
              <a:t>• TLS (Transport Layer Security): encrypts HTTP traffic so passwords and tokens cannot be read in transit — HTTPS = HTTP + TLS</a:t>
            </a:r>
          </a:p>
          <a:p>
            <a:pPr>
              <a:spcAft>
                <a:spcPts val="500"/>
              </a:spcAft>
              <a:defRPr sz="1400" b="1">
                <a:solidFill>
                  <a:srgbClr val="1E293B"/>
                </a:solidFill>
                <a:latin typeface="Calibri"/>
              </a:defRPr>
            </a:pPr>
            <a:r>
              <a:t>• Real-time chat text does NOT use HTTP polling — it uses WebSocket (persistent TCP connection) for instant push delivery</a:t>
            </a:r>
          </a:p>
          <a:p>
            <a:pPr>
              <a:spcAft>
                <a:spcPts val="500"/>
              </a:spcAft>
              <a:defRPr sz="1400" b="1">
                <a:solidFill>
                  <a:srgbClr val="1E293B"/>
                </a:solidFill>
                <a:latin typeface="Calibri"/>
              </a:defRPr>
            </a:pPr>
            <a:r>
              <a:t>• Chat example: HTTPS REST API for authentication; WebSocket for live message stream; HTTP/3 for fast mobile API calls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WebSockets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Persistent bidirectional connection for real-time chat</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Core real-time channel for all chat users.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WebSockets provide a full-duplex connection over TCP. Unlike HTTP polling (client repeatedly asks 'any new messages?'), the server pushes updates instantly — essential for real-time chat with minimal latency.</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Flow: HTTP upgrade handshake → persistent connection → bidirectional frames</a:t>
            </a:r>
          </a:p>
          <a:p>
            <a:pPr>
              <a:spcAft>
                <a:spcPts val="500"/>
              </a:spcAft>
              <a:defRPr sz="1400" b="1">
                <a:solidFill>
                  <a:srgbClr val="1E293B"/>
                </a:solidFill>
                <a:latin typeface="Calibri"/>
              </a:defRPr>
            </a:pPr>
            <a:r>
              <a:t>• vs Polling: wastes bandwidth asking repeatedly — WebSocket pushes instantly</a:t>
            </a:r>
          </a:p>
          <a:p>
            <a:pPr>
              <a:spcAft>
                <a:spcPts val="500"/>
              </a:spcAft>
              <a:defRPr sz="1400" b="1">
                <a:solidFill>
                  <a:srgbClr val="1E293B"/>
                </a:solidFill>
                <a:latin typeface="Calibri"/>
              </a:defRPr>
            </a:pPr>
            <a:r>
              <a:t>• Benefit: message appears on recipient's phone in under 100ms</a:t>
            </a:r>
          </a:p>
          <a:p>
            <a:pPr>
              <a:spcAft>
                <a:spcPts val="500"/>
              </a:spcAft>
              <a:defRPr sz="1400" b="1">
                <a:solidFill>
                  <a:srgbClr val="1E293B"/>
                </a:solidFill>
                <a:latin typeface="Calibri"/>
              </a:defRPr>
            </a:pPr>
            <a:r>
              <a:t>• Scaling: stateful connections need sticky sessions or connection registry</a:t>
            </a:r>
          </a:p>
          <a:p>
            <a:pPr>
              <a:spcAft>
                <a:spcPts val="500"/>
              </a:spcAft>
              <a:defRPr sz="1400" b="1">
                <a:solidFill>
                  <a:srgbClr val="1E293B"/>
                </a:solidFill>
                <a:latin typeface="Calibri"/>
              </a:defRPr>
            </a:pPr>
            <a:r>
              <a:t>• Chat: every user maintains a WebSocket to the chat server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WebRTC &amp; Video Streaming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Real-time voice, video, and media delivery</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WebRTC enables peer-to-peer audio/video in browsers and apps — calls go directly between users (or via TURN relay). Video streaming (status videos) uses CDN-based HLS/DASH protocols instead.</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WebRTC: P2P voice/video — signaling server helps peers connect</a:t>
            </a:r>
          </a:p>
          <a:p>
            <a:pPr>
              <a:spcAft>
                <a:spcPts val="500"/>
              </a:spcAft>
              <a:defRPr sz="1400" b="1">
                <a:solidFill>
                  <a:srgbClr val="1E293B"/>
                </a:solidFill>
                <a:latin typeface="Calibri"/>
              </a:defRPr>
            </a:pPr>
            <a:r>
              <a:t>• STUN/TURN: NAT traversal when direct P2P fails</a:t>
            </a:r>
          </a:p>
          <a:p>
            <a:pPr>
              <a:spcAft>
                <a:spcPts val="500"/>
              </a:spcAft>
              <a:defRPr sz="1400" b="1">
                <a:solidFill>
                  <a:srgbClr val="1E293B"/>
                </a:solidFill>
                <a:latin typeface="Calibri"/>
              </a:defRPr>
            </a:pPr>
            <a:r>
              <a:t>• Video calls bypass chat server — data flows peer-to-peer</a:t>
            </a:r>
          </a:p>
          <a:p>
            <a:pPr>
              <a:spcAft>
                <a:spcPts val="500"/>
              </a:spcAft>
              <a:defRPr sz="1400" b="1">
                <a:solidFill>
                  <a:srgbClr val="1E293B"/>
                </a:solidFill>
                <a:latin typeface="Calibri"/>
              </a:defRPr>
            </a:pPr>
            <a:r>
              <a:t>• VOD streaming: pre-recorded content via CDN (HLS/DASH)</a:t>
            </a:r>
          </a:p>
          <a:p>
            <a:pPr>
              <a:spcAft>
                <a:spcPts val="500"/>
              </a:spcAft>
              <a:defRPr sz="1400" b="1">
                <a:solidFill>
                  <a:srgbClr val="1E293B"/>
                </a:solidFill>
                <a:latin typeface="Calibri"/>
              </a:defRPr>
            </a:pPr>
            <a:r>
              <a:t>• Chat: WhatsApp calls use WebRTC; status videos use CDN streaming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Load Balancing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Distributing traffic across multiple servers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LB distributes WebSocket connections across chat servers.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A load balancer sits in front of server pools and distributes incoming requests. Critical for horizontal scaling — ensures no single server gets overwhelmed.</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Round Robin: requests rotate across servers in order</a:t>
            </a:r>
          </a:p>
          <a:p>
            <a:pPr>
              <a:spcAft>
                <a:spcPts val="500"/>
              </a:spcAft>
              <a:defRPr sz="1400" b="1">
                <a:solidFill>
                  <a:srgbClr val="1E293B"/>
                </a:solidFill>
                <a:latin typeface="Calibri"/>
              </a:defRPr>
            </a:pPr>
            <a:r>
              <a:t>• Least Connections: route to server with fewest active connections</a:t>
            </a:r>
          </a:p>
          <a:p>
            <a:pPr>
              <a:spcAft>
                <a:spcPts val="500"/>
              </a:spcAft>
              <a:defRPr sz="1400" b="1">
                <a:solidFill>
                  <a:srgbClr val="1E293B"/>
                </a:solidFill>
                <a:latin typeface="Calibri"/>
              </a:defRPr>
            </a:pPr>
            <a:r>
              <a:t>• Consistent Hashing: hash(user_id) → same server; minimal remap on scale</a:t>
            </a:r>
          </a:p>
          <a:p>
            <a:pPr>
              <a:spcAft>
                <a:spcPts val="500"/>
              </a:spcAft>
              <a:defRPr sz="1400" b="1">
                <a:solidFill>
                  <a:srgbClr val="1E293B"/>
                </a:solidFill>
                <a:latin typeface="Calibri"/>
              </a:defRPr>
            </a:pPr>
            <a:r>
              <a:t>• Stateful LB: sticky sessions for WebSocket connections</a:t>
            </a:r>
          </a:p>
          <a:p>
            <a:pPr>
              <a:spcAft>
                <a:spcPts val="500"/>
              </a:spcAft>
              <a:defRPr sz="1400" b="1">
                <a:solidFill>
                  <a:srgbClr val="1E293B"/>
                </a:solidFill>
                <a:latin typeface="Calibri"/>
              </a:defRPr>
            </a:pPr>
            <a:r>
              <a:t>• Chat: consistent hashing routes users to chat servers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Consistent Hashing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Stable routing when servers are added or removed</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Simple hash(key) % N breaks when servers change. Consistent hashing places servers and keys on a ring — adding a server only moves adjacent keys.</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Problem: hash % N remaps 90% of keys when N changes</a:t>
            </a:r>
          </a:p>
          <a:p>
            <a:pPr>
              <a:spcAft>
                <a:spcPts val="500"/>
              </a:spcAft>
              <a:defRPr sz="1400" b="1">
                <a:solidFill>
                  <a:srgbClr val="1E293B"/>
                </a:solidFill>
                <a:latin typeface="Calibri"/>
              </a:defRPr>
            </a:pPr>
            <a:r>
              <a:t>• Solution: hash onto a ring → key maps to next server clockwise</a:t>
            </a:r>
          </a:p>
          <a:p>
            <a:pPr>
              <a:spcAft>
                <a:spcPts val="500"/>
              </a:spcAft>
              <a:defRPr sz="1400" b="1">
                <a:solidFill>
                  <a:srgbClr val="1E293B"/>
                </a:solidFill>
                <a:latin typeface="Calibri"/>
              </a:defRPr>
            </a:pPr>
            <a:r>
              <a:t>• Virtual nodes: multiple ring points per server — better balance</a:t>
            </a:r>
          </a:p>
          <a:p>
            <a:pPr>
              <a:spcAft>
                <a:spcPts val="500"/>
              </a:spcAft>
              <a:defRPr sz="1400" b="1">
                <a:solidFill>
                  <a:srgbClr val="1E293B"/>
                </a:solidFill>
                <a:latin typeface="Calibri"/>
              </a:defRPr>
            </a:pPr>
            <a:r>
              <a:t>• Used in: load balancers, distributed Redis/Memcached</a:t>
            </a:r>
          </a:p>
          <a:p>
            <a:pPr>
              <a:spcAft>
                <a:spcPts val="500"/>
              </a:spcAft>
              <a:defRPr sz="1400" b="1">
                <a:solidFill>
                  <a:srgbClr val="1E293B"/>
                </a:solidFill>
                <a:latin typeface="Calibri"/>
              </a:defRPr>
            </a:pPr>
            <a:r>
              <a:t>• Chat: user_id hashed to stable chat server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Proxy vs Reverse Proxy</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Two different proxy directions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Nginx reverse proxy = single entry point.</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500" b="0">
                <a:solidFill>
                  <a:srgbClr val="1E293B"/>
                </a:solidFill>
                <a:latin typeface="Calibri"/>
              </a:defRPr>
            </a:pPr>
            <a:r>
              <a:t>A forward proxy sits before clients (hides client identity). A reverse proxy sits before servers — acting as the public entry point for SSL, caching, and routing.</a:t>
            </a:r>
          </a:p>
        </p:txBody>
      </p:sp>
      <p:sp>
        <p:nvSpPr>
          <p:cNvPr id="10" name="Rectangle 9"/>
          <p:cNvSpPr/>
          <p:nvPr/>
        </p:nvSpPr>
        <p:spPr>
          <a:xfrm>
            <a:off x="502920" y="2212848"/>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76856"/>
            <a:ext cx="5394960" cy="310896"/>
          </a:xfrm>
          <a:prstGeom prst="rect">
            <a:avLst/>
          </a:prstGeom>
          <a:noFill/>
        </p:spPr>
        <p:txBody>
          <a:bodyPr wrap="square">
            <a:spAutoFit/>
          </a:bodyPr>
          <a:lstStyle/>
          <a:p>
            <a:pPr algn="ctr">
              <a:defRPr sz="1800" b="1">
                <a:solidFill>
                  <a:srgbClr val="FFFFFF"/>
                </a:solidFill>
                <a:latin typeface="Calibri"/>
              </a:defRPr>
            </a:pPr>
            <a:r>
              <a:t>Forward Proxy</a:t>
            </a:r>
          </a:p>
        </p:txBody>
      </p:sp>
      <p:sp>
        <p:nvSpPr>
          <p:cNvPr id="12" name="Rectangle 11"/>
          <p:cNvSpPr/>
          <p:nvPr/>
        </p:nvSpPr>
        <p:spPr>
          <a:xfrm>
            <a:off x="6172200" y="2212848"/>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276856"/>
            <a:ext cx="5394960" cy="310896"/>
          </a:xfrm>
          <a:prstGeom prst="rect">
            <a:avLst/>
          </a:prstGeom>
          <a:noFill/>
        </p:spPr>
        <p:txBody>
          <a:bodyPr wrap="square">
            <a:spAutoFit/>
          </a:bodyPr>
          <a:lstStyle/>
          <a:p>
            <a:pPr algn="ctr">
              <a:defRPr sz="1800" b="1">
                <a:solidFill>
                  <a:srgbClr val="FFFFFF"/>
                </a:solidFill>
                <a:latin typeface="Calibri"/>
              </a:defRPr>
            </a:pPr>
            <a:r>
              <a:t>Reverse Proxy</a:t>
            </a:r>
          </a:p>
        </p:txBody>
      </p:sp>
      <p:sp>
        <p:nvSpPr>
          <p:cNvPr id="14" name="Rounded Rectangle 13"/>
          <p:cNvSpPr/>
          <p:nvPr/>
        </p:nvSpPr>
        <p:spPr>
          <a:xfrm>
            <a:off x="502920" y="2633472"/>
            <a:ext cx="5394960" cy="3758184"/>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633472"/>
            <a:ext cx="5394960" cy="3758184"/>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Sits in front of clients</a:t>
            </a:r>
          </a:p>
          <a:p>
            <a:pPr>
              <a:spcAft>
                <a:spcPts val="800"/>
              </a:spcAft>
              <a:defRPr sz="1500" b="1">
                <a:solidFill>
                  <a:srgbClr val="1E293B"/>
                </a:solidFill>
                <a:latin typeface="Calibri"/>
              </a:defRPr>
            </a:pPr>
            <a:r>
              <a:t>• Hides client identity from servers</a:t>
            </a:r>
          </a:p>
          <a:p>
            <a:pPr>
              <a:spcAft>
                <a:spcPts val="800"/>
              </a:spcAft>
              <a:defRPr sz="1500" b="1">
                <a:solidFill>
                  <a:srgbClr val="1E293B"/>
                </a:solidFill>
                <a:latin typeface="Calibri"/>
              </a:defRPr>
            </a:pPr>
            <a:r>
              <a:t>• Used: corporate internet filtering</a:t>
            </a:r>
          </a:p>
          <a:p>
            <a:pPr>
              <a:spcAft>
                <a:spcPts val="800"/>
              </a:spcAft>
              <a:defRPr sz="1500" b="1">
                <a:solidFill>
                  <a:srgbClr val="1E293B"/>
                </a:solidFill>
                <a:latin typeface="Calibri"/>
              </a:defRPr>
            </a:pPr>
            <a:r>
              <a:t>• Client knows about the proxy</a:t>
            </a:r>
          </a:p>
        </p:txBody>
      </p:sp>
      <p:sp>
        <p:nvSpPr>
          <p:cNvPr id="17" name="TextBox 16"/>
          <p:cNvSpPr txBox="1"/>
          <p:nvPr/>
        </p:nvSpPr>
        <p:spPr>
          <a:xfrm>
            <a:off x="630021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Sits in front of servers</a:t>
            </a:r>
          </a:p>
          <a:p>
            <a:pPr>
              <a:spcAft>
                <a:spcPts val="800"/>
              </a:spcAft>
              <a:defRPr sz="1500" b="1">
                <a:solidFill>
                  <a:srgbClr val="1E293B"/>
                </a:solidFill>
                <a:latin typeface="Calibri"/>
              </a:defRPr>
            </a:pPr>
            <a:r>
              <a:t>• Hides server identity from clients</a:t>
            </a:r>
          </a:p>
          <a:p>
            <a:pPr>
              <a:spcAft>
                <a:spcPts val="800"/>
              </a:spcAft>
              <a:defRPr sz="1500" b="1">
                <a:solidFill>
                  <a:srgbClr val="1E293B"/>
                </a:solidFill>
                <a:latin typeface="Calibri"/>
              </a:defRPr>
            </a:pPr>
            <a:r>
              <a:t>• SSL termination, caching, routing</a:t>
            </a:r>
          </a:p>
          <a:p>
            <a:pPr>
              <a:spcAft>
                <a:spcPts val="800"/>
              </a:spcAft>
              <a:defRPr sz="1500" b="1">
                <a:solidFill>
                  <a:srgbClr val="1E293B"/>
                </a:solidFill>
                <a:latin typeface="Calibri"/>
              </a:defRPr>
            </a:pPr>
            <a:r>
              <a:t>• Example: Nginx in front of chat cluster</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Rate Limiting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Protecting APIs from abuse and overload</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Rate limiting restricts how many requests a client can make in a time window. Essential for preventing spam and ensuring fair resource usage.</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Token Bucket: tokens refill at fixed rate; bursts allowed</a:t>
            </a:r>
          </a:p>
          <a:p>
            <a:pPr>
              <a:spcAft>
                <a:spcPts val="500"/>
              </a:spcAft>
              <a:defRPr sz="1400" b="1">
                <a:solidFill>
                  <a:srgbClr val="1E293B"/>
                </a:solidFill>
                <a:latin typeface="Calibri"/>
              </a:defRPr>
            </a:pPr>
            <a:r>
              <a:t>• Sliding Window: count requests in rolling time window</a:t>
            </a:r>
          </a:p>
          <a:p>
            <a:pPr>
              <a:spcAft>
                <a:spcPts val="500"/>
              </a:spcAft>
              <a:defRPr sz="1400" b="1">
                <a:solidFill>
                  <a:srgbClr val="1E293B"/>
                </a:solidFill>
                <a:latin typeface="Calibri"/>
              </a:defRPr>
            </a:pPr>
            <a:r>
              <a:t>• Response: HTTP 429 Too Many Requests when exceeded</a:t>
            </a:r>
          </a:p>
          <a:p>
            <a:pPr>
              <a:spcAft>
                <a:spcPts val="500"/>
              </a:spcAft>
              <a:defRPr sz="1400" b="1">
                <a:solidFill>
                  <a:srgbClr val="1E293B"/>
                </a:solidFill>
                <a:latin typeface="Calibri"/>
              </a:defRPr>
            </a:pPr>
            <a:r>
              <a:t>• Distributed: Redis counter shared across all servers</a:t>
            </a:r>
          </a:p>
          <a:p>
            <a:pPr>
              <a:spcAft>
                <a:spcPts val="500"/>
              </a:spcAft>
              <a:defRPr sz="1400" b="1">
                <a:solidFill>
                  <a:srgbClr val="1E293B"/>
                </a:solidFill>
                <a:latin typeface="Calibri"/>
              </a:defRPr>
            </a:pPr>
            <a:r>
              <a:t>• Chat: max 100 messages/minute per user</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Message Queues &amp; Async Processing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Decoupling services with asynchronous messaging</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Kafka handles async delivery and fan-out.</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Message queues sit between services — producers publish events, consumers process them asynchronously. This decouples sender from receiver and smooths traffic spikes.</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Kafka: distributed log, high throughput, ordering within a partition</a:t>
            </a:r>
          </a:p>
          <a:p>
            <a:pPr>
              <a:spcAft>
                <a:spcPts val="500"/>
              </a:spcAft>
              <a:defRPr sz="1400" b="1">
                <a:solidFill>
                  <a:srgbClr val="1E293B"/>
                </a:solidFill>
                <a:latin typeface="Calibri"/>
              </a:defRPr>
            </a:pPr>
            <a:r>
              <a:t>• RabbitMQ: traditional broker with routing and acknowledgments</a:t>
            </a:r>
          </a:p>
          <a:p>
            <a:pPr>
              <a:spcAft>
                <a:spcPts val="500"/>
              </a:spcAft>
              <a:defRPr sz="1400" b="1">
                <a:solidFill>
                  <a:srgbClr val="1E293B"/>
                </a:solidFill>
                <a:latin typeface="Calibri"/>
              </a:defRPr>
            </a:pPr>
            <a:r>
              <a:t>• Why async: sender gets instant ACK; delivery happens in background</a:t>
            </a:r>
          </a:p>
          <a:p>
            <a:pPr>
              <a:spcAft>
                <a:spcPts val="500"/>
              </a:spcAft>
              <a:defRPr sz="1400" b="1">
                <a:solidFill>
                  <a:srgbClr val="1E293B"/>
                </a:solidFill>
                <a:latin typeface="Calibri"/>
              </a:defRPr>
            </a:pPr>
            <a:r>
              <a:t>• Queue = one consumer per message; Pub/Sub = all subscribers get a copy</a:t>
            </a:r>
          </a:p>
          <a:p>
            <a:pPr>
              <a:spcAft>
                <a:spcPts val="500"/>
              </a:spcAft>
              <a:defRPr sz="1400" b="1">
                <a:solidFill>
                  <a:srgbClr val="1E293B"/>
                </a:solidFill>
                <a:latin typeface="Calibri"/>
              </a:defRPr>
            </a:pPr>
            <a:r>
              <a:t>• Benefits: buffering, retry on failure, peak load smoothing</a:t>
            </a:r>
          </a:p>
          <a:p>
            <a:pPr>
              <a:spcAft>
                <a:spcPts val="500"/>
              </a:spcAft>
              <a:defRPr sz="1400" b="1">
                <a:solidFill>
                  <a:srgbClr val="1E293B"/>
                </a:solidFill>
                <a:latin typeface="Calibri"/>
              </a:defRPr>
            </a:pPr>
            <a:r>
              <a:t>• Chat: Kafka for message events; RabbitMQ for push notifications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Event-Driven Architecture &amp; Saga Pattern</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Services that react to events, not direct calls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Group message triggers pub/sub fan-out to all members.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Event-driven architecture publishes events that services react to — loose coupling. The Saga pattern handles distributed transactions as local steps with compensating rollbacks.</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Pub/Sub: MessageSent → notification, analytics, search all react</a:t>
            </a:r>
          </a:p>
          <a:p>
            <a:pPr>
              <a:spcAft>
                <a:spcPts val="500"/>
              </a:spcAft>
              <a:defRPr sz="1400" b="1">
                <a:solidFill>
                  <a:srgbClr val="1E293B"/>
                </a:solidFill>
                <a:latin typeface="Calibri"/>
              </a:defRPr>
            </a:pPr>
            <a:r>
              <a:t>• Queue vs Pub/Sub: queue delivers once; pub/sub fans out to all subscribers</a:t>
            </a:r>
          </a:p>
          <a:p>
            <a:pPr>
              <a:spcAft>
                <a:spcPts val="500"/>
              </a:spcAft>
              <a:defRPr sz="1400" b="1">
                <a:solidFill>
                  <a:srgbClr val="1E293B"/>
                </a:solidFill>
                <a:latin typeface="Calibri"/>
              </a:defRPr>
            </a:pPr>
            <a:r>
              <a:t>• Choreography: each service reacts independently to events</a:t>
            </a:r>
          </a:p>
          <a:p>
            <a:pPr>
              <a:spcAft>
                <a:spcPts val="500"/>
              </a:spcAft>
              <a:defRPr sz="1400" b="1">
                <a:solidFill>
                  <a:srgbClr val="1E293B"/>
                </a:solidFill>
                <a:latin typeface="Calibri"/>
              </a:defRPr>
            </a:pPr>
            <a:r>
              <a:t>• Orchestration: central coordinator directs each step</a:t>
            </a:r>
          </a:p>
          <a:p>
            <a:pPr>
              <a:spcAft>
                <a:spcPts val="500"/>
              </a:spcAft>
              <a:defRPr sz="1400" b="1">
                <a:solidFill>
                  <a:srgbClr val="1E293B"/>
                </a:solidFill>
                <a:latin typeface="Calibri"/>
              </a:defRPr>
            </a:pPr>
            <a:r>
              <a:t>• Saga example: upload → transcode → store → notify; rollback on failure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REST vs gRPC vs GraphQL</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Three API styles — when to use each</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REST for public APIs; gRPC for internal; GraphQL for mobile.</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REST is universal for public APIs. gRPC is high-performance for internal calls. GraphQL lets clients fetch exactly the fields they need in one request.</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REST: HTTP + JSON — public APIs, third-party integrations</a:t>
            </a:r>
          </a:p>
          <a:p>
            <a:pPr>
              <a:spcAft>
                <a:spcPts val="500"/>
              </a:spcAft>
              <a:defRPr sz="1400" b="1">
                <a:solidFill>
                  <a:srgbClr val="1E293B"/>
                </a:solidFill>
                <a:latin typeface="Calibri"/>
              </a:defRPr>
            </a:pPr>
            <a:r>
              <a:t>• gRPC: HTTP/2 + Protobuf — internal service-to-service communication</a:t>
            </a:r>
          </a:p>
          <a:p>
            <a:pPr>
              <a:spcAft>
                <a:spcPts val="500"/>
              </a:spcAft>
              <a:defRPr sz="1400" b="1">
                <a:solidFill>
                  <a:srgbClr val="1E293B"/>
                </a:solidFill>
                <a:latin typeface="Calibri"/>
              </a:defRPr>
            </a:pPr>
            <a:r>
              <a:t>• GraphQL: client-specified fields — mobile home screen data</a:t>
            </a:r>
          </a:p>
          <a:p>
            <a:pPr>
              <a:spcAft>
                <a:spcPts val="500"/>
              </a:spcAft>
              <a:defRPr sz="1400" b="1">
                <a:solidFill>
                  <a:srgbClr val="1E293B"/>
                </a:solidFill>
                <a:latin typeface="Calibri"/>
              </a:defRPr>
            </a:pPr>
            <a:r>
              <a:t>• Chat: REST for user CRUD; gRPC between chat ↔ notification services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Idempotency</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Safe retries without duplicate side effects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Every message send includes an idempotency key.</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An idempotent operation produces the same result whether executed once or many times. The client sends an idempotency key; the server rejects or returns cached results for duplicates.</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Client sends X-Idempotency-Key (UUID) with each request</a:t>
            </a:r>
          </a:p>
          <a:p>
            <a:pPr>
              <a:spcAft>
                <a:spcPts val="500"/>
              </a:spcAft>
              <a:defRPr sz="1400" b="1">
                <a:solidFill>
                  <a:srgbClr val="1E293B"/>
                </a:solidFill>
                <a:latin typeface="Calibri"/>
              </a:defRPr>
            </a:pPr>
            <a:r>
              <a:t>• Server stores processed keys; duplicates return the original result</a:t>
            </a:r>
          </a:p>
          <a:p>
            <a:pPr>
              <a:spcAft>
                <a:spcPts val="500"/>
              </a:spcAft>
              <a:defRPr sz="1400" b="1">
                <a:solidFill>
                  <a:srgbClr val="1E293B"/>
                </a:solidFill>
                <a:latin typeface="Calibri"/>
              </a:defRPr>
            </a:pPr>
            <a:r>
              <a:t>• Critical for: message send, payments, account creation</a:t>
            </a:r>
          </a:p>
          <a:p>
            <a:pPr>
              <a:spcAft>
                <a:spcPts val="500"/>
              </a:spcAft>
              <a:defRPr sz="1400" b="1">
                <a:solidFill>
                  <a:srgbClr val="1E293B"/>
                </a:solidFill>
                <a:latin typeface="Calibri"/>
              </a:defRPr>
            </a:pPr>
            <a:r>
              <a:t>• Keys stored in Redis with a TTL (e.g. 24 hours)</a:t>
            </a:r>
          </a:p>
          <a:p>
            <a:pPr>
              <a:spcAft>
                <a:spcPts val="500"/>
              </a:spcAft>
              <a:defRPr sz="1400" b="1">
                <a:solidFill>
                  <a:srgbClr val="1E293B"/>
                </a:solidFill>
                <a:latin typeface="Calibri"/>
              </a:defRPr>
            </a:pPr>
            <a:r>
              <a:t>• Chat: prevents duplicate messages on network retry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Monolith vs Microservices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Two ways to organize a growing codebase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Start monolith → extract services as needed.</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13232"/>
          </a:xfrm>
          <a:prstGeom prst="rect">
            <a:avLst/>
          </a:prstGeom>
          <a:noFill/>
        </p:spPr>
        <p:txBody>
          <a:bodyPr wrap="square">
            <a:spAutoFit/>
          </a:bodyPr>
          <a:lstStyle/>
          <a:p>
            <a:pPr algn="l">
              <a:defRPr sz="1500" b="0">
                <a:solidFill>
                  <a:srgbClr val="1E293B"/>
                </a:solidFill>
                <a:latin typeface="Calibri"/>
              </a:defRPr>
            </a:pPr>
            <a:r>
              <a:t>A monolith is a single codebase and deployment — simple to start. Microservices split the system into independent services with their own databases and deploy cycles. Chat platforms often evolve from monolith to microservices as scale grows.</a:t>
            </a:r>
          </a:p>
        </p:txBody>
      </p:sp>
      <p:sp>
        <p:nvSpPr>
          <p:cNvPr id="10" name="Rectangle 9"/>
          <p:cNvSpPr/>
          <p:nvPr/>
        </p:nvSpPr>
        <p:spPr>
          <a:xfrm>
            <a:off x="502920" y="2212848"/>
            <a:ext cx="5394960" cy="402336"/>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276856"/>
            <a:ext cx="5394960" cy="310896"/>
          </a:xfrm>
          <a:prstGeom prst="rect">
            <a:avLst/>
          </a:prstGeom>
          <a:noFill/>
        </p:spPr>
        <p:txBody>
          <a:bodyPr wrap="square">
            <a:spAutoFit/>
          </a:bodyPr>
          <a:lstStyle/>
          <a:p>
            <a:pPr algn="ctr">
              <a:defRPr sz="1800" b="1">
                <a:solidFill>
                  <a:srgbClr val="FFFFFF"/>
                </a:solidFill>
                <a:latin typeface="Calibri"/>
              </a:defRPr>
            </a:pPr>
            <a:r>
              <a:t>Monolith</a:t>
            </a:r>
          </a:p>
        </p:txBody>
      </p:sp>
      <p:sp>
        <p:nvSpPr>
          <p:cNvPr id="12" name="Rectangle 11"/>
          <p:cNvSpPr/>
          <p:nvPr/>
        </p:nvSpPr>
        <p:spPr>
          <a:xfrm>
            <a:off x="6172200" y="2212848"/>
            <a:ext cx="5394960" cy="40233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172200" y="2276856"/>
            <a:ext cx="5394960" cy="310896"/>
          </a:xfrm>
          <a:prstGeom prst="rect">
            <a:avLst/>
          </a:prstGeom>
          <a:noFill/>
        </p:spPr>
        <p:txBody>
          <a:bodyPr wrap="square">
            <a:spAutoFit/>
          </a:bodyPr>
          <a:lstStyle/>
          <a:p>
            <a:pPr algn="ctr">
              <a:defRPr sz="1800" b="1">
                <a:solidFill>
                  <a:srgbClr val="FFFFFF"/>
                </a:solidFill>
                <a:latin typeface="Calibri"/>
              </a:defRPr>
            </a:pPr>
            <a:r>
              <a:t>Microservices</a:t>
            </a:r>
          </a:p>
        </p:txBody>
      </p:sp>
      <p:sp>
        <p:nvSpPr>
          <p:cNvPr id="14" name="Rounded Rectangle 13"/>
          <p:cNvSpPr/>
          <p:nvPr/>
        </p:nvSpPr>
        <p:spPr>
          <a:xfrm>
            <a:off x="502920" y="2633472"/>
            <a:ext cx="5394960" cy="3758184"/>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172200" y="2633472"/>
            <a:ext cx="5394960" cy="3758184"/>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Single codebase &amp; one deployment unit</a:t>
            </a:r>
          </a:p>
          <a:p>
            <a:pPr>
              <a:spcAft>
                <a:spcPts val="800"/>
              </a:spcAft>
              <a:defRPr sz="1500" b="1">
                <a:solidFill>
                  <a:srgbClr val="1E293B"/>
                </a:solidFill>
                <a:latin typeface="Calibri"/>
              </a:defRPr>
            </a:pPr>
            <a:r>
              <a:t>• Simple for small teams and early stage</a:t>
            </a:r>
          </a:p>
          <a:p>
            <a:pPr>
              <a:spcAft>
                <a:spcPts val="800"/>
              </a:spcAft>
              <a:defRPr sz="1500" b="1">
                <a:solidFill>
                  <a:srgbClr val="1E293B"/>
                </a:solidFill>
                <a:latin typeface="Calibri"/>
              </a:defRPr>
            </a:pPr>
            <a:r>
              <a:t>• Scale the entire application together</a:t>
            </a:r>
          </a:p>
          <a:p>
            <a:pPr>
              <a:spcAft>
                <a:spcPts val="800"/>
              </a:spcAft>
              <a:defRPr sz="1500" b="1">
                <a:solidFill>
                  <a:srgbClr val="1E293B"/>
                </a:solidFill>
                <a:latin typeface="Calibri"/>
              </a:defRPr>
            </a:pPr>
            <a:r>
              <a:t>• One bug can crash everything</a:t>
            </a:r>
          </a:p>
          <a:p>
            <a:pPr>
              <a:spcAft>
                <a:spcPts val="800"/>
              </a:spcAft>
              <a:defRPr sz="1500" b="1">
                <a:solidFill>
                  <a:srgbClr val="1E293B"/>
                </a:solidFill>
                <a:latin typeface="Calibri"/>
              </a:defRPr>
            </a:pPr>
            <a:r>
              <a:t>• Early WhatsApp: single app server</a:t>
            </a:r>
          </a:p>
        </p:txBody>
      </p:sp>
      <p:sp>
        <p:nvSpPr>
          <p:cNvPr id="17" name="TextBox 16"/>
          <p:cNvSpPr txBox="1"/>
          <p:nvPr/>
        </p:nvSpPr>
        <p:spPr>
          <a:xfrm>
            <a:off x="6300216" y="2724912"/>
            <a:ext cx="5175504" cy="3557016"/>
          </a:xfrm>
          <a:prstGeom prst="rect">
            <a:avLst/>
          </a:prstGeom>
          <a:noFill/>
        </p:spPr>
        <p:txBody>
          <a:bodyPr wrap="square">
            <a:spAutoFit/>
          </a:bodyPr>
          <a:lstStyle/>
          <a:p>
            <a:pPr>
              <a:spcAft>
                <a:spcPts val="800"/>
              </a:spcAft>
              <a:defRPr sz="1500" b="1">
                <a:solidFill>
                  <a:srgbClr val="1E293B"/>
                </a:solidFill>
                <a:latin typeface="Calibri"/>
              </a:defRPr>
            </a:pPr>
            <a:r>
              <a:t>• Independent services, each with own DB</a:t>
            </a:r>
          </a:p>
          <a:p>
            <a:pPr>
              <a:spcAft>
                <a:spcPts val="800"/>
              </a:spcAft>
              <a:defRPr sz="1500" b="1">
                <a:solidFill>
                  <a:srgbClr val="1E293B"/>
                </a:solidFill>
                <a:latin typeface="Calibri"/>
              </a:defRPr>
            </a:pPr>
            <a:r>
              <a:t>• Scale only the bottleneck service</a:t>
            </a:r>
          </a:p>
          <a:p>
            <a:pPr>
              <a:spcAft>
                <a:spcPts val="800"/>
              </a:spcAft>
              <a:defRPr sz="1500" b="1">
                <a:solidFill>
                  <a:srgbClr val="1E293B"/>
                </a:solidFill>
                <a:latin typeface="Calibri"/>
              </a:defRPr>
            </a:pPr>
            <a:r>
              <a:t>• Teams deploy independently</a:t>
            </a:r>
          </a:p>
          <a:p>
            <a:pPr>
              <a:spcAft>
                <a:spcPts val="800"/>
              </a:spcAft>
              <a:defRPr sz="1500" b="1">
                <a:solidFill>
                  <a:srgbClr val="1E293B"/>
                </a:solidFill>
                <a:latin typeface="Calibri"/>
              </a:defRPr>
            </a:pPr>
            <a:r>
              <a:t>• Failure isolated per service</a:t>
            </a:r>
          </a:p>
          <a:p>
            <a:pPr>
              <a:spcAft>
                <a:spcPts val="800"/>
              </a:spcAft>
              <a:defRPr sz="1500" b="1">
                <a:solidFill>
                  <a:srgbClr val="1E293B"/>
                </a:solidFill>
                <a:latin typeface="Calibri"/>
              </a:defRPr>
            </a:pPr>
            <a:r>
              <a:t>• Mature: auth, chat, media, notifications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Single Point of Failure (SPOF)</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One component whose failure takes down the system</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Every layer has redundancy.</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A single point of failure is any component that, if it fails, makes the entire system unavailable. Eliminate SPOFs with redundancy at every layer — load balancers, servers, databases, caches, and queues.</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Single DB with no replicas = SPOF for all chat data</a:t>
            </a:r>
          </a:p>
          <a:p>
            <a:pPr>
              <a:spcAft>
                <a:spcPts val="500"/>
              </a:spcAft>
              <a:defRPr sz="1400" b="1">
                <a:solidFill>
                  <a:srgbClr val="1E293B"/>
                </a:solidFill>
                <a:latin typeface="Calibri"/>
              </a:defRPr>
            </a:pPr>
            <a:r>
              <a:t>• Fix: multiple LB nodes, chat server replicas, Cassandra cluster</a:t>
            </a:r>
          </a:p>
          <a:p>
            <a:pPr>
              <a:spcAft>
                <a:spcPts val="500"/>
              </a:spcAft>
              <a:defRPr sz="1400" b="1">
                <a:solidFill>
                  <a:srgbClr val="1E293B"/>
                </a:solidFill>
                <a:latin typeface="Calibri"/>
              </a:defRPr>
            </a:pPr>
            <a:r>
              <a:t>• Load balancer SPOF → active-passive LB pair with health checks</a:t>
            </a:r>
          </a:p>
          <a:p>
            <a:pPr>
              <a:spcAft>
                <a:spcPts val="500"/>
              </a:spcAft>
              <a:defRPr sz="1400" b="1">
                <a:solidFill>
                  <a:srgbClr val="1E293B"/>
                </a:solidFill>
                <a:latin typeface="Calibri"/>
              </a:defRPr>
            </a:pPr>
            <a:r>
              <a:t>• DNS SPOF → multiple DNS providers, low TTL, anycast</a:t>
            </a:r>
          </a:p>
          <a:p>
            <a:pPr>
              <a:spcAft>
                <a:spcPts val="500"/>
              </a:spcAft>
              <a:defRPr sz="1400" b="1">
                <a:solidFill>
                  <a:srgbClr val="1E293B"/>
                </a:solidFill>
                <a:latin typeface="Calibri"/>
              </a:defRPr>
            </a:pPr>
            <a:r>
              <a:t>• Chat: every layer has redundancy — no single component can kill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Cascading Failures, Circuit Breaker &amp; Bulkhead</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Building fault-tolerant distributed systems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Cascading failures happen when one slow service overloads dependents. Prevent them with timeouts, circuit breakers (fail fast), and bulkheads (isolated resource pools).</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Cascade example: slow DB → threads block → OOM → total outage</a:t>
            </a:r>
          </a:p>
          <a:p>
            <a:pPr>
              <a:spcAft>
                <a:spcPts val="500"/>
              </a:spcAft>
              <a:defRPr sz="1400" b="1">
                <a:solidFill>
                  <a:srgbClr val="1E293B"/>
                </a:solidFill>
                <a:latin typeface="Calibri"/>
              </a:defRPr>
            </a:pPr>
            <a:r>
              <a:t>• Circuit breaker: stop calling failing service; retry periodically</a:t>
            </a:r>
          </a:p>
          <a:p>
            <a:pPr>
              <a:spcAft>
                <a:spcPts val="500"/>
              </a:spcAft>
              <a:defRPr sz="1400" b="1">
                <a:solidFill>
                  <a:srgbClr val="1E293B"/>
                </a:solidFill>
                <a:latin typeface="Calibri"/>
              </a:defRPr>
            </a:pPr>
            <a:r>
              <a:t>• States: Closed → Open (failing) → Half-Open (testing recovery)</a:t>
            </a:r>
          </a:p>
          <a:p>
            <a:pPr>
              <a:spcAft>
                <a:spcPts val="500"/>
              </a:spcAft>
              <a:defRPr sz="1400" b="1">
                <a:solidFill>
                  <a:srgbClr val="1E293B"/>
                </a:solidFill>
                <a:latin typeface="Calibri"/>
              </a:defRPr>
            </a:pPr>
            <a:r>
              <a:t>• Bulkhead: separate thread pools for messaging vs media vs notifications</a:t>
            </a:r>
          </a:p>
          <a:p>
            <a:pPr>
              <a:spcAft>
                <a:spcPts val="500"/>
              </a:spcAft>
              <a:defRPr sz="1400" b="1">
                <a:solidFill>
                  <a:srgbClr val="1E293B"/>
                </a:solidFill>
                <a:latin typeface="Calibri"/>
              </a:defRPr>
            </a:pPr>
            <a:r>
              <a:t>• Retry with exponential backoff: 1s, 2s, 4s on Kafka publish failure</a:t>
            </a:r>
          </a:p>
          <a:p>
            <a:pPr>
              <a:spcAft>
                <a:spcPts val="500"/>
              </a:spcAft>
              <a:defRPr sz="1400" b="1">
                <a:solidFill>
                  <a:srgbClr val="1E293B"/>
                </a:solidFill>
                <a:latin typeface="Calibri"/>
              </a:defRPr>
            </a:pPr>
            <a:r>
              <a:t>• Chat: circuit breaker on notification svc prevents chat outage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Docker &amp; Containerization</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Packaging apps for consistent deployment</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Each chat microservice runs as a Docker container on K8s.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Docker packages an application with its dependencies into a portable container image. Kubernetes orchestrates containers — auto-scaling, healing, and rolling deployments across a cluster.</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Container: lightweight, isolated runtime sharing the OS kernel</a:t>
            </a:r>
          </a:p>
          <a:p>
            <a:pPr>
              <a:spcAft>
                <a:spcPts val="500"/>
              </a:spcAft>
              <a:defRPr sz="1400" b="1">
                <a:solidFill>
                  <a:srgbClr val="1E293B"/>
                </a:solidFill>
                <a:latin typeface="Calibri"/>
              </a:defRPr>
            </a:pPr>
            <a:r>
              <a:t>• Benefits: dev = staging = prod, fast deploy, isolation</a:t>
            </a:r>
          </a:p>
          <a:p>
            <a:pPr>
              <a:spcAft>
                <a:spcPts val="500"/>
              </a:spcAft>
              <a:defRPr sz="1400" b="1">
                <a:solidFill>
                  <a:srgbClr val="1E293B"/>
                </a:solidFill>
                <a:latin typeface="Calibri"/>
              </a:defRPr>
            </a:pPr>
            <a:r>
              <a:t>• K8s auto-scales chat pods from 10 → 100 during peak hours</a:t>
            </a:r>
          </a:p>
          <a:p>
            <a:pPr>
              <a:spcAft>
                <a:spcPts val="500"/>
              </a:spcAft>
              <a:defRPr sz="1400" b="1">
                <a:solidFill>
                  <a:srgbClr val="1E293B"/>
                </a:solidFill>
                <a:latin typeface="Calibri"/>
              </a:defRPr>
            </a:pPr>
            <a:r>
              <a:t>• CI/CD: Git push → Docker build → registry → rolling deploy</a:t>
            </a:r>
          </a:p>
          <a:p>
            <a:pPr>
              <a:spcAft>
                <a:spcPts val="500"/>
              </a:spcAft>
              <a:defRPr sz="1400" b="1">
                <a:solidFill>
                  <a:srgbClr val="1E293B"/>
                </a:solidFill>
                <a:latin typeface="Calibri"/>
              </a:defRPr>
            </a:pPr>
            <a:r>
              <a:t>• Containers start in seconds vs minutes for VMs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Migration to Microservices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Evolving a monolith without a big-bang rewrite</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Gradual extraction — don't rewrite everything at once.</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The Strangler Fig pattern gradually replaces monolith parts with new services — extract one bounded context at a time, dual-run, shift traffic, then decommission old code.</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Step 1 — Identify bounded contexts: auth, messaging, media, notifications</a:t>
            </a:r>
          </a:p>
          <a:p>
            <a:pPr>
              <a:spcAft>
                <a:spcPts val="500"/>
              </a:spcAft>
              <a:defRPr sz="1400" b="1">
                <a:solidFill>
                  <a:srgbClr val="1E293B"/>
                </a:solidFill>
                <a:latin typeface="Calibri"/>
              </a:defRPr>
            </a:pPr>
            <a:r>
              <a:t>• Step 2 — Extract one service at a time behind an API gateway</a:t>
            </a:r>
          </a:p>
          <a:p>
            <a:pPr>
              <a:spcAft>
                <a:spcPts val="500"/>
              </a:spcAft>
              <a:defRPr sz="1400" b="1">
                <a:solidFill>
                  <a:srgbClr val="1E293B"/>
                </a:solidFill>
                <a:latin typeface="Calibri"/>
              </a:defRPr>
            </a:pPr>
            <a:r>
              <a:t>• Step 3 — Dual-run old and new; compare results</a:t>
            </a:r>
          </a:p>
          <a:p>
            <a:pPr>
              <a:spcAft>
                <a:spcPts val="500"/>
              </a:spcAft>
              <a:defRPr sz="1400" b="1">
                <a:solidFill>
                  <a:srgbClr val="1E293B"/>
                </a:solidFill>
                <a:latin typeface="Calibri"/>
              </a:defRPr>
            </a:pPr>
            <a:r>
              <a:t>• Step 4 — Shift traffic: 10% → 50% → 100% to new service</a:t>
            </a:r>
          </a:p>
          <a:p>
            <a:pPr>
              <a:spcAft>
                <a:spcPts val="500"/>
              </a:spcAft>
              <a:defRPr sz="1400" b="1">
                <a:solidFill>
                  <a:srgbClr val="1E293B"/>
                </a:solidFill>
                <a:latin typeface="Calibri"/>
              </a:defRPr>
            </a:pPr>
            <a:r>
              <a:t>• Step 5 — Decommission extracted code from monolith</a:t>
            </a:r>
          </a:p>
          <a:p>
            <a:pPr>
              <a:spcAft>
                <a:spcPts val="500"/>
              </a:spcAft>
              <a:defRPr sz="1400" b="1">
                <a:solidFill>
                  <a:srgbClr val="1E293B"/>
                </a:solidFill>
                <a:latin typeface="Calibri"/>
              </a:defRPr>
            </a:pPr>
            <a:r>
              <a:t>• Risk: distributed complexity, data consistency, cross-service ordering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Object Storage (S3)</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Unlimited-scale file storage for media</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Object storage stores files as objects in a flat namespace — not as blocks or files on disk. AWS S3, GCS, and Azure Blob offer petabyte-scale durability at low cost.</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Use cases: profile pics, shared photos, voice notes, video messages</a:t>
            </a:r>
          </a:p>
          <a:p>
            <a:pPr>
              <a:spcAft>
                <a:spcPts val="500"/>
              </a:spcAft>
              <a:defRPr sz="1400" b="1">
                <a:solidFill>
                  <a:srgbClr val="1E293B"/>
                </a:solidFill>
                <a:latin typeface="Calibri"/>
              </a:defRPr>
            </a:pPr>
            <a:r>
              <a:t>• Flow: user sends photo → S3 → CDN → recipient views from edge</a:t>
            </a:r>
          </a:p>
          <a:p>
            <a:pPr>
              <a:spcAft>
                <a:spcPts val="500"/>
              </a:spcAft>
              <a:defRPr sz="1400" b="1">
                <a:solidFill>
                  <a:srgbClr val="1E293B"/>
                </a:solidFill>
                <a:latin typeface="Calibri"/>
              </a:defRPr>
            </a:pPr>
            <a:r>
              <a:t>• Pre-signed URLs: temporary authenticated upload/download links</a:t>
            </a:r>
          </a:p>
          <a:p>
            <a:pPr>
              <a:spcAft>
                <a:spcPts val="500"/>
              </a:spcAft>
              <a:defRPr sz="1400" b="1">
                <a:solidFill>
                  <a:srgbClr val="1E293B"/>
                </a:solidFill>
                <a:latin typeface="Calibri"/>
              </a:defRPr>
            </a:pPr>
            <a:r>
              <a:t>• 99.999999999% durability; unlimited scale</a:t>
            </a:r>
          </a:p>
          <a:p>
            <a:pPr>
              <a:spcAft>
                <a:spcPts val="500"/>
              </a:spcAft>
              <a:defRPr sz="1400" b="1">
                <a:solidFill>
                  <a:srgbClr val="1E293B"/>
                </a:solidFill>
                <a:latin typeface="Calibri"/>
              </a:defRPr>
            </a:pPr>
            <a:r>
              <a:t>• Chat: all media in S3, delivered via CDN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Logging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Recording events for debugging and auditing</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Centralized logs help debug 'message not delivered' reports.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Logging captures what happened in your system — timestamps, service names, user IDs, and error details. Structured JSON logs shipped to a central platform make debugging across hundreds of servers possible.</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Structured logging: consistent JSON fields (timestamp, level, trace_id)</a:t>
            </a:r>
          </a:p>
          <a:p>
            <a:pPr>
              <a:spcAft>
                <a:spcPts val="500"/>
              </a:spcAft>
              <a:defRPr sz="1400" b="1">
                <a:solidFill>
                  <a:srgbClr val="1E293B"/>
                </a:solidFill>
                <a:latin typeface="Calibri"/>
              </a:defRPr>
            </a:pPr>
            <a:r>
              <a:t>• Tools: CloudWatch, Graylog, ELK Stack (Elasticsearch, Logstash, Kibana)</a:t>
            </a:r>
          </a:p>
          <a:p>
            <a:pPr>
              <a:spcAft>
                <a:spcPts val="500"/>
              </a:spcAft>
              <a:defRPr sz="1400" b="1">
                <a:solidFill>
                  <a:srgbClr val="1E293B"/>
                </a:solidFill>
                <a:latin typeface="Calibri"/>
              </a:defRPr>
            </a:pPr>
            <a:r>
              <a:t>• Log levels: DEBUG, INFO, WARN, ERROR, FATAL</a:t>
            </a:r>
          </a:p>
          <a:p>
            <a:pPr>
              <a:spcAft>
                <a:spcPts val="500"/>
              </a:spcAft>
              <a:defRPr sz="1400" b="1">
                <a:solidFill>
                  <a:srgbClr val="1E293B"/>
                </a:solidFill>
                <a:latin typeface="Calibri"/>
              </a:defRPr>
            </a:pPr>
            <a:r>
              <a:t>• Centralized: search all services for user_id=123 to trace an issue</a:t>
            </a:r>
          </a:p>
          <a:p>
            <a:pPr>
              <a:spcAft>
                <a:spcPts val="500"/>
              </a:spcAft>
              <a:defRPr sz="1400" b="1">
                <a:solidFill>
                  <a:srgbClr val="1E293B"/>
                </a:solidFill>
                <a:latin typeface="Calibri"/>
              </a:defRPr>
            </a:pPr>
            <a:r>
              <a:t>• Best practice: log metadata only — not message content if E2E encrypted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Metrics, Monitoring &amp; Distributed Tracing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The observability triad</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Trace every message delivery across microservices.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Metrics track numbers over time (throughput, latency, errors). Dashboards visualize them. Distributed tracing follows a single request across all microservices using a shared trace ID.</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Prometheus: pull-based metrics collection and alerting</a:t>
            </a:r>
          </a:p>
          <a:p>
            <a:pPr>
              <a:spcAft>
                <a:spcPts val="500"/>
              </a:spcAft>
              <a:defRPr sz="1400" b="1">
                <a:solidFill>
                  <a:srgbClr val="1E293B"/>
                </a:solidFill>
                <a:latin typeface="Calibri"/>
              </a:defRPr>
            </a:pPr>
            <a:r>
              <a:t>• Grafana: dashboards for throughput, p99 latency, error rate</a:t>
            </a:r>
          </a:p>
          <a:p>
            <a:pPr>
              <a:spcAft>
                <a:spcPts val="500"/>
              </a:spcAft>
              <a:defRPr sz="1400" b="1">
                <a:solidFill>
                  <a:srgbClr val="1E293B"/>
                </a:solidFill>
                <a:latin typeface="Calibri"/>
              </a:defRPr>
            </a:pPr>
            <a:r>
              <a:t>• Tracing: follow msg from API Gateway → Chat → Kafka → Notify</a:t>
            </a:r>
          </a:p>
          <a:p>
            <a:pPr>
              <a:spcAft>
                <a:spcPts val="500"/>
              </a:spcAft>
              <a:defRPr sz="1400" b="1">
                <a:solidFill>
                  <a:srgbClr val="1E293B"/>
                </a:solidFill>
                <a:latin typeface="Calibri"/>
              </a:defRPr>
            </a:pPr>
            <a:r>
              <a:t>• Tools: Jaeger, Zipkin, AWS X-Ray</a:t>
            </a:r>
          </a:p>
          <a:p>
            <a:pPr>
              <a:spcAft>
                <a:spcPts val="500"/>
              </a:spcAft>
              <a:defRPr sz="1400" b="1">
                <a:solidFill>
                  <a:srgbClr val="1E293B"/>
                </a:solidFill>
                <a:latin typeface="Calibri"/>
              </a:defRPr>
            </a:pPr>
            <a:r>
              <a:t>• Alerting: PagerDuty when message delivery p99 exceeds 500ms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Anomaly Detection &amp; Disaster Recovery</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Preparing for catastrophic failures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Multi-region replication ensures chat survives datacenter failures.</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Anomaly detection flags unusual patterns in metrics or logs. Disaster recovery plans define RTO (max downtime) and RPO (max data loss) with multi-region replication and regular failover drills.</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Anomaly: spike in failed deliveries → possible outage or spam attack</a:t>
            </a:r>
          </a:p>
          <a:p>
            <a:pPr>
              <a:spcAft>
                <a:spcPts val="500"/>
              </a:spcAft>
              <a:defRPr sz="1400" b="1">
                <a:solidFill>
                  <a:srgbClr val="1E293B"/>
                </a:solidFill>
                <a:latin typeface="Calibri"/>
              </a:defRPr>
            </a:pPr>
            <a:r>
              <a:t>• ML-based: train on normal behavior; flag 10× traffic from one region</a:t>
            </a:r>
          </a:p>
          <a:p>
            <a:pPr>
              <a:spcAft>
                <a:spcPts val="500"/>
              </a:spcAft>
              <a:defRPr sz="1400" b="1">
                <a:solidFill>
                  <a:srgbClr val="1E293B"/>
                </a:solidFill>
                <a:latin typeface="Calibri"/>
              </a:defRPr>
            </a:pPr>
            <a:r>
              <a:t>• DR: US-East down → failover to US-West within minutes</a:t>
            </a:r>
          </a:p>
          <a:p>
            <a:pPr>
              <a:spcAft>
                <a:spcPts val="500"/>
              </a:spcAft>
              <a:defRPr sz="1400" b="1">
                <a:solidFill>
                  <a:srgbClr val="1E293B"/>
                </a:solidFill>
                <a:latin typeface="Calibri"/>
              </a:defRPr>
            </a:pPr>
            <a:r>
              <a:t>• Chat targets: RTO 5 minutes, RPO zero (no message loss)</a:t>
            </a:r>
          </a:p>
          <a:p>
            <a:pPr>
              <a:spcAft>
                <a:spcPts val="500"/>
              </a:spcAft>
              <a:defRPr sz="1400" b="1">
                <a:solidFill>
                  <a:srgbClr val="1E293B"/>
                </a:solidFill>
                <a:latin typeface="Calibri"/>
              </a:defRPr>
            </a:pPr>
            <a:r>
              <a:t>• Strategy: multi-region Cassandra + S3 cross-region backup</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Security — Auth, Encryption &amp; Access Control</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Protecting user data in chat</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JWT for auth, E2E encryption for message privacy.</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Security covers authentication (who you are), authorization (what you can access), and encryption (protecting data in transit and at rest). Chat adds end-to-end encryption so the server cannot read message bodies.</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JWT: signed token issued on login; sent with every API/WebSocket request</a:t>
            </a:r>
          </a:p>
          <a:p>
            <a:pPr>
              <a:spcAft>
                <a:spcPts val="500"/>
              </a:spcAft>
              <a:defRPr sz="1400" b="1">
                <a:solidFill>
                  <a:srgbClr val="1E293B"/>
                </a:solidFill>
                <a:latin typeface="Calibri"/>
              </a:defRPr>
            </a:pPr>
            <a:r>
              <a:t>• OAuth/SSO: login with Google; delegated authorization</a:t>
            </a:r>
          </a:p>
          <a:p>
            <a:pPr>
              <a:spcAft>
                <a:spcPts val="500"/>
              </a:spcAft>
              <a:defRPr sz="1400" b="1">
                <a:solidFill>
                  <a:srgbClr val="1E293B"/>
                </a:solidFill>
                <a:latin typeface="Calibri"/>
              </a:defRPr>
            </a:pPr>
            <a:r>
              <a:t>• ACLs: only group members can read group messages</a:t>
            </a:r>
          </a:p>
          <a:p>
            <a:pPr>
              <a:spcAft>
                <a:spcPts val="500"/>
              </a:spcAft>
              <a:defRPr sz="1400" b="1">
                <a:solidFill>
                  <a:srgbClr val="1E293B"/>
                </a:solidFill>
                <a:latin typeface="Calibri"/>
              </a:defRPr>
            </a:pPr>
            <a:r>
              <a:t>• TLS/HTTPS for transit; AES-256 at rest on DB and S3</a:t>
            </a:r>
          </a:p>
          <a:p>
            <a:pPr>
              <a:spcAft>
                <a:spcPts val="500"/>
              </a:spcAft>
              <a:defRPr sz="1400" b="1">
                <a:solidFill>
                  <a:srgbClr val="1E293B"/>
                </a:solidFill>
                <a:latin typeface="Calibri"/>
              </a:defRPr>
            </a:pPr>
            <a:r>
              <a:t>• E2E encryption: Signal Protocol — server can't read message bodies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System Design Trade-offs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Every design decision involves compromises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No perfect solution — only trade-offs. Know them explicitly and justify choices based on your requirements.</a:t>
            </a:r>
          </a:p>
        </p:txBody>
      </p:sp>
      <p:graphicFrame>
        <p:nvGraphicFramePr>
          <p:cNvPr id="8" name="Table 7"/>
          <p:cNvGraphicFramePr>
            <a:graphicFrameLocks noGrp="1"/>
          </p:cNvGraphicFramePr>
          <p:nvPr/>
        </p:nvGraphicFramePr>
        <p:xfrm>
          <a:off x="502920" y="1865376"/>
          <a:ext cx="11064240" cy="2938272"/>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tblGrid>
              <a:tr h="475488">
                <a:tc>
                  <a:txBody>
                    <a:bodyPr/>
                    <a:lstStyle/>
                    <a:p>
                      <a:pPr>
                        <a:defRPr sz="1600" b="1">
                          <a:solidFill>
                            <a:srgbClr val="FFFFFF"/>
                          </a:solidFill>
                          <a:latin typeface="Calibri"/>
                        </a:defRPr>
                      </a:pPr>
                      <a:r>
                        <a:t>Trade-off</a:t>
                      </a:r>
                    </a:p>
                  </a:txBody>
                  <a:tcPr>
                    <a:solidFill>
                      <a:srgbClr val="1A56DB"/>
                    </a:solidFill>
                  </a:tcPr>
                </a:tc>
                <a:tc>
                  <a:txBody>
                    <a:bodyPr/>
                    <a:lstStyle/>
                    <a:p>
                      <a:pPr>
                        <a:defRPr sz="1600" b="1">
                          <a:solidFill>
                            <a:srgbClr val="FFFFFF"/>
                          </a:solidFill>
                          <a:latin typeface="Calibri"/>
                        </a:defRPr>
                      </a:pPr>
                      <a:r>
                        <a:t>Option A</a:t>
                      </a:r>
                    </a:p>
                  </a:txBody>
                  <a:tcPr>
                    <a:solidFill>
                      <a:srgbClr val="1A56DB"/>
                    </a:solidFill>
                  </a:tcPr>
                </a:tc>
                <a:tc>
                  <a:txBody>
                    <a:bodyPr/>
                    <a:lstStyle/>
                    <a:p>
                      <a:pPr>
                        <a:defRPr sz="1600" b="1">
                          <a:solidFill>
                            <a:srgbClr val="FFFFFF"/>
                          </a:solidFill>
                          <a:latin typeface="Calibri"/>
                        </a:defRPr>
                      </a:pPr>
                      <a:r>
                        <a:t>Option B</a:t>
                      </a:r>
                    </a:p>
                  </a:txBody>
                  <a:tcPr>
                    <a:solidFill>
                      <a:srgbClr val="1A56DB"/>
                    </a:solidFill>
                  </a:tcPr>
                </a:tc>
                <a:tc>
                  <a:txBody>
                    <a:bodyPr/>
                    <a:lstStyle/>
                    <a:p>
                      <a:pPr>
                        <a:defRPr sz="1600" b="1">
                          <a:solidFill>
                            <a:srgbClr val="FFFFFF"/>
                          </a:solidFill>
                          <a:latin typeface="Calibri"/>
                        </a:defRPr>
                      </a:pPr>
                      <a:r>
                        <a:t>Chat Choice</a:t>
                      </a:r>
                    </a:p>
                  </a:txBody>
                  <a:tcPr>
                    <a:solidFill>
                      <a:srgbClr val="1A56DB"/>
                    </a:solidFill>
                  </a:tcPr>
                </a:tc>
                <a:extLst>
                  <a:ext uri="{0D108BD9-81ED-4DB2-BD59-A6C34878D82A}">
                    <a16:rowId xmlns:a16="http://schemas.microsoft.com/office/drawing/2014/main" val="10000"/>
                  </a:ext>
                </a:extLst>
              </a:tr>
              <a:tr h="475488">
                <a:tc>
                  <a:txBody>
                    <a:bodyPr/>
                    <a:lstStyle/>
                    <a:p>
                      <a:pPr>
                        <a:defRPr sz="1400">
                          <a:solidFill>
                            <a:srgbClr val="1E293B"/>
                          </a:solidFill>
                          <a:latin typeface="Calibri"/>
                        </a:defRPr>
                      </a:pPr>
                      <a:r>
                        <a:t>Push vs Pull</a:t>
                      </a:r>
                    </a:p>
                  </a:txBody>
                  <a:tcPr>
                    <a:solidFill>
                      <a:srgbClr val="F0F4F8"/>
                    </a:solidFill>
                  </a:tcPr>
                </a:tc>
                <a:tc>
                  <a:txBody>
                    <a:bodyPr/>
                    <a:lstStyle/>
                    <a:p>
                      <a:pPr>
                        <a:defRPr sz="1400">
                          <a:solidFill>
                            <a:srgbClr val="1E293B"/>
                          </a:solidFill>
                          <a:latin typeface="Calibri"/>
                        </a:defRPr>
                      </a:pPr>
                      <a:r>
                        <a:t>Server pushes updates</a:t>
                      </a:r>
                    </a:p>
                  </a:txBody>
                  <a:tcPr>
                    <a:solidFill>
                      <a:srgbClr val="F0F4F8"/>
                    </a:solidFill>
                  </a:tcPr>
                </a:tc>
                <a:tc>
                  <a:txBody>
                    <a:bodyPr/>
                    <a:lstStyle/>
                    <a:p>
                      <a:pPr>
                        <a:defRPr sz="1400">
                          <a:solidFill>
                            <a:srgbClr val="1E293B"/>
                          </a:solidFill>
                          <a:latin typeface="Calibri"/>
                        </a:defRPr>
                      </a:pPr>
                      <a:r>
                        <a:t>Client polls</a:t>
                      </a:r>
                    </a:p>
                  </a:txBody>
                  <a:tcPr>
                    <a:solidFill>
                      <a:srgbClr val="F0F4F8"/>
                    </a:solidFill>
                  </a:tcPr>
                </a:tc>
                <a:tc>
                  <a:txBody>
                    <a:bodyPr/>
                    <a:lstStyle/>
                    <a:p>
                      <a:pPr>
                        <a:defRPr sz="1400">
                          <a:solidFill>
                            <a:srgbClr val="1E293B"/>
                          </a:solidFill>
                          <a:latin typeface="Calibri"/>
                        </a:defRPr>
                      </a:pPr>
                      <a:r>
                        <a:t>Push via WebSocket</a:t>
                      </a:r>
                    </a:p>
                  </a:txBody>
                  <a:tcPr>
                    <a:solidFill>
                      <a:srgbClr val="F0F4F8"/>
                    </a:solidFill>
                  </a:tcPr>
                </a:tc>
                <a:extLst>
                  <a:ext uri="{0D108BD9-81ED-4DB2-BD59-A6C34878D82A}">
                    <a16:rowId xmlns:a16="http://schemas.microsoft.com/office/drawing/2014/main" val="10001"/>
                  </a:ext>
                </a:extLst>
              </a:tr>
              <a:tr h="475488">
                <a:tc>
                  <a:txBody>
                    <a:bodyPr/>
                    <a:lstStyle/>
                    <a:p>
                      <a:pPr>
                        <a:defRPr sz="1400">
                          <a:solidFill>
                            <a:srgbClr val="1E293B"/>
                          </a:solidFill>
                          <a:latin typeface="Calibri"/>
                        </a:defRPr>
                      </a:pPr>
                      <a:r>
                        <a:t>Consistency vs Availability</a:t>
                      </a:r>
                    </a:p>
                  </a:txBody>
                  <a:tcPr>
                    <a:solidFill>
                      <a:srgbClr val="FFFFFF"/>
                    </a:solidFill>
                  </a:tcPr>
                </a:tc>
                <a:tc>
                  <a:txBody>
                    <a:bodyPr/>
                    <a:lstStyle/>
                    <a:p>
                      <a:pPr>
                        <a:defRPr sz="1400">
                          <a:solidFill>
                            <a:srgbClr val="1E293B"/>
                          </a:solidFill>
                          <a:latin typeface="Calibri"/>
                        </a:defRPr>
                      </a:pPr>
                      <a:r>
                        <a:t>Strong (CP)</a:t>
                      </a:r>
                    </a:p>
                  </a:txBody>
                  <a:tcPr>
                    <a:solidFill>
                      <a:srgbClr val="FFFFFF"/>
                    </a:solidFill>
                  </a:tcPr>
                </a:tc>
                <a:tc>
                  <a:txBody>
                    <a:bodyPr/>
                    <a:lstStyle/>
                    <a:p>
                      <a:pPr>
                        <a:defRPr sz="1400">
                          <a:solidFill>
                            <a:srgbClr val="1E293B"/>
                          </a:solidFill>
                          <a:latin typeface="Calibri"/>
                        </a:defRPr>
                      </a:pPr>
                      <a:r>
                        <a:t>High (AP)</a:t>
                      </a:r>
                    </a:p>
                  </a:txBody>
                  <a:tcPr>
                    <a:solidFill>
                      <a:srgbClr val="FFFFFF"/>
                    </a:solidFill>
                  </a:tcPr>
                </a:tc>
                <a:tc>
                  <a:txBody>
                    <a:bodyPr/>
                    <a:lstStyle/>
                    <a:p>
                      <a:pPr>
                        <a:defRPr sz="1400">
                          <a:solidFill>
                            <a:srgbClr val="1E293B"/>
                          </a:solidFill>
                          <a:latin typeface="Calibri"/>
                        </a:defRPr>
                      </a:pPr>
                      <a:r>
                        <a:t>AP — always on</a:t>
                      </a:r>
                    </a:p>
                  </a:txBody>
                  <a:tcPr>
                    <a:solidFill>
                      <a:srgbClr val="FFFFFF"/>
                    </a:solidFill>
                  </a:tcPr>
                </a:tc>
                <a:extLst>
                  <a:ext uri="{0D108BD9-81ED-4DB2-BD59-A6C34878D82A}">
                    <a16:rowId xmlns:a16="http://schemas.microsoft.com/office/drawing/2014/main" val="10002"/>
                  </a:ext>
                </a:extLst>
              </a:tr>
              <a:tr h="475488">
                <a:tc>
                  <a:txBody>
                    <a:bodyPr/>
                    <a:lstStyle/>
                    <a:p>
                      <a:pPr>
                        <a:defRPr sz="1400">
                          <a:solidFill>
                            <a:srgbClr val="1E293B"/>
                          </a:solidFill>
                          <a:latin typeface="Calibri"/>
                        </a:defRPr>
                      </a:pPr>
                      <a:r>
                        <a:t>SQL vs NoSQL</a:t>
                      </a:r>
                    </a:p>
                  </a:txBody>
                  <a:tcPr>
                    <a:solidFill>
                      <a:srgbClr val="F0F4F8"/>
                    </a:solidFill>
                  </a:tcPr>
                </a:tc>
                <a:tc>
                  <a:txBody>
                    <a:bodyPr/>
                    <a:lstStyle/>
                    <a:p>
                      <a:pPr>
                        <a:defRPr sz="1400">
                          <a:solidFill>
                            <a:srgbClr val="1E293B"/>
                          </a:solidFill>
                          <a:latin typeface="Calibri"/>
                        </a:defRPr>
                      </a:pPr>
                      <a:r>
                        <a:t>Structured, ACID</a:t>
                      </a:r>
                    </a:p>
                  </a:txBody>
                  <a:tcPr>
                    <a:solidFill>
                      <a:srgbClr val="F0F4F8"/>
                    </a:solidFill>
                  </a:tcPr>
                </a:tc>
                <a:tc>
                  <a:txBody>
                    <a:bodyPr/>
                    <a:lstStyle/>
                    <a:p>
                      <a:pPr>
                        <a:defRPr sz="1400">
                          <a:solidFill>
                            <a:srgbClr val="1E293B"/>
                          </a:solidFill>
                          <a:latin typeface="Calibri"/>
                        </a:defRPr>
                      </a:pPr>
                      <a:r>
                        <a:t>Flexible, scalable</a:t>
                      </a:r>
                    </a:p>
                  </a:txBody>
                  <a:tcPr>
                    <a:solidFill>
                      <a:srgbClr val="F0F4F8"/>
                    </a:solidFill>
                  </a:tcPr>
                </a:tc>
                <a:tc>
                  <a:txBody>
                    <a:bodyPr/>
                    <a:lstStyle/>
                    <a:p>
                      <a:pPr>
                        <a:defRPr sz="1400">
                          <a:solidFill>
                            <a:srgbClr val="1E293B"/>
                          </a:solidFill>
                          <a:latin typeface="Calibri"/>
                        </a:defRPr>
                      </a:pPr>
                      <a:r>
                        <a:t>SQL users; NoSQL msgs</a:t>
                      </a:r>
                    </a:p>
                  </a:txBody>
                  <a:tcPr>
                    <a:solidFill>
                      <a:srgbClr val="F0F4F8"/>
                    </a:solidFill>
                  </a:tcPr>
                </a:tc>
                <a:extLst>
                  <a:ext uri="{0D108BD9-81ED-4DB2-BD59-A6C34878D82A}">
                    <a16:rowId xmlns:a16="http://schemas.microsoft.com/office/drawing/2014/main" val="10003"/>
                  </a:ext>
                </a:extLst>
              </a:tr>
              <a:tr h="475488">
                <a:tc>
                  <a:txBody>
                    <a:bodyPr/>
                    <a:lstStyle/>
                    <a:p>
                      <a:pPr>
                        <a:defRPr sz="1400">
                          <a:solidFill>
                            <a:srgbClr val="1E293B"/>
                          </a:solidFill>
                          <a:latin typeface="Calibri"/>
                        </a:defRPr>
                      </a:pPr>
                      <a:r>
                        <a:t>Memory vs Latency</a:t>
                      </a:r>
                    </a:p>
                  </a:txBody>
                  <a:tcPr>
                    <a:solidFill>
                      <a:srgbClr val="FFFFFF"/>
                    </a:solidFill>
                  </a:tcPr>
                </a:tc>
                <a:tc>
                  <a:txBody>
                    <a:bodyPr/>
                    <a:lstStyle/>
                    <a:p>
                      <a:pPr>
                        <a:defRPr sz="1400">
                          <a:solidFill>
                            <a:srgbClr val="1E293B"/>
                          </a:solidFill>
                          <a:latin typeface="Calibri"/>
                        </a:defRPr>
                      </a:pPr>
                      <a:r>
                        <a:t>More cache = faster</a:t>
                      </a:r>
                    </a:p>
                  </a:txBody>
                  <a:tcPr>
                    <a:solidFill>
                      <a:srgbClr val="FFFFFF"/>
                    </a:solidFill>
                  </a:tcPr>
                </a:tc>
                <a:tc>
                  <a:txBody>
                    <a:bodyPr/>
                    <a:lstStyle/>
                    <a:p>
                      <a:pPr>
                        <a:defRPr sz="1400">
                          <a:solidFill>
                            <a:srgbClr val="1E293B"/>
                          </a:solidFill>
                          <a:latin typeface="Calibri"/>
                        </a:defRPr>
                      </a:pPr>
                      <a:r>
                        <a:t>Less cache = cheaper</a:t>
                      </a:r>
                    </a:p>
                  </a:txBody>
                  <a:tcPr>
                    <a:solidFill>
                      <a:srgbClr val="FFFFFF"/>
                    </a:solidFill>
                  </a:tcPr>
                </a:tc>
                <a:tc>
                  <a:txBody>
                    <a:bodyPr/>
                    <a:lstStyle/>
                    <a:p>
                      <a:pPr>
                        <a:defRPr sz="1400">
                          <a:solidFill>
                            <a:srgbClr val="1E293B"/>
                          </a:solidFill>
                          <a:latin typeface="Calibri"/>
                        </a:defRPr>
                      </a:pPr>
                      <a:r>
                        <a:t>Redis for speed</a:t>
                      </a:r>
                    </a:p>
                  </a:txBody>
                  <a:tcPr>
                    <a:solidFill>
                      <a:srgbClr val="FFFFFF"/>
                    </a:solidFill>
                  </a:tcPr>
                </a:tc>
                <a:extLst>
                  <a:ext uri="{0D108BD9-81ED-4DB2-BD59-A6C34878D82A}">
                    <a16:rowId xmlns:a16="http://schemas.microsoft.com/office/drawing/2014/main" val="10004"/>
                  </a:ext>
                </a:extLst>
              </a:tr>
              <a:tr h="475488">
                <a:tc>
                  <a:txBody>
                    <a:bodyPr/>
                    <a:lstStyle/>
                    <a:p>
                      <a:pPr>
                        <a:defRPr sz="1400">
                          <a:solidFill>
                            <a:srgbClr val="1E293B"/>
                          </a:solidFill>
                          <a:latin typeface="Calibri"/>
                        </a:defRPr>
                      </a:pPr>
                      <a:r>
                        <a:t>Monolith vs Microservices</a:t>
                      </a:r>
                    </a:p>
                  </a:txBody>
                  <a:tcPr>
                    <a:solidFill>
                      <a:srgbClr val="F0F4F8"/>
                    </a:solidFill>
                  </a:tcPr>
                </a:tc>
                <a:tc>
                  <a:txBody>
                    <a:bodyPr/>
                    <a:lstStyle/>
                    <a:p>
                      <a:pPr>
                        <a:defRPr sz="1400">
                          <a:solidFill>
                            <a:srgbClr val="1E293B"/>
                          </a:solidFill>
                          <a:latin typeface="Calibri"/>
                        </a:defRPr>
                      </a:pPr>
                      <a:r>
                        <a:t>Simple build</a:t>
                      </a:r>
                    </a:p>
                  </a:txBody>
                  <a:tcPr>
                    <a:solidFill>
                      <a:srgbClr val="F0F4F8"/>
                    </a:solidFill>
                  </a:tcPr>
                </a:tc>
                <a:tc>
                  <a:txBody>
                    <a:bodyPr/>
                    <a:lstStyle/>
                    <a:p>
                      <a:pPr>
                        <a:defRPr sz="1400">
                          <a:solidFill>
                            <a:srgbClr val="1E293B"/>
                          </a:solidFill>
                          <a:latin typeface="Calibri"/>
                        </a:defRPr>
                      </a:pPr>
                      <a:r>
                        <a:t>Scalable ops</a:t>
                      </a:r>
                    </a:p>
                  </a:txBody>
                  <a:tcPr>
                    <a:solidFill>
                      <a:srgbClr val="F0F4F8"/>
                    </a:solidFill>
                  </a:tcPr>
                </a:tc>
                <a:tc>
                  <a:txBody>
                    <a:bodyPr/>
                    <a:lstStyle/>
                    <a:p>
                      <a:pPr>
                        <a:defRPr sz="1400">
                          <a:solidFill>
                            <a:srgbClr val="1E293B"/>
                          </a:solidFill>
                          <a:latin typeface="Calibri"/>
                        </a:defRPr>
                      </a:pPr>
                      <a:r>
                        <a:t>Start monolith</a:t>
                      </a:r>
                    </a:p>
                  </a:txBody>
                  <a:tcPr>
                    <a:solidFill>
                      <a:srgbClr val="F0F4F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Popular HLD Systems to Practice</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One-line glimpse of key concepts each system teaches</a:t>
            </a:r>
          </a:p>
        </p:txBody>
      </p:sp>
      <p:sp>
        <p:nvSpPr>
          <p:cNvPr id="5" name="Rounded Rectangle 4"/>
          <p:cNvSpPr/>
          <p:nvPr/>
        </p:nvSpPr>
        <p:spPr>
          <a:xfrm>
            <a:off x="502920" y="1234440"/>
            <a:ext cx="5440680" cy="960120"/>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34440"/>
            <a:ext cx="1371600" cy="96012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27048"/>
            <a:ext cx="1234440" cy="320040"/>
          </a:xfrm>
          <a:prstGeom prst="rect">
            <a:avLst/>
          </a:prstGeom>
          <a:noFill/>
        </p:spPr>
        <p:txBody>
          <a:bodyPr wrap="square">
            <a:spAutoFit/>
          </a:bodyPr>
          <a:lstStyle/>
          <a:p>
            <a:pPr algn="ctr">
              <a:defRPr sz="1400" b="1">
                <a:solidFill>
                  <a:srgbClr val="FFFFFF"/>
                </a:solidFill>
                <a:latin typeface="Calibri"/>
              </a:defRPr>
            </a:pPr>
            <a:r>
              <a:t>YouTube</a:t>
            </a:r>
          </a:p>
        </p:txBody>
      </p:sp>
      <p:sp>
        <p:nvSpPr>
          <p:cNvPr id="8" name="TextBox 7"/>
          <p:cNvSpPr txBox="1"/>
          <p:nvPr/>
        </p:nvSpPr>
        <p:spPr>
          <a:xfrm>
            <a:off x="2011680" y="1435608"/>
            <a:ext cx="3840480" cy="594360"/>
          </a:xfrm>
          <a:prstGeom prst="rect">
            <a:avLst/>
          </a:prstGeom>
          <a:noFill/>
        </p:spPr>
        <p:txBody>
          <a:bodyPr wrap="square">
            <a:spAutoFit/>
          </a:bodyPr>
          <a:lstStyle/>
          <a:p>
            <a:pPr algn="l">
              <a:defRPr sz="1400" b="0">
                <a:solidFill>
                  <a:srgbClr val="1E293B"/>
                </a:solidFill>
                <a:latin typeface="Calibri"/>
              </a:defRPr>
            </a:pPr>
            <a:r>
              <a:t>CDN, video transcoding, blob storage, recommendation</a:t>
            </a:r>
          </a:p>
        </p:txBody>
      </p:sp>
      <p:sp>
        <p:nvSpPr>
          <p:cNvPr id="9" name="Rounded Rectangle 8"/>
          <p:cNvSpPr/>
          <p:nvPr/>
        </p:nvSpPr>
        <p:spPr>
          <a:xfrm>
            <a:off x="6172200" y="1234440"/>
            <a:ext cx="5440680" cy="960120"/>
          </a:xfrm>
          <a:prstGeom prst="roundRect">
            <a:avLst/>
          </a:prstGeom>
          <a:solidFill>
            <a:srgbClr val="FFFFFF"/>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234440"/>
            <a:ext cx="1371600" cy="9601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40" y="1527048"/>
            <a:ext cx="1234440" cy="320040"/>
          </a:xfrm>
          <a:prstGeom prst="rect">
            <a:avLst/>
          </a:prstGeom>
          <a:noFill/>
        </p:spPr>
        <p:txBody>
          <a:bodyPr wrap="square">
            <a:spAutoFit/>
          </a:bodyPr>
          <a:lstStyle/>
          <a:p>
            <a:pPr algn="ctr">
              <a:defRPr sz="1400" b="1">
                <a:solidFill>
                  <a:srgbClr val="FFFFFF"/>
                </a:solidFill>
                <a:latin typeface="Calibri"/>
              </a:defRPr>
            </a:pPr>
            <a:r>
              <a:t>Twitter / X</a:t>
            </a:r>
          </a:p>
        </p:txBody>
      </p:sp>
      <p:sp>
        <p:nvSpPr>
          <p:cNvPr id="12" name="TextBox 11"/>
          <p:cNvSpPr txBox="1"/>
          <p:nvPr/>
        </p:nvSpPr>
        <p:spPr>
          <a:xfrm>
            <a:off x="7680960" y="1435608"/>
            <a:ext cx="3840480" cy="594360"/>
          </a:xfrm>
          <a:prstGeom prst="rect">
            <a:avLst/>
          </a:prstGeom>
          <a:noFill/>
        </p:spPr>
        <p:txBody>
          <a:bodyPr wrap="square">
            <a:spAutoFit/>
          </a:bodyPr>
          <a:lstStyle/>
          <a:p>
            <a:pPr algn="l">
              <a:defRPr sz="1400" b="0">
                <a:solidFill>
                  <a:srgbClr val="1E293B"/>
                </a:solidFill>
                <a:latin typeface="Calibri"/>
              </a:defRPr>
            </a:pPr>
            <a:r>
              <a:t>Fan-out on write/read, timeline generation, cache</a:t>
            </a:r>
          </a:p>
        </p:txBody>
      </p:sp>
      <p:sp>
        <p:nvSpPr>
          <p:cNvPr id="13" name="Rounded Rectangle 12"/>
          <p:cNvSpPr/>
          <p:nvPr/>
        </p:nvSpPr>
        <p:spPr>
          <a:xfrm>
            <a:off x="502920" y="2322576"/>
            <a:ext cx="5440680" cy="960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02920" y="2322576"/>
            <a:ext cx="1371600"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2615184"/>
            <a:ext cx="1234440" cy="320040"/>
          </a:xfrm>
          <a:prstGeom prst="rect">
            <a:avLst/>
          </a:prstGeom>
          <a:noFill/>
        </p:spPr>
        <p:txBody>
          <a:bodyPr wrap="square">
            <a:spAutoFit/>
          </a:bodyPr>
          <a:lstStyle/>
          <a:p>
            <a:pPr algn="ctr">
              <a:defRPr sz="1400" b="1">
                <a:solidFill>
                  <a:srgbClr val="FFFFFF"/>
                </a:solidFill>
                <a:latin typeface="Calibri"/>
              </a:defRPr>
            </a:pPr>
            <a:r>
              <a:t>WhatsApp</a:t>
            </a:r>
          </a:p>
        </p:txBody>
      </p:sp>
      <p:sp>
        <p:nvSpPr>
          <p:cNvPr id="16" name="TextBox 15"/>
          <p:cNvSpPr txBox="1"/>
          <p:nvPr/>
        </p:nvSpPr>
        <p:spPr>
          <a:xfrm>
            <a:off x="2011680" y="2523744"/>
            <a:ext cx="3840480" cy="594360"/>
          </a:xfrm>
          <a:prstGeom prst="rect">
            <a:avLst/>
          </a:prstGeom>
          <a:noFill/>
        </p:spPr>
        <p:txBody>
          <a:bodyPr wrap="square">
            <a:spAutoFit/>
          </a:bodyPr>
          <a:lstStyle/>
          <a:p>
            <a:pPr algn="l">
              <a:defRPr sz="1400" b="0">
                <a:solidFill>
                  <a:srgbClr val="1E293B"/>
                </a:solidFill>
                <a:latin typeface="Calibri"/>
              </a:defRPr>
            </a:pPr>
            <a:r>
              <a:t>WebSockets, message queues, E2E encryption, presence</a:t>
            </a:r>
          </a:p>
        </p:txBody>
      </p:sp>
      <p:sp>
        <p:nvSpPr>
          <p:cNvPr id="17" name="Rounded Rectangle 16"/>
          <p:cNvSpPr/>
          <p:nvPr/>
        </p:nvSpPr>
        <p:spPr>
          <a:xfrm>
            <a:off x="6172200" y="2322576"/>
            <a:ext cx="5440680" cy="960120"/>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2322576"/>
            <a:ext cx="1371600" cy="960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63640" y="2615184"/>
            <a:ext cx="1234440" cy="320040"/>
          </a:xfrm>
          <a:prstGeom prst="rect">
            <a:avLst/>
          </a:prstGeom>
          <a:noFill/>
        </p:spPr>
        <p:txBody>
          <a:bodyPr wrap="square">
            <a:spAutoFit/>
          </a:bodyPr>
          <a:lstStyle/>
          <a:p>
            <a:pPr algn="ctr">
              <a:defRPr sz="1400" b="1">
                <a:solidFill>
                  <a:srgbClr val="FFFFFF"/>
                </a:solidFill>
                <a:latin typeface="Calibri"/>
              </a:defRPr>
            </a:pPr>
            <a:r>
              <a:t>Uber</a:t>
            </a:r>
          </a:p>
        </p:txBody>
      </p:sp>
      <p:sp>
        <p:nvSpPr>
          <p:cNvPr id="20" name="TextBox 19"/>
          <p:cNvSpPr txBox="1"/>
          <p:nvPr/>
        </p:nvSpPr>
        <p:spPr>
          <a:xfrm>
            <a:off x="7680960" y="2523744"/>
            <a:ext cx="3840480" cy="594360"/>
          </a:xfrm>
          <a:prstGeom prst="rect">
            <a:avLst/>
          </a:prstGeom>
          <a:noFill/>
        </p:spPr>
        <p:txBody>
          <a:bodyPr wrap="square">
            <a:spAutoFit/>
          </a:bodyPr>
          <a:lstStyle/>
          <a:p>
            <a:pPr algn="l">
              <a:defRPr sz="1400" b="0">
                <a:solidFill>
                  <a:srgbClr val="1E293B"/>
                </a:solidFill>
                <a:latin typeface="Calibri"/>
              </a:defRPr>
            </a:pPr>
            <a:r>
              <a:t>Geolocation, real-time matching, surge pricing, maps</a:t>
            </a:r>
          </a:p>
        </p:txBody>
      </p:sp>
      <p:sp>
        <p:nvSpPr>
          <p:cNvPr id="21" name="Rounded Rectangle 20"/>
          <p:cNvSpPr/>
          <p:nvPr/>
        </p:nvSpPr>
        <p:spPr>
          <a:xfrm>
            <a:off x="502920" y="3410712"/>
            <a:ext cx="5440680" cy="9601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02920" y="3410712"/>
            <a:ext cx="1371600" cy="960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3703320"/>
            <a:ext cx="1234440" cy="320040"/>
          </a:xfrm>
          <a:prstGeom prst="rect">
            <a:avLst/>
          </a:prstGeom>
          <a:noFill/>
        </p:spPr>
        <p:txBody>
          <a:bodyPr wrap="square">
            <a:spAutoFit/>
          </a:bodyPr>
          <a:lstStyle/>
          <a:p>
            <a:pPr algn="ctr">
              <a:defRPr sz="1400" b="1">
                <a:solidFill>
                  <a:srgbClr val="FFFFFF"/>
                </a:solidFill>
                <a:latin typeface="Calibri"/>
              </a:defRPr>
            </a:pPr>
            <a:r>
              <a:t>Amazon</a:t>
            </a:r>
          </a:p>
        </p:txBody>
      </p:sp>
      <p:sp>
        <p:nvSpPr>
          <p:cNvPr id="24" name="TextBox 23"/>
          <p:cNvSpPr txBox="1"/>
          <p:nvPr/>
        </p:nvSpPr>
        <p:spPr>
          <a:xfrm>
            <a:off x="2011680" y="3611880"/>
            <a:ext cx="3840480" cy="594360"/>
          </a:xfrm>
          <a:prstGeom prst="rect">
            <a:avLst/>
          </a:prstGeom>
          <a:noFill/>
        </p:spPr>
        <p:txBody>
          <a:bodyPr wrap="square">
            <a:spAutoFit/>
          </a:bodyPr>
          <a:lstStyle/>
          <a:p>
            <a:pPr algn="l">
              <a:defRPr sz="1400" b="0">
                <a:solidFill>
                  <a:srgbClr val="1E293B"/>
                </a:solidFill>
                <a:latin typeface="Calibri"/>
              </a:defRPr>
            </a:pPr>
            <a:r>
              <a:t>Inventory, payments, consistency, recommendation</a:t>
            </a:r>
          </a:p>
        </p:txBody>
      </p:sp>
      <p:sp>
        <p:nvSpPr>
          <p:cNvPr id="25" name="Rounded Rectangle 24"/>
          <p:cNvSpPr/>
          <p:nvPr/>
        </p:nvSpPr>
        <p:spPr>
          <a:xfrm>
            <a:off x="6172200" y="3410712"/>
            <a:ext cx="5440680" cy="960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3410712"/>
            <a:ext cx="1371600" cy="96012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63640" y="3703320"/>
            <a:ext cx="1234440" cy="320040"/>
          </a:xfrm>
          <a:prstGeom prst="rect">
            <a:avLst/>
          </a:prstGeom>
          <a:noFill/>
        </p:spPr>
        <p:txBody>
          <a:bodyPr wrap="square">
            <a:spAutoFit/>
          </a:bodyPr>
          <a:lstStyle/>
          <a:p>
            <a:pPr algn="ctr">
              <a:defRPr sz="1400" b="1">
                <a:solidFill>
                  <a:srgbClr val="FFFFFF"/>
                </a:solidFill>
                <a:latin typeface="Calibri"/>
              </a:defRPr>
            </a:pPr>
            <a:r>
              <a:t>Google Drive</a:t>
            </a:r>
          </a:p>
        </p:txBody>
      </p:sp>
      <p:sp>
        <p:nvSpPr>
          <p:cNvPr id="28" name="TextBox 27"/>
          <p:cNvSpPr txBox="1"/>
          <p:nvPr/>
        </p:nvSpPr>
        <p:spPr>
          <a:xfrm>
            <a:off x="7680960" y="3611880"/>
            <a:ext cx="3840480" cy="594360"/>
          </a:xfrm>
          <a:prstGeom prst="rect">
            <a:avLst/>
          </a:prstGeom>
          <a:noFill/>
        </p:spPr>
        <p:txBody>
          <a:bodyPr wrap="square">
            <a:spAutoFit/>
          </a:bodyPr>
          <a:lstStyle/>
          <a:p>
            <a:pPr algn="l">
              <a:defRPr sz="1400" b="0">
                <a:solidFill>
                  <a:srgbClr val="1E293B"/>
                </a:solidFill>
                <a:latin typeface="Calibri"/>
              </a:defRPr>
            </a:pPr>
            <a:r>
              <a:t>File sync, conflict resolution, chunk storage</a:t>
            </a:r>
          </a:p>
        </p:txBody>
      </p:sp>
      <p:sp>
        <p:nvSpPr>
          <p:cNvPr id="29" name="Rounded Rectangle 28"/>
          <p:cNvSpPr/>
          <p:nvPr/>
        </p:nvSpPr>
        <p:spPr>
          <a:xfrm>
            <a:off x="502920" y="4498848"/>
            <a:ext cx="5440680" cy="960120"/>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02920" y="4498848"/>
            <a:ext cx="1371600" cy="96012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4360" y="4791456"/>
            <a:ext cx="1234440" cy="320040"/>
          </a:xfrm>
          <a:prstGeom prst="rect">
            <a:avLst/>
          </a:prstGeom>
          <a:noFill/>
        </p:spPr>
        <p:txBody>
          <a:bodyPr wrap="square">
            <a:spAutoFit/>
          </a:bodyPr>
          <a:lstStyle/>
          <a:p>
            <a:pPr algn="ctr">
              <a:defRPr sz="1400" b="1">
                <a:solidFill>
                  <a:srgbClr val="FFFFFF"/>
                </a:solidFill>
                <a:latin typeface="Calibri"/>
              </a:defRPr>
            </a:pPr>
            <a:r>
              <a:t>Netflix</a:t>
            </a:r>
          </a:p>
        </p:txBody>
      </p:sp>
      <p:sp>
        <p:nvSpPr>
          <p:cNvPr id="32" name="TextBox 31"/>
          <p:cNvSpPr txBox="1"/>
          <p:nvPr/>
        </p:nvSpPr>
        <p:spPr>
          <a:xfrm>
            <a:off x="2011680" y="4700016"/>
            <a:ext cx="3840480" cy="594360"/>
          </a:xfrm>
          <a:prstGeom prst="rect">
            <a:avLst/>
          </a:prstGeom>
          <a:noFill/>
        </p:spPr>
        <p:txBody>
          <a:bodyPr wrap="square">
            <a:spAutoFit/>
          </a:bodyPr>
          <a:lstStyle/>
          <a:p>
            <a:pPr algn="l">
              <a:defRPr sz="1400" b="0">
                <a:solidFill>
                  <a:srgbClr val="1E293B"/>
                </a:solidFill>
                <a:latin typeface="Calibri"/>
              </a:defRPr>
            </a:pPr>
            <a:r>
              <a:t>CDN streaming, microservices, recommendation, A/B</a:t>
            </a:r>
          </a:p>
        </p:txBody>
      </p:sp>
      <p:sp>
        <p:nvSpPr>
          <p:cNvPr id="33" name="Rounded Rectangle 32"/>
          <p:cNvSpPr/>
          <p:nvPr/>
        </p:nvSpPr>
        <p:spPr>
          <a:xfrm>
            <a:off x="6172200" y="4498848"/>
            <a:ext cx="5440680" cy="960120"/>
          </a:xfrm>
          <a:prstGeom prst="roundRect">
            <a:avLst/>
          </a:prstGeom>
          <a:solidFill>
            <a:srgbClr val="FFFFFF"/>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172200" y="4498848"/>
            <a:ext cx="1371600" cy="9601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63640" y="4791456"/>
            <a:ext cx="1234440" cy="320040"/>
          </a:xfrm>
          <a:prstGeom prst="rect">
            <a:avLst/>
          </a:prstGeom>
          <a:noFill/>
        </p:spPr>
        <p:txBody>
          <a:bodyPr wrap="square">
            <a:spAutoFit/>
          </a:bodyPr>
          <a:lstStyle/>
          <a:p>
            <a:pPr algn="ctr">
              <a:defRPr sz="1400" b="1">
                <a:solidFill>
                  <a:srgbClr val="FFFFFF"/>
                </a:solidFill>
                <a:latin typeface="Calibri"/>
              </a:defRPr>
            </a:pPr>
            <a:r>
              <a:t>Instagram</a:t>
            </a:r>
          </a:p>
        </p:txBody>
      </p:sp>
      <p:sp>
        <p:nvSpPr>
          <p:cNvPr id="36" name="TextBox 35"/>
          <p:cNvSpPr txBox="1"/>
          <p:nvPr/>
        </p:nvSpPr>
        <p:spPr>
          <a:xfrm>
            <a:off x="7680960" y="4700016"/>
            <a:ext cx="3840480" cy="594360"/>
          </a:xfrm>
          <a:prstGeom prst="rect">
            <a:avLst/>
          </a:prstGeom>
          <a:noFill/>
        </p:spPr>
        <p:txBody>
          <a:bodyPr wrap="square">
            <a:spAutoFit/>
          </a:bodyPr>
          <a:lstStyle/>
          <a:p>
            <a:pPr algn="l">
              <a:defRPr sz="1400" b="0">
                <a:solidFill>
                  <a:srgbClr val="1E293B"/>
                </a:solidFill>
                <a:latin typeface="Calibri"/>
              </a:defRPr>
            </a:pPr>
            <a:r>
              <a:t>Feed generation, media storage, CDN, social graph</a:t>
            </a:r>
          </a:p>
        </p:txBody>
      </p:sp>
      <p:sp>
        <p:nvSpPr>
          <p:cNvPr id="37" name="Rounded Rectangle 36"/>
          <p:cNvSpPr/>
          <p:nvPr/>
        </p:nvSpPr>
        <p:spPr>
          <a:xfrm>
            <a:off x="502920" y="5586984"/>
            <a:ext cx="5440680" cy="960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02920" y="5586984"/>
            <a:ext cx="1371600"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94360" y="5879592"/>
            <a:ext cx="1234440" cy="320040"/>
          </a:xfrm>
          <a:prstGeom prst="rect">
            <a:avLst/>
          </a:prstGeom>
          <a:noFill/>
        </p:spPr>
        <p:txBody>
          <a:bodyPr wrap="square">
            <a:spAutoFit/>
          </a:bodyPr>
          <a:lstStyle/>
          <a:p>
            <a:pPr algn="ctr">
              <a:defRPr sz="1400" b="1">
                <a:solidFill>
                  <a:srgbClr val="FFFFFF"/>
                </a:solidFill>
                <a:latin typeface="Calibri"/>
              </a:defRPr>
            </a:pPr>
            <a:r>
              <a:t>Zoom</a:t>
            </a:r>
          </a:p>
        </p:txBody>
      </p:sp>
      <p:sp>
        <p:nvSpPr>
          <p:cNvPr id="40" name="TextBox 39"/>
          <p:cNvSpPr txBox="1"/>
          <p:nvPr/>
        </p:nvSpPr>
        <p:spPr>
          <a:xfrm>
            <a:off x="2011680" y="5788152"/>
            <a:ext cx="3840480" cy="594360"/>
          </a:xfrm>
          <a:prstGeom prst="rect">
            <a:avLst/>
          </a:prstGeom>
          <a:noFill/>
        </p:spPr>
        <p:txBody>
          <a:bodyPr wrap="square">
            <a:spAutoFit/>
          </a:bodyPr>
          <a:lstStyle/>
          <a:p>
            <a:pPr algn="l">
              <a:defRPr sz="1400" b="0">
                <a:solidFill>
                  <a:srgbClr val="1E293B"/>
                </a:solidFill>
                <a:latin typeface="Calibri"/>
              </a:defRPr>
            </a:pPr>
            <a:r>
              <a:t>WebRTC, SFU/MCU, low-latency video, screen sharing</a:t>
            </a:r>
          </a:p>
        </p:txBody>
      </p:sp>
      <p:sp>
        <p:nvSpPr>
          <p:cNvPr id="41" name="Rounded Rectangle 40"/>
          <p:cNvSpPr/>
          <p:nvPr/>
        </p:nvSpPr>
        <p:spPr>
          <a:xfrm>
            <a:off x="6172200" y="5586984"/>
            <a:ext cx="5440680" cy="960120"/>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172200" y="5586984"/>
            <a:ext cx="1371600" cy="960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63640" y="5879592"/>
            <a:ext cx="1234440" cy="320040"/>
          </a:xfrm>
          <a:prstGeom prst="rect">
            <a:avLst/>
          </a:prstGeom>
          <a:noFill/>
        </p:spPr>
        <p:txBody>
          <a:bodyPr wrap="square">
            <a:spAutoFit/>
          </a:bodyPr>
          <a:lstStyle/>
          <a:p>
            <a:pPr algn="ctr">
              <a:defRPr sz="1400" b="1">
                <a:solidFill>
                  <a:srgbClr val="FFFFFF"/>
                </a:solidFill>
                <a:latin typeface="Calibri"/>
              </a:defRPr>
            </a:pPr>
            <a:r>
              <a:t>Airbnb</a:t>
            </a:r>
          </a:p>
        </p:txBody>
      </p:sp>
      <p:sp>
        <p:nvSpPr>
          <p:cNvPr id="44" name="TextBox 43"/>
          <p:cNvSpPr txBox="1"/>
          <p:nvPr/>
        </p:nvSpPr>
        <p:spPr>
          <a:xfrm>
            <a:off x="7680960" y="5788152"/>
            <a:ext cx="3840480" cy="594360"/>
          </a:xfrm>
          <a:prstGeom prst="rect">
            <a:avLst/>
          </a:prstGeom>
          <a:noFill/>
        </p:spPr>
        <p:txBody>
          <a:bodyPr wrap="square">
            <a:spAutoFit/>
          </a:bodyPr>
          <a:lstStyle/>
          <a:p>
            <a:pPr algn="l">
              <a:defRPr sz="1400" b="0">
                <a:solidFill>
                  <a:srgbClr val="1E293B"/>
                </a:solidFill>
                <a:latin typeface="Calibri"/>
              </a:defRPr>
            </a:pPr>
            <a:r>
              <a:t>Search, booking, payments, geolocation, reviews</a:t>
            </a:r>
          </a:p>
        </p:txBody>
      </p:sp>
      <p:sp>
        <p:nvSpPr>
          <p:cNvPr id="45" name="Rectangle 4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Search Autocomplete — HLD Glimpse</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Suggesting completions as the user types</a:t>
            </a:r>
          </a:p>
        </p:txBody>
      </p:sp>
      <p:sp>
        <p:nvSpPr>
          <p:cNvPr id="5" name="Rounded Rectangle 4"/>
          <p:cNvSpPr/>
          <p:nvPr/>
        </p:nvSpPr>
        <p:spPr>
          <a:xfrm>
            <a:off x="502920" y="1024128"/>
            <a:ext cx="11155680" cy="347472"/>
          </a:xfrm>
          <a:prstGeom prst="roundRect">
            <a:avLst/>
          </a:prstGeom>
          <a:solidFill>
            <a:srgbClr val="E0F2FE"/>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060704"/>
            <a:ext cx="10881360" cy="292608"/>
          </a:xfrm>
          <a:prstGeom prst="rect">
            <a:avLst/>
          </a:prstGeom>
          <a:noFill/>
        </p:spPr>
        <p:txBody>
          <a:bodyPr wrap="square">
            <a:spAutoFit/>
          </a:bodyPr>
          <a:lstStyle/>
          <a:p>
            <a:pPr algn="l">
              <a:defRPr sz="1200" b="1">
                <a:solidFill>
                  <a:srgbClr val="1A56DB"/>
                </a:solidFill>
                <a:latin typeface="Calibri"/>
              </a:defRPr>
            </a:pPr>
            <a:r>
              <a:t>In our example (WhatsApp-like Chat System): Contact search uses trie + cache for instant autocomplete.</a:t>
            </a:r>
          </a:p>
        </p:txBody>
      </p:sp>
      <p:sp>
        <p:nvSpPr>
          <p:cNvPr id="7" name="Rectangle 6"/>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9" name="TextBox 8"/>
          <p:cNvSpPr txBox="1"/>
          <p:nvPr/>
        </p:nvSpPr>
        <p:spPr>
          <a:xfrm>
            <a:off x="548640" y="1444752"/>
            <a:ext cx="11064240" cy="749808"/>
          </a:xfrm>
          <a:prstGeom prst="rect">
            <a:avLst/>
          </a:prstGeom>
          <a:noFill/>
        </p:spPr>
        <p:txBody>
          <a:bodyPr wrap="square">
            <a:spAutoFit/>
          </a:bodyPr>
          <a:lstStyle/>
          <a:p>
            <a:pPr algn="l">
              <a:defRPr sz="1400" b="0">
                <a:solidFill>
                  <a:srgbClr val="1E293B"/>
                </a:solidFill>
                <a:latin typeface="Calibri"/>
              </a:defRPr>
            </a:pPr>
            <a:r>
              <a:t>Autocomplete suggests matching results as the user types each character. A trie (prefix tree) stores all searchable strings; hot prefixes are cached in Redis for sub-10ms responses.</a:t>
            </a:r>
          </a:p>
        </p:txBody>
      </p:sp>
      <p:sp>
        <p:nvSpPr>
          <p:cNvPr id="10" name="TextBox 9"/>
          <p:cNvSpPr txBox="1"/>
          <p:nvPr/>
        </p:nvSpPr>
        <p:spPr>
          <a:xfrm>
            <a:off x="548640" y="2286000"/>
            <a:ext cx="11064240" cy="4105656"/>
          </a:xfrm>
          <a:prstGeom prst="rect">
            <a:avLst/>
          </a:prstGeom>
          <a:noFill/>
        </p:spPr>
        <p:txBody>
          <a:bodyPr wrap="square">
            <a:spAutoFit/>
          </a:bodyPr>
          <a:lstStyle/>
          <a:p>
            <a:pPr>
              <a:spcAft>
                <a:spcPts val="500"/>
              </a:spcAft>
              <a:defRPr sz="1400" b="1">
                <a:solidFill>
                  <a:srgbClr val="1E293B"/>
                </a:solidFill>
                <a:latin typeface="Calibri"/>
              </a:defRPr>
            </a:pPr>
            <a:r>
              <a:t>• Trie: tree where each path represents a prefix — type 'hel' → hello, help</a:t>
            </a:r>
          </a:p>
          <a:p>
            <a:pPr>
              <a:spcAft>
                <a:spcPts val="500"/>
              </a:spcAft>
              <a:defRPr sz="1400" b="1">
                <a:solidFill>
                  <a:srgbClr val="1E293B"/>
                </a:solidFill>
                <a:latin typeface="Calibri"/>
              </a:defRPr>
            </a:pPr>
            <a:r>
              <a:t>• Cache top 1000 popular prefixes in Redis for instant hits</a:t>
            </a:r>
          </a:p>
          <a:p>
            <a:pPr>
              <a:spcAft>
                <a:spcPts val="500"/>
              </a:spcAft>
              <a:defRPr sz="1400" b="1">
                <a:solidFill>
                  <a:srgbClr val="1E293B"/>
                </a:solidFill>
                <a:latin typeface="Calibri"/>
              </a:defRPr>
            </a:pPr>
            <a:r>
              <a:t>• Ranking: sort by frequency, recency, and relevance</a:t>
            </a:r>
          </a:p>
          <a:p>
            <a:pPr>
              <a:spcAft>
                <a:spcPts val="500"/>
              </a:spcAft>
              <a:defRPr sz="1400" b="1">
                <a:solidFill>
                  <a:srgbClr val="1E293B"/>
                </a:solidFill>
                <a:latin typeface="Calibri"/>
              </a:defRPr>
            </a:pPr>
            <a:r>
              <a:t>• Build index nightly from search analytics logs</a:t>
            </a:r>
          </a:p>
          <a:p>
            <a:pPr>
              <a:spcAft>
                <a:spcPts val="500"/>
              </a:spcAft>
              <a:defRPr sz="1400" b="1">
                <a:solidFill>
                  <a:srgbClr val="1E293B"/>
                </a:solidFill>
                <a:latin typeface="Calibri"/>
              </a:defRPr>
            </a:pPr>
            <a:r>
              <a:t>• Target latency: under 50ms — trie lookup + cache ≈ sub-10ms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560320"/>
            <a:ext cx="10515600" cy="914400"/>
          </a:xfrm>
          <a:prstGeom prst="rect">
            <a:avLst/>
          </a:prstGeom>
          <a:noFill/>
        </p:spPr>
        <p:txBody>
          <a:bodyPr wrap="square">
            <a:spAutoFit/>
          </a:bodyPr>
          <a:lstStyle/>
          <a:p>
            <a:pPr algn="l">
              <a:defRPr sz="3800" b="1">
                <a:solidFill>
                  <a:srgbClr val="FFFFFF"/>
                </a:solidFill>
                <a:latin typeface="Calibri"/>
              </a:defRPr>
            </a:pPr>
            <a:r>
              <a:t>LOW LEVEL DESIGN (LLD)</a:t>
            </a:r>
          </a:p>
        </p:txBody>
      </p:sp>
      <p:sp>
        <p:nvSpPr>
          <p:cNvPr id="4" name="TextBox 3"/>
          <p:cNvSpPr txBox="1"/>
          <p:nvPr/>
        </p:nvSpPr>
        <p:spPr>
          <a:xfrm>
            <a:off x="731520" y="3657600"/>
            <a:ext cx="10515600" cy="640080"/>
          </a:xfrm>
          <a:prstGeom prst="rect">
            <a:avLst/>
          </a:prstGeom>
          <a:noFill/>
        </p:spPr>
        <p:txBody>
          <a:bodyPr wrap="square">
            <a:spAutoFit/>
          </a:bodyPr>
          <a:lstStyle/>
          <a:p>
            <a:pPr algn="l">
              <a:defRPr sz="2000" b="0">
                <a:solidFill>
                  <a:srgbClr val="00B4D8"/>
                </a:solidFill>
                <a:latin typeface="Calibri"/>
              </a:defRPr>
            </a:pPr>
            <a:r>
              <a:t>Classes, Patterns, Concurrency &amp; Code Structure</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OOP — Object-Oriented Programming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Four pillars of structuring code around objects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OOP organizes code into objects that bundle data and behavior. The four pillars — encapsulation, abstraction, inheritance, and polymorphism — help model real-world entities in LLD problems like Parking Lot.</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Encapsulation: bundle data + methods; hide internal state (ParkingLot hides slot logic)</a:t>
            </a:r>
          </a:p>
          <a:p>
            <a:pPr>
              <a:spcAft>
                <a:spcPts val="500"/>
              </a:spcAft>
              <a:defRPr sz="1400" b="1">
                <a:solidFill>
                  <a:srgbClr val="1E293B"/>
                </a:solidFill>
                <a:latin typeface="Calibri"/>
              </a:defRPr>
            </a:pPr>
            <a:r>
              <a:t>• Abstraction: show only essentials — user calls park(vehicle), not slot-finding details</a:t>
            </a:r>
          </a:p>
          <a:p>
            <a:pPr>
              <a:spcAft>
                <a:spcPts val="500"/>
              </a:spcAft>
              <a:defRPr sz="1400" b="1">
                <a:solidFill>
                  <a:srgbClr val="1E293B"/>
                </a:solidFill>
                <a:latin typeface="Calibri"/>
              </a:defRPr>
            </a:pPr>
            <a:r>
              <a:t>• Inheritance: Car, Motorcycle, Truck extend Vehicle base class</a:t>
            </a:r>
          </a:p>
          <a:p>
            <a:pPr>
              <a:spcAft>
                <a:spcPts val="500"/>
              </a:spcAft>
              <a:defRPr sz="1400" b="1">
                <a:solidFill>
                  <a:srgbClr val="1E293B"/>
                </a:solidFill>
                <a:latin typeface="Calibri"/>
              </a:defRPr>
            </a:pPr>
            <a:r>
              <a:t>• Polymorphism: vehicle.getSpotSize() returns different size per vehicle type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SOLID Principles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Five rules for maintainable, extensible code</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SOLID principles guide class design so code stays flexible as requirements change. Essential in LLD interviews — apply them to problems like Parking Lot.</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S — Single Responsibility: Ticket manages ticket data; Payment handles payment</a:t>
            </a:r>
          </a:p>
          <a:p>
            <a:pPr>
              <a:spcAft>
                <a:spcPts val="500"/>
              </a:spcAft>
              <a:defRPr sz="1400" b="1">
                <a:solidFill>
                  <a:srgbClr val="1E293B"/>
                </a:solidFill>
                <a:latin typeface="Calibri"/>
              </a:defRPr>
            </a:pPr>
            <a:r>
              <a:t>• O — Open/Closed: add new Vehicle type without changing ParkingLot logic</a:t>
            </a:r>
          </a:p>
          <a:p>
            <a:pPr>
              <a:spcAft>
                <a:spcPts val="500"/>
              </a:spcAft>
              <a:defRPr sz="1400" b="1">
                <a:solidFill>
                  <a:srgbClr val="1E293B"/>
                </a:solidFill>
                <a:latin typeface="Calibri"/>
              </a:defRPr>
            </a:pPr>
            <a:r>
              <a:t>• L — Liskov Substitution: any Vehicle subclass works wherever Vehicle is expected</a:t>
            </a:r>
          </a:p>
          <a:p>
            <a:pPr>
              <a:spcAft>
                <a:spcPts val="500"/>
              </a:spcAft>
              <a:defRPr sz="1400" b="1">
                <a:solidFill>
                  <a:srgbClr val="1E293B"/>
                </a:solidFill>
                <a:latin typeface="Calibri"/>
              </a:defRPr>
            </a:pPr>
            <a:r>
              <a:t>• I — Interface Segregation: PaidParking vs FreeParking — separate interfaces</a:t>
            </a:r>
          </a:p>
          <a:p>
            <a:pPr>
              <a:spcAft>
                <a:spcPts val="500"/>
              </a:spcAft>
              <a:defRPr sz="1400" b="1">
                <a:solidFill>
                  <a:srgbClr val="1E293B"/>
                </a:solidFill>
                <a:latin typeface="Calibri"/>
              </a:defRPr>
            </a:pPr>
            <a:r>
              <a:t>• D — Dependency Inversion: ParkingLot depends on PaymentStrategy, not CashPayment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Coupling, Cohesion &amp; Composition</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How modules relate to each other</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Low coupling means modules depend little on each other. High cohesion means each module has one focused purpose. Prefer composition (has-a) over inheritance (is-a) unless a true subtype relationship exists.</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Coupling: degree of interdependence — keep it loose for easier testing</a:t>
            </a:r>
          </a:p>
          <a:p>
            <a:pPr>
              <a:spcAft>
                <a:spcPts val="500"/>
              </a:spcAft>
              <a:defRPr sz="1400" b="1">
                <a:solidFill>
                  <a:srgbClr val="1E293B"/>
                </a:solidFill>
                <a:latin typeface="Calibri"/>
              </a:defRPr>
            </a:pPr>
            <a:r>
              <a:t>• Cohesion: how focused a module's responsibilities are — keep it high</a:t>
            </a:r>
          </a:p>
          <a:p>
            <a:pPr>
              <a:spcAft>
                <a:spcPts val="500"/>
              </a:spcAft>
              <a:defRPr sz="1400" b="1">
                <a:solidFill>
                  <a:srgbClr val="1E293B"/>
                </a:solidFill>
                <a:latin typeface="Calibri"/>
              </a:defRPr>
            </a:pPr>
            <a:r>
              <a:t>• Composition over inheritance: ParkingLot HAS-A list of Slots</a:t>
            </a:r>
          </a:p>
          <a:p>
            <a:pPr>
              <a:spcAft>
                <a:spcPts val="500"/>
              </a:spcAft>
              <a:defRPr sz="1400" b="1">
                <a:solidFill>
                  <a:srgbClr val="1E293B"/>
                </a:solidFill>
                <a:latin typeface="Calibri"/>
              </a:defRPr>
            </a:pPr>
            <a:r>
              <a:t>• Inherit when genuine 'is-a': Car IS-A Vehicle with shared behavior</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Design Patterns — Creational</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Patterns for object creation</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Creational patterns control how objects are instantiated — hiding construction complexity and ensuring the right object type is created.</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Singleton: one instance only — DatabaseConnection pool</a:t>
            </a:r>
          </a:p>
          <a:p>
            <a:pPr>
              <a:spcAft>
                <a:spcPts val="500"/>
              </a:spcAft>
              <a:defRPr sz="1400" b="1">
                <a:solidFill>
                  <a:srgbClr val="1E293B"/>
                </a:solidFill>
                <a:latin typeface="Calibri"/>
              </a:defRPr>
            </a:pPr>
            <a:r>
              <a:t>• Factory Method: VehicleFactory.create(type) → Car or Truck</a:t>
            </a:r>
          </a:p>
          <a:p>
            <a:pPr>
              <a:spcAft>
                <a:spcPts val="500"/>
              </a:spcAft>
              <a:defRPr sz="1400" b="1">
                <a:solidFill>
                  <a:srgbClr val="1E293B"/>
                </a:solidFill>
                <a:latin typeface="Calibri"/>
              </a:defRPr>
            </a:pPr>
            <a:r>
              <a:t>• Abstract Factory: UIFactory creates button + dialog for Windows/Mac</a:t>
            </a:r>
          </a:p>
          <a:p>
            <a:pPr>
              <a:spcAft>
                <a:spcPts val="500"/>
              </a:spcAft>
              <a:defRPr sz="1400" b="1">
                <a:solidFill>
                  <a:srgbClr val="1E293B"/>
                </a:solidFill>
                <a:latin typeface="Calibri"/>
              </a:defRPr>
            </a:pPr>
            <a:r>
              <a:t>• Builder: MessageBuilder.setText().setMedia().build() step by step</a:t>
            </a:r>
          </a:p>
          <a:p>
            <a:pPr>
              <a:spcAft>
                <a:spcPts val="500"/>
              </a:spcAft>
              <a:defRPr sz="1400" b="1">
                <a:solidFill>
                  <a:srgbClr val="1E293B"/>
                </a:solidFill>
                <a:latin typeface="Calibri"/>
              </a:defRPr>
            </a:pPr>
            <a:r>
              <a:t>• Prototype: clone message template for broadcast to group members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Design Patterns — Structural</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Patterns for composing classes and objects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Structural patterns help combine classes and objects into larger structures while keeping them flexible and efficient.</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Adapter: wrap legacy API to match new PaymentGateway interface</a:t>
            </a:r>
          </a:p>
          <a:p>
            <a:pPr>
              <a:spcAft>
                <a:spcPts val="500"/>
              </a:spcAft>
              <a:defRPr sz="1400" b="1">
                <a:solidFill>
                  <a:srgbClr val="1E293B"/>
                </a:solidFill>
                <a:latin typeface="Calibri"/>
              </a:defRPr>
            </a:pPr>
            <a:r>
              <a:t>• Facade: ChatFacade.sendMessage() hides DB, cache, queue complexity</a:t>
            </a:r>
          </a:p>
          <a:p>
            <a:pPr>
              <a:spcAft>
                <a:spcPts val="500"/>
              </a:spcAft>
              <a:defRPr sz="1400" b="1">
                <a:solidFill>
                  <a:srgbClr val="1E293B"/>
                </a:solidFill>
                <a:latin typeface="Calibri"/>
              </a:defRPr>
            </a:pPr>
            <a:r>
              <a:t>• Decorator: EncryptedMessageDecorator adds encryption to Message</a:t>
            </a:r>
          </a:p>
          <a:p>
            <a:pPr>
              <a:spcAft>
                <a:spcPts val="500"/>
              </a:spcAft>
              <a:defRPr sz="1400" b="1">
                <a:solidFill>
                  <a:srgbClr val="1E293B"/>
                </a:solidFill>
                <a:latin typeface="Calibri"/>
              </a:defRPr>
            </a:pPr>
            <a:r>
              <a:t>• Proxy: MessageProxy lazy-loads body from S3 when user opens it</a:t>
            </a:r>
          </a:p>
          <a:p>
            <a:pPr>
              <a:spcAft>
                <a:spcPts val="500"/>
              </a:spcAft>
              <a:defRPr sz="1400" b="1">
                <a:solidFill>
                  <a:srgbClr val="1E293B"/>
                </a:solidFill>
                <a:latin typeface="Calibri"/>
              </a:defRPr>
            </a:pPr>
            <a:r>
              <a:t>• Composite: ChatItem can be Message or MessageGroup uniformly</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Design Patterns — Behavioral</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Patterns for communication between objects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Behavioral patterns define how objects interact and distribute responsibility — essential for event handling, notifications, and workflow logic.</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Observer: User subscribes to Chat; notified on new Message</a:t>
            </a:r>
          </a:p>
          <a:p>
            <a:pPr>
              <a:spcAft>
                <a:spcPts val="500"/>
              </a:spcAft>
              <a:defRPr sz="1400" b="1">
                <a:solidFill>
                  <a:srgbClr val="1E293B"/>
                </a:solidFill>
                <a:latin typeface="Calibri"/>
              </a:defRPr>
            </a:pPr>
            <a:r>
              <a:t>• Strategy: NotificationStrategy — Push / SMS / Email interchangeable</a:t>
            </a:r>
          </a:p>
          <a:p>
            <a:pPr>
              <a:spcAft>
                <a:spcPts val="500"/>
              </a:spcAft>
              <a:defRPr sz="1400" b="1">
                <a:solidFill>
                  <a:srgbClr val="1E293B"/>
                </a:solidFill>
                <a:latin typeface="Calibri"/>
              </a:defRPr>
            </a:pPr>
            <a:r>
              <a:t>• State: MessageState Sent → Delivered → Read changes available actions</a:t>
            </a:r>
          </a:p>
          <a:p>
            <a:pPr>
              <a:spcAft>
                <a:spcPts val="500"/>
              </a:spcAft>
              <a:defRPr sz="1400" b="1">
                <a:solidFill>
                  <a:srgbClr val="1E293B"/>
                </a:solidFill>
                <a:latin typeface="Calibri"/>
              </a:defRPr>
            </a:pPr>
            <a:r>
              <a:t>• Chain of Responsibility: SpamFilter → ProfanityFilter → DeliverMessage</a:t>
            </a:r>
          </a:p>
          <a:p>
            <a:pPr>
              <a:spcAft>
                <a:spcPts val="500"/>
              </a:spcAft>
              <a:defRPr sz="1400" b="1">
                <a:solidFill>
                  <a:srgbClr val="1E293B"/>
                </a:solidFill>
                <a:latin typeface="Calibri"/>
              </a:defRPr>
            </a:pPr>
            <a:r>
              <a:t>• Command: SendMessageCommand with undo support</a:t>
            </a:r>
          </a:p>
          <a:p>
            <a:pPr>
              <a:spcAft>
                <a:spcPts val="500"/>
              </a:spcAft>
              <a:defRPr sz="1400" b="1">
                <a:solidFill>
                  <a:srgbClr val="1E293B"/>
                </a:solidFill>
                <a:latin typeface="Calibri"/>
              </a:defRPr>
            </a:pPr>
            <a:r>
              <a:t>• Mediator: ChatRoomMediator coordinates Users without direct coupling</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Concurrency &amp; Thread Safety</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Correct behavior when multiple threads access shared state</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When multiple threads run concurrently, shared data must be protected. Race conditions, deadlocks, and lost updates are common bugs — solved with locks, thread-safe collections, and thread pools.</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Thread safety: unread count increment must be atomic</a:t>
            </a:r>
          </a:p>
          <a:p>
            <a:pPr>
              <a:spcAft>
                <a:spcPts val="500"/>
              </a:spcAft>
              <a:defRPr sz="1400" b="1">
                <a:solidFill>
                  <a:srgbClr val="1E293B"/>
                </a:solidFill>
                <a:latin typeface="Calibri"/>
              </a:defRPr>
            </a:pPr>
            <a:r>
              <a:t>• Dependency injection: inject MessageRepository, Notifier into ChatService</a:t>
            </a:r>
          </a:p>
          <a:p>
            <a:pPr>
              <a:spcAft>
                <a:spcPts val="500"/>
              </a:spcAft>
              <a:defRPr sz="1400" b="1">
                <a:solidFill>
                  <a:srgbClr val="1E293B"/>
                </a:solidFill>
                <a:latin typeface="Calibri"/>
              </a:defRPr>
            </a:pPr>
            <a:r>
              <a:t>• Locking: synchronized(chatId) or Read-Write locks for message lists</a:t>
            </a:r>
          </a:p>
          <a:p>
            <a:pPr>
              <a:spcAft>
                <a:spcPts val="500"/>
              </a:spcAft>
              <a:defRPr sz="1400" b="1">
                <a:solidFill>
                  <a:srgbClr val="1E293B"/>
                </a:solidFill>
                <a:latin typeface="Calibri"/>
              </a:defRPr>
            </a:pPr>
            <a:r>
              <a:t>• Producer-Consumer: MessageProducer enqueues; workers dequeue &amp; deliver</a:t>
            </a:r>
          </a:p>
          <a:p>
            <a:pPr>
              <a:spcAft>
                <a:spcPts val="500"/>
              </a:spcAft>
              <a:defRPr sz="1400" b="1">
                <a:solidFill>
                  <a:srgbClr val="1E293B"/>
                </a:solidFill>
                <a:latin typeface="Calibri"/>
              </a:defRPr>
            </a:pPr>
            <a:r>
              <a:t>• ConcurrentHashMap for thread-safe online user registry</a:t>
            </a:r>
          </a:p>
          <a:p>
            <a:pPr>
              <a:spcAft>
                <a:spcPts val="500"/>
              </a:spcAft>
              <a:defRPr sz="1400" b="1">
                <a:solidFill>
                  <a:srgbClr val="1E293B"/>
                </a:solidFill>
                <a:latin typeface="Calibri"/>
              </a:defRPr>
            </a:pPr>
            <a:r>
              <a:t>• Thread pool: ExecutorService with fixed workers for delivery tasks</a:t>
            </a:r>
          </a:p>
          <a:p>
            <a:pPr>
              <a:spcAft>
                <a:spcPts val="500"/>
              </a:spcAft>
              <a:defRPr sz="1400" b="1">
                <a:solidFill>
                  <a:srgbClr val="1E293B"/>
                </a:solidFill>
                <a:latin typeface="Calibri"/>
              </a:defRPr>
            </a:pPr>
            <a:r>
              <a:t>• Deadlock: Thread A locks chat1→waits chat2; Thread B does reverse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UML Diagrams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Visual blueprints for class and interaction design</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UML diagrams communicate design before coding. Class diagrams show structure; sequence diagrams show message flow over time; state diagrams show lifecycle transitions.</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Class diagram: ParkingLot, Slot, Vehicle, Ticket — attributes &amp; relationships</a:t>
            </a:r>
          </a:p>
          <a:p>
            <a:pPr>
              <a:spcAft>
                <a:spcPts val="500"/>
              </a:spcAft>
              <a:defRPr sz="1400" b="1">
                <a:solidFill>
                  <a:srgbClr val="1E293B"/>
                </a:solidFill>
                <a:latin typeface="Calibri"/>
              </a:defRPr>
            </a:pPr>
            <a:r>
              <a:t>• Sequence diagram: User → ChatService → Repository → DB for sendMessage</a:t>
            </a:r>
          </a:p>
          <a:p>
            <a:pPr>
              <a:spcAft>
                <a:spcPts val="500"/>
              </a:spcAft>
              <a:defRPr sz="1400" b="1">
                <a:solidFill>
                  <a:srgbClr val="1E293B"/>
                </a:solidFill>
                <a:latin typeface="Calibri"/>
              </a:defRPr>
            </a:pPr>
            <a:r>
              <a:t>• State diagram: Message lifecycle Composing → Sent → Delivered → Read</a:t>
            </a:r>
          </a:p>
          <a:p>
            <a:pPr>
              <a:spcAft>
                <a:spcPts val="500"/>
              </a:spcAft>
              <a:defRPr sz="1400" b="1">
                <a:solidFill>
                  <a:srgbClr val="1E293B"/>
                </a:solidFill>
                <a:latin typeface="Calibri"/>
              </a:defRPr>
            </a:pPr>
            <a:r>
              <a:t>• Activity diagram: receive → validate → store → notify → ack</a:t>
            </a:r>
          </a:p>
          <a:p>
            <a:pPr>
              <a:spcAft>
                <a:spcPts val="500"/>
              </a:spcAft>
              <a:defRPr sz="1400" b="1">
                <a:solidFill>
                  <a:srgbClr val="1E293B"/>
                </a:solidFill>
                <a:latin typeface="Calibri"/>
              </a:defRPr>
            </a:pPr>
            <a:r>
              <a:t>• Use case diagram: User sends msg; Admin bans user, views analytics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API Design — Request/Response Modeling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Designing clean, extensible API contracts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Good API design uses consistent naming, validated DTOs, standard error codes, and cursor-based pagination for real-time data. Version APIs so new fields don't break existing clients.</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RESTful endpoints: POST /v1/chats/{chatId}/messages</a:t>
            </a:r>
          </a:p>
          <a:p>
            <a:pPr>
              <a:spcAft>
                <a:spcPts val="500"/>
              </a:spcAft>
              <a:defRPr sz="1400" b="1">
                <a:solidFill>
                  <a:srgbClr val="1E293B"/>
                </a:solidFill>
                <a:latin typeface="Calibri"/>
              </a:defRPr>
            </a:pPr>
            <a:r>
              <a:t>• Request DTO: SendMessageRequest { text, mediaId, replyToId }</a:t>
            </a:r>
          </a:p>
          <a:p>
            <a:pPr>
              <a:spcAft>
                <a:spcPts val="500"/>
              </a:spcAft>
              <a:defRPr sz="1400" b="1">
                <a:solidFill>
                  <a:srgbClr val="1E293B"/>
                </a:solidFill>
                <a:latin typeface="Calibri"/>
              </a:defRPr>
            </a:pPr>
            <a:r>
              <a:t>• Response: { messageId, status, timestamp, serverSeq }</a:t>
            </a:r>
          </a:p>
          <a:p>
            <a:pPr>
              <a:spcAft>
                <a:spcPts val="500"/>
              </a:spcAft>
              <a:defRPr sz="1400" b="1">
                <a:solidFill>
                  <a:srgbClr val="1E293B"/>
                </a:solidFill>
                <a:latin typeface="Calibri"/>
              </a:defRPr>
            </a:pPr>
            <a:r>
              <a:t>• Errors: 400 Bad Request, 401 Unauthorized, 429 Rate Limited</a:t>
            </a:r>
          </a:p>
          <a:p>
            <a:pPr>
              <a:spcAft>
                <a:spcPts val="500"/>
              </a:spcAft>
              <a:defRPr sz="1400" b="1">
                <a:solidFill>
                  <a:srgbClr val="1E293B"/>
                </a:solidFill>
                <a:latin typeface="Calibri"/>
              </a:defRPr>
            </a:pPr>
            <a:r>
              <a:t>• Pagination: cursor-based for messages — GET /messages?cursor=abc&amp;limit=50</a:t>
            </a:r>
          </a:p>
          <a:p>
            <a:pPr>
              <a:spcAft>
                <a:spcPts val="500"/>
              </a:spcAft>
              <a:defRPr sz="1400" b="1">
                <a:solidFill>
                  <a:srgbClr val="1E293B"/>
                </a:solidFill>
                <a:latin typeface="Calibri"/>
              </a:defRPr>
            </a:pPr>
            <a:r>
              <a:t>• Versioning: /v1/ or /v2/ path; optional fields for backward compatibility</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Clean Code &amp; Avoiding God Classes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Writing readable, maintainable, and testable code</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Clean code is easy to read, change, and test. It follows simple principles — DRY, KISS, YAGNI — and keeps each class focused on one job. A God Class tries to do everything and becomes impossible to maintain; split it into smaller, named services.</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300" b="1">
                <a:solidFill>
                  <a:srgbClr val="1E293B"/>
                </a:solidFill>
                <a:latin typeface="Calibri"/>
              </a:defRPr>
            </a:pPr>
            <a:r>
              <a:t>• DRY (Don't Repeat Yourself): extract shared logic once — ValidatorUtils, not copy-paste per service</a:t>
            </a:r>
          </a:p>
          <a:p>
            <a:pPr>
              <a:spcAft>
                <a:spcPts val="500"/>
              </a:spcAft>
              <a:defRPr sz="1300" b="1">
                <a:solidFill>
                  <a:srgbClr val="1E293B"/>
                </a:solidFill>
                <a:latin typeface="Calibri"/>
              </a:defRPr>
            </a:pPr>
            <a:r>
              <a:t>• KISS (Keep It Simple): simplest working solution first; add patterns only when complexity grows</a:t>
            </a:r>
          </a:p>
          <a:p>
            <a:pPr>
              <a:spcAft>
                <a:spcPts val="500"/>
              </a:spcAft>
              <a:defRPr sz="1300" b="1">
                <a:solidFill>
                  <a:srgbClr val="1E293B"/>
                </a:solidFill>
                <a:latin typeface="Calibri"/>
              </a:defRPr>
            </a:pPr>
            <a:r>
              <a:t>• YAGNI (You Aren't Gonna Need It): don't build features 'just in case' — e.g. skip video calls in v1 chat</a:t>
            </a:r>
          </a:p>
          <a:p>
            <a:pPr>
              <a:spcAft>
                <a:spcPts val="500"/>
              </a:spcAft>
              <a:defRPr sz="1300" b="1">
                <a:solidFill>
                  <a:srgbClr val="1E293B"/>
                </a:solidFill>
                <a:latin typeface="Calibri"/>
              </a:defRPr>
            </a:pPr>
            <a:r>
              <a:t>• Single-purpose classes: MessageValidator validates, MessageStore saves, MessageNotifier sends</a:t>
            </a:r>
          </a:p>
          <a:p>
            <a:pPr>
              <a:spcAft>
                <a:spcPts val="500"/>
              </a:spcAft>
              <a:defRPr sz="1300" b="1">
                <a:solidFill>
                  <a:srgbClr val="1E293B"/>
                </a:solidFill>
                <a:latin typeface="Calibri"/>
              </a:defRPr>
            </a:pPr>
            <a:r>
              <a:t>• Small functions: one clear job, descriptive name — deliverMessageToRecipient() not process()</a:t>
            </a:r>
          </a:p>
          <a:p>
            <a:pPr>
              <a:spcAft>
                <a:spcPts val="500"/>
              </a:spcAft>
              <a:defRPr sz="1300" b="1">
                <a:solidFill>
                  <a:srgbClr val="1E293B"/>
                </a:solidFill>
                <a:latin typeface="Calibri"/>
              </a:defRPr>
            </a:pPr>
            <a:r>
              <a:t>• God Class symptoms: 2000+ lines, dozens of unrelated methods, hard to unit test</a:t>
            </a:r>
          </a:p>
          <a:p>
            <a:pPr>
              <a:spcAft>
                <a:spcPts val="500"/>
              </a:spcAft>
              <a:defRPr sz="1300" b="1">
                <a:solidFill>
                  <a:srgbClr val="1E293B"/>
                </a:solidFill>
                <a:latin typeface="Calibri"/>
              </a:defRPr>
            </a:pPr>
            <a:r>
              <a:t>• God Class fix: split by responsibility — AuthService, MessageService, MediaService, NotificationService</a:t>
            </a:r>
          </a:p>
          <a:p>
            <a:pPr>
              <a:spcAft>
                <a:spcPts val="500"/>
              </a:spcAft>
              <a:defRPr sz="1300" b="1">
                <a:solidFill>
                  <a:srgbClr val="1E293B"/>
                </a:solidFill>
                <a:latin typeface="Calibri"/>
              </a:defRPr>
            </a:pPr>
            <a:r>
              <a:t>• Comments: explain WHY (business rules), not WHAT the code already shows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MVC, MVP, MVVM &amp; Repository Pattern</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Patterns for separating UI, logic, and data</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These patterns keep presentation separate from business logic. MVC, MVP, and MVVM differ in who drives the UI updates. The Repository pattern hides database/cache details behind an interface so your domain code stays storage-agnostic.</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300" b="1">
                <a:solidFill>
                  <a:srgbClr val="1E293B"/>
                </a:solidFill>
                <a:latin typeface="Calibri"/>
              </a:defRPr>
            </a:pPr>
            <a:r>
              <a:t>• MVC: Model (data) + View (UI) + Controller (handles user input, updates Model &amp; View)</a:t>
            </a:r>
          </a:p>
          <a:p>
            <a:pPr>
              <a:spcAft>
                <a:spcPts val="500"/>
              </a:spcAft>
              <a:defRPr sz="1300" b="1">
                <a:solidFill>
                  <a:srgbClr val="1E293B"/>
                </a:solidFill>
                <a:latin typeface="Calibri"/>
              </a:defRPr>
            </a:pPr>
            <a:r>
              <a:t>• MVC example: ChatController receives send action → updates MessageModel → refreshes ChatView</a:t>
            </a:r>
          </a:p>
          <a:p>
            <a:pPr>
              <a:spcAft>
                <a:spcPts val="500"/>
              </a:spcAft>
              <a:defRPr sz="1300" b="1">
                <a:solidFill>
                  <a:srgbClr val="1E293B"/>
                </a:solidFill>
                <a:latin typeface="Calibri"/>
              </a:defRPr>
            </a:pPr>
            <a:r>
              <a:t>• MVP: View is passive (dumb UI); Presenter fetches data and tells View what to show</a:t>
            </a:r>
          </a:p>
          <a:p>
            <a:pPr>
              <a:spcAft>
                <a:spcPts val="500"/>
              </a:spcAft>
              <a:defRPr sz="1300" b="1">
                <a:solidFill>
                  <a:srgbClr val="1E293B"/>
                </a:solidFill>
                <a:latin typeface="Calibri"/>
              </a:defRPr>
            </a:pPr>
            <a:r>
              <a:t>• MVP example: Android chat — Presenter loads messages, View only renders what Presenter sends</a:t>
            </a:r>
          </a:p>
          <a:p>
            <a:pPr>
              <a:spcAft>
                <a:spcPts val="500"/>
              </a:spcAft>
              <a:defRPr sz="1300" b="1">
                <a:solidFill>
                  <a:srgbClr val="1E293B"/>
                </a:solidFill>
                <a:latin typeface="Calibri"/>
              </a:defRPr>
            </a:pPr>
            <a:r>
              <a:t>• MVVM: View binds to ViewModel; data changes auto-update UI (observers / data binding)</a:t>
            </a:r>
          </a:p>
          <a:p>
            <a:pPr>
              <a:spcAft>
                <a:spcPts val="500"/>
              </a:spcAft>
              <a:defRPr sz="1300" b="1">
                <a:solidFill>
                  <a:srgbClr val="1E293B"/>
                </a:solidFill>
                <a:latin typeface="Calibri"/>
              </a:defRPr>
            </a:pPr>
            <a:r>
              <a:t>• MVVM example: React/SwiftUI — ViewModel exposes messages list; View re-renders on change</a:t>
            </a:r>
          </a:p>
          <a:p>
            <a:pPr>
              <a:spcAft>
                <a:spcPts val="500"/>
              </a:spcAft>
              <a:defRPr sz="1300" b="1">
                <a:solidFill>
                  <a:srgbClr val="1E293B"/>
                </a:solidFill>
                <a:latin typeface="Calibri"/>
              </a:defRPr>
            </a:pPr>
            <a:r>
              <a:t>• Repository: interface (MessageRepository) with implementations for DB, cache, or mock</a:t>
            </a:r>
          </a:p>
          <a:p>
            <a:pPr>
              <a:spcAft>
                <a:spcPts val="500"/>
              </a:spcAft>
              <a:defRPr sz="1300" b="1">
                <a:solidFill>
                  <a:srgbClr val="1E293B"/>
                </a:solidFill>
                <a:latin typeface="Calibri"/>
              </a:defRPr>
            </a:pPr>
            <a:r>
              <a:t>• Benefit: MessageService calls repository interface — swap Cassandra for MongoDB with zero service changes</a:t>
            </a:r>
          </a:p>
          <a:p>
            <a:pPr>
              <a:spcAft>
                <a:spcPts val="500"/>
              </a:spcAft>
              <a:defRPr sz="1300" b="1">
                <a:solidFill>
                  <a:srgbClr val="1E293B"/>
                </a:solidFill>
                <a:latin typeface="Calibri"/>
              </a:defRPr>
            </a:pPr>
            <a:r>
              <a:t>• When to use: MVC for server-rendered web; MVP/MVVM for mobile and SPA frontends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Schema Design, Testability &amp; Domain Modeling</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Database and domain design for LLD</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Schema design defines tables, relationships, and indexes. Domain models mirror real-world entities with enums for states. Design with interfaces for easy unit test mocking.</a:t>
            </a:r>
          </a:p>
        </p:txBody>
      </p:sp>
      <p:sp>
        <p:nvSpPr>
          <p:cNvPr id="8" name="TextBox 7"/>
          <p:cNvSpPr txBox="1"/>
          <p:nvPr/>
        </p:nvSpPr>
        <p:spPr>
          <a:xfrm>
            <a:off x="548640" y="1865376"/>
            <a:ext cx="11064240" cy="4526280"/>
          </a:xfrm>
          <a:prstGeom prst="rect">
            <a:avLst/>
          </a:prstGeom>
          <a:noFill/>
        </p:spPr>
        <p:txBody>
          <a:bodyPr wrap="square">
            <a:spAutoFit/>
          </a:bodyPr>
          <a:lstStyle/>
          <a:p>
            <a:pPr>
              <a:spcAft>
                <a:spcPts val="500"/>
              </a:spcAft>
              <a:defRPr sz="1400" b="1">
                <a:solidFill>
                  <a:srgbClr val="1E293B"/>
                </a:solidFill>
                <a:latin typeface="Calibri"/>
              </a:defRPr>
            </a:pPr>
            <a:r>
              <a:t>• Tables: users, chats, chat_members, messages, message_status</a:t>
            </a:r>
          </a:p>
          <a:p>
            <a:pPr>
              <a:spcAft>
                <a:spcPts val="500"/>
              </a:spcAft>
              <a:defRPr sz="1400" b="1">
                <a:solidFill>
                  <a:srgbClr val="1E293B"/>
                </a:solidFill>
                <a:latin typeface="Calibri"/>
              </a:defRPr>
            </a:pPr>
            <a:r>
              <a:t>• Normalization: separate users from messages via chat_members junction</a:t>
            </a:r>
          </a:p>
          <a:p>
            <a:pPr>
              <a:spcAft>
                <a:spcPts val="500"/>
              </a:spcAft>
              <a:defRPr sz="1400" b="1">
                <a:solidFill>
                  <a:srgbClr val="1E293B"/>
                </a:solidFill>
                <a:latin typeface="Calibri"/>
              </a:defRPr>
            </a:pPr>
            <a:r>
              <a:t>• Index: messages(chat_id, created_at) for fast chat history fetch</a:t>
            </a:r>
          </a:p>
          <a:p>
            <a:pPr>
              <a:spcAft>
                <a:spcPts val="500"/>
              </a:spcAft>
              <a:defRPr sz="1400" b="1">
                <a:solidFill>
                  <a:srgbClr val="1E293B"/>
                </a:solidFill>
                <a:latin typeface="Calibri"/>
              </a:defRPr>
            </a:pPr>
            <a:r>
              <a:t>• Enums: MessageStatus { SENT, DELIVERED, READ, FAILED }</a:t>
            </a:r>
          </a:p>
          <a:p>
            <a:pPr>
              <a:spcAft>
                <a:spcPts val="500"/>
              </a:spcAft>
              <a:defRPr sz="1400" b="1">
                <a:solidFill>
                  <a:srgbClr val="1E293B"/>
                </a:solidFill>
                <a:latin typeface="Calibri"/>
              </a:defRPr>
            </a:pPr>
            <a:r>
              <a:t>• Testability: mock MessageRepository in ChatServiceTest — no real DB</a:t>
            </a:r>
          </a:p>
          <a:p>
            <a:pPr>
              <a:spcAft>
                <a:spcPts val="500"/>
              </a:spcAft>
              <a:defRPr sz="1400" b="1">
                <a:solidFill>
                  <a:srgbClr val="1E293B"/>
                </a:solidFill>
                <a:latin typeface="Calibri"/>
              </a:defRPr>
            </a:pPr>
            <a:r>
              <a:t>• DTOs vs domain: MessageDTO for API; Message entity for business logic</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Common LLD Problems to Practice</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Classic problems that test OOP, patterns, and design skills</a:t>
            </a:r>
          </a:p>
        </p:txBody>
      </p:sp>
      <p:sp>
        <p:nvSpPr>
          <p:cNvPr id="5" name="Rounded Rectangle 4"/>
          <p:cNvSpPr/>
          <p:nvPr/>
        </p:nvSpPr>
        <p:spPr>
          <a:xfrm>
            <a:off x="502920" y="1234440"/>
            <a:ext cx="5440680" cy="960120"/>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02920" y="1234440"/>
            <a:ext cx="1828800" cy="96012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6072" y="1527048"/>
            <a:ext cx="1691640" cy="320040"/>
          </a:xfrm>
          <a:prstGeom prst="rect">
            <a:avLst/>
          </a:prstGeom>
          <a:noFill/>
        </p:spPr>
        <p:txBody>
          <a:bodyPr wrap="square">
            <a:spAutoFit/>
          </a:bodyPr>
          <a:lstStyle/>
          <a:p>
            <a:pPr algn="ctr">
              <a:defRPr sz="1300" b="1">
                <a:solidFill>
                  <a:srgbClr val="FFFFFF"/>
                </a:solidFill>
                <a:latin typeface="Calibri"/>
              </a:defRPr>
            </a:pPr>
            <a:r>
              <a:t>Tic-Tac-Toe / Chess</a:t>
            </a:r>
          </a:p>
        </p:txBody>
      </p:sp>
      <p:sp>
        <p:nvSpPr>
          <p:cNvPr id="8" name="TextBox 7"/>
          <p:cNvSpPr txBox="1"/>
          <p:nvPr/>
        </p:nvSpPr>
        <p:spPr>
          <a:xfrm>
            <a:off x="2423160" y="1435608"/>
            <a:ext cx="3429000" cy="594360"/>
          </a:xfrm>
          <a:prstGeom prst="rect">
            <a:avLst/>
          </a:prstGeom>
          <a:noFill/>
        </p:spPr>
        <p:txBody>
          <a:bodyPr wrap="square">
            <a:spAutoFit/>
          </a:bodyPr>
          <a:lstStyle/>
          <a:p>
            <a:pPr algn="l">
              <a:defRPr sz="1400" b="0">
                <a:solidFill>
                  <a:srgbClr val="1E293B"/>
                </a:solidFill>
                <a:latin typeface="Calibri"/>
              </a:defRPr>
            </a:pPr>
            <a:r>
              <a:t>Game board, rules, turn management, win detection</a:t>
            </a:r>
          </a:p>
        </p:txBody>
      </p:sp>
      <p:sp>
        <p:nvSpPr>
          <p:cNvPr id="9" name="Rounded Rectangle 8"/>
          <p:cNvSpPr/>
          <p:nvPr/>
        </p:nvSpPr>
        <p:spPr>
          <a:xfrm>
            <a:off x="6172200" y="1234440"/>
            <a:ext cx="5440680" cy="960120"/>
          </a:xfrm>
          <a:prstGeom prst="roundRect">
            <a:avLst/>
          </a:prstGeom>
          <a:solidFill>
            <a:srgbClr val="FFFFFF"/>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234440"/>
            <a:ext cx="1828800" cy="9601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527048"/>
            <a:ext cx="1691640" cy="320040"/>
          </a:xfrm>
          <a:prstGeom prst="rect">
            <a:avLst/>
          </a:prstGeom>
          <a:noFill/>
        </p:spPr>
        <p:txBody>
          <a:bodyPr wrap="square">
            <a:spAutoFit/>
          </a:bodyPr>
          <a:lstStyle/>
          <a:p>
            <a:pPr algn="ctr">
              <a:defRPr sz="1300" b="1">
                <a:solidFill>
                  <a:srgbClr val="FFFFFF"/>
                </a:solidFill>
                <a:latin typeface="Calibri"/>
              </a:defRPr>
            </a:pPr>
            <a:r>
              <a:t>Splitwise</a:t>
            </a:r>
          </a:p>
        </p:txBody>
      </p:sp>
      <p:sp>
        <p:nvSpPr>
          <p:cNvPr id="12" name="TextBox 11"/>
          <p:cNvSpPr txBox="1"/>
          <p:nvPr/>
        </p:nvSpPr>
        <p:spPr>
          <a:xfrm>
            <a:off x="8092440" y="1435608"/>
            <a:ext cx="3429000" cy="594360"/>
          </a:xfrm>
          <a:prstGeom prst="rect">
            <a:avLst/>
          </a:prstGeom>
          <a:noFill/>
        </p:spPr>
        <p:txBody>
          <a:bodyPr wrap="square">
            <a:spAutoFit/>
          </a:bodyPr>
          <a:lstStyle/>
          <a:p>
            <a:pPr algn="l">
              <a:defRPr sz="1400" b="0">
                <a:solidFill>
                  <a:srgbClr val="1E293B"/>
                </a:solidFill>
                <a:latin typeface="Calibri"/>
              </a:defRPr>
            </a:pPr>
            <a:r>
              <a:t>Expense splitting, balances, simplify debts</a:t>
            </a:r>
          </a:p>
        </p:txBody>
      </p:sp>
      <p:sp>
        <p:nvSpPr>
          <p:cNvPr id="13" name="Rounded Rectangle 12"/>
          <p:cNvSpPr/>
          <p:nvPr/>
        </p:nvSpPr>
        <p:spPr>
          <a:xfrm>
            <a:off x="502920" y="2322576"/>
            <a:ext cx="5440680" cy="960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02920" y="2322576"/>
            <a:ext cx="1828800"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6072" y="2615184"/>
            <a:ext cx="1691640" cy="320040"/>
          </a:xfrm>
          <a:prstGeom prst="rect">
            <a:avLst/>
          </a:prstGeom>
          <a:noFill/>
        </p:spPr>
        <p:txBody>
          <a:bodyPr wrap="square">
            <a:spAutoFit/>
          </a:bodyPr>
          <a:lstStyle/>
          <a:p>
            <a:pPr algn="ctr">
              <a:defRPr sz="1300" b="1">
                <a:solidFill>
                  <a:srgbClr val="FFFFFF"/>
                </a:solidFill>
                <a:latin typeface="Calibri"/>
              </a:defRPr>
            </a:pPr>
            <a:r>
              <a:t>Parking Lot</a:t>
            </a:r>
          </a:p>
        </p:txBody>
      </p:sp>
      <p:sp>
        <p:nvSpPr>
          <p:cNvPr id="16" name="TextBox 15"/>
          <p:cNvSpPr txBox="1"/>
          <p:nvPr/>
        </p:nvSpPr>
        <p:spPr>
          <a:xfrm>
            <a:off x="2423160" y="2523744"/>
            <a:ext cx="3429000" cy="594360"/>
          </a:xfrm>
          <a:prstGeom prst="rect">
            <a:avLst/>
          </a:prstGeom>
          <a:noFill/>
        </p:spPr>
        <p:txBody>
          <a:bodyPr wrap="square">
            <a:spAutoFit/>
          </a:bodyPr>
          <a:lstStyle/>
          <a:p>
            <a:pPr algn="l">
              <a:defRPr sz="1400" b="0">
                <a:solidFill>
                  <a:srgbClr val="1E293B"/>
                </a:solidFill>
                <a:latin typeface="Calibri"/>
              </a:defRPr>
            </a:pPr>
            <a:r>
              <a:t>Multi-level, multiple vehicle types, slot allocation</a:t>
            </a:r>
          </a:p>
        </p:txBody>
      </p:sp>
      <p:sp>
        <p:nvSpPr>
          <p:cNvPr id="17" name="Rounded Rectangle 16"/>
          <p:cNvSpPr/>
          <p:nvPr/>
        </p:nvSpPr>
        <p:spPr>
          <a:xfrm>
            <a:off x="6172200" y="2322576"/>
            <a:ext cx="5440680" cy="960120"/>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2322576"/>
            <a:ext cx="1828800" cy="960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45352" y="2615184"/>
            <a:ext cx="1691640" cy="320040"/>
          </a:xfrm>
          <a:prstGeom prst="rect">
            <a:avLst/>
          </a:prstGeom>
          <a:noFill/>
        </p:spPr>
        <p:txBody>
          <a:bodyPr wrap="square">
            <a:spAutoFit/>
          </a:bodyPr>
          <a:lstStyle/>
          <a:p>
            <a:pPr algn="ctr">
              <a:defRPr sz="1300" b="1">
                <a:solidFill>
                  <a:srgbClr val="FFFFFF"/>
                </a:solidFill>
                <a:latin typeface="Calibri"/>
              </a:defRPr>
            </a:pPr>
            <a:r>
              <a:t>Elevator System</a:t>
            </a:r>
          </a:p>
        </p:txBody>
      </p:sp>
      <p:sp>
        <p:nvSpPr>
          <p:cNvPr id="20" name="TextBox 19"/>
          <p:cNvSpPr txBox="1"/>
          <p:nvPr/>
        </p:nvSpPr>
        <p:spPr>
          <a:xfrm>
            <a:off x="8092440" y="2523744"/>
            <a:ext cx="3429000" cy="594360"/>
          </a:xfrm>
          <a:prstGeom prst="rect">
            <a:avLst/>
          </a:prstGeom>
          <a:noFill/>
        </p:spPr>
        <p:txBody>
          <a:bodyPr wrap="square">
            <a:spAutoFit/>
          </a:bodyPr>
          <a:lstStyle/>
          <a:p>
            <a:pPr algn="l">
              <a:defRPr sz="1400" b="0">
                <a:solidFill>
                  <a:srgbClr val="1E293B"/>
                </a:solidFill>
                <a:latin typeface="Calibri"/>
              </a:defRPr>
            </a:pPr>
            <a:r>
              <a:t>Multiple lifts, scheduling, direction optimization</a:t>
            </a:r>
          </a:p>
        </p:txBody>
      </p:sp>
      <p:sp>
        <p:nvSpPr>
          <p:cNvPr id="21" name="Rounded Rectangle 20"/>
          <p:cNvSpPr/>
          <p:nvPr/>
        </p:nvSpPr>
        <p:spPr>
          <a:xfrm>
            <a:off x="502920" y="3410712"/>
            <a:ext cx="5440680" cy="9601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02920" y="3410712"/>
            <a:ext cx="1828800" cy="960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76072" y="3703320"/>
            <a:ext cx="1691640" cy="320040"/>
          </a:xfrm>
          <a:prstGeom prst="rect">
            <a:avLst/>
          </a:prstGeom>
          <a:noFill/>
        </p:spPr>
        <p:txBody>
          <a:bodyPr wrap="square">
            <a:spAutoFit/>
          </a:bodyPr>
          <a:lstStyle/>
          <a:p>
            <a:pPr algn="ctr">
              <a:defRPr sz="1300" b="1">
                <a:solidFill>
                  <a:srgbClr val="FFFFFF"/>
                </a:solidFill>
                <a:latin typeface="Calibri"/>
              </a:defRPr>
            </a:pPr>
            <a:r>
              <a:t>Notification System</a:t>
            </a:r>
          </a:p>
        </p:txBody>
      </p:sp>
      <p:sp>
        <p:nvSpPr>
          <p:cNvPr id="24" name="TextBox 23"/>
          <p:cNvSpPr txBox="1"/>
          <p:nvPr/>
        </p:nvSpPr>
        <p:spPr>
          <a:xfrm>
            <a:off x="2423160" y="3611880"/>
            <a:ext cx="3429000" cy="594360"/>
          </a:xfrm>
          <a:prstGeom prst="rect">
            <a:avLst/>
          </a:prstGeom>
          <a:noFill/>
        </p:spPr>
        <p:txBody>
          <a:bodyPr wrap="square">
            <a:spAutoFit/>
          </a:bodyPr>
          <a:lstStyle/>
          <a:p>
            <a:pPr algn="l">
              <a:defRPr sz="1400" b="0">
                <a:solidFill>
                  <a:srgbClr val="1E293B"/>
                </a:solidFill>
                <a:latin typeface="Calibri"/>
              </a:defRPr>
            </a:pPr>
            <a:r>
              <a:t>Channels (push/email/SMS), priority, retry, templates</a:t>
            </a:r>
          </a:p>
        </p:txBody>
      </p:sp>
      <p:sp>
        <p:nvSpPr>
          <p:cNvPr id="25" name="Rounded Rectangle 24"/>
          <p:cNvSpPr/>
          <p:nvPr/>
        </p:nvSpPr>
        <p:spPr>
          <a:xfrm>
            <a:off x="6172200" y="3410712"/>
            <a:ext cx="5440680" cy="96012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3410712"/>
            <a:ext cx="1828800" cy="96012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45352" y="3703320"/>
            <a:ext cx="1691640" cy="320040"/>
          </a:xfrm>
          <a:prstGeom prst="rect">
            <a:avLst/>
          </a:prstGeom>
          <a:noFill/>
        </p:spPr>
        <p:txBody>
          <a:bodyPr wrap="square">
            <a:spAutoFit/>
          </a:bodyPr>
          <a:lstStyle/>
          <a:p>
            <a:pPr algn="ctr">
              <a:defRPr sz="1300" b="1">
                <a:solidFill>
                  <a:srgbClr val="FFFFFF"/>
                </a:solidFill>
                <a:latin typeface="Calibri"/>
              </a:defRPr>
            </a:pPr>
            <a:r>
              <a:t>Food Delivery</a:t>
            </a:r>
          </a:p>
        </p:txBody>
      </p:sp>
      <p:sp>
        <p:nvSpPr>
          <p:cNvPr id="28" name="TextBox 27"/>
          <p:cNvSpPr txBox="1"/>
          <p:nvPr/>
        </p:nvSpPr>
        <p:spPr>
          <a:xfrm>
            <a:off x="8092440" y="3611880"/>
            <a:ext cx="3429000" cy="594360"/>
          </a:xfrm>
          <a:prstGeom prst="rect">
            <a:avLst/>
          </a:prstGeom>
          <a:noFill/>
        </p:spPr>
        <p:txBody>
          <a:bodyPr wrap="square">
            <a:spAutoFit/>
          </a:bodyPr>
          <a:lstStyle/>
          <a:p>
            <a:pPr algn="l">
              <a:defRPr sz="1400" b="0">
                <a:solidFill>
                  <a:srgbClr val="1E293B"/>
                </a:solidFill>
                <a:latin typeface="Calibri"/>
              </a:defRPr>
            </a:pPr>
            <a:r>
              <a:t>Restaurant, order, delivery agent, tracking, payment</a:t>
            </a:r>
          </a:p>
        </p:txBody>
      </p:sp>
      <p:sp>
        <p:nvSpPr>
          <p:cNvPr id="29" name="Rounded Rectangle 28"/>
          <p:cNvSpPr/>
          <p:nvPr/>
        </p:nvSpPr>
        <p:spPr>
          <a:xfrm>
            <a:off x="502920" y="4498848"/>
            <a:ext cx="5440680" cy="960120"/>
          </a:xfrm>
          <a:prstGeom prst="roundRect">
            <a:avLst/>
          </a:prstGeom>
          <a:solidFill>
            <a:srgbClr val="FFFFFF"/>
          </a:solidFill>
          <a:ln w="19050">
            <a:solidFill>
              <a:srgbClr val="1A56D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02920" y="4498848"/>
            <a:ext cx="1828800" cy="960120"/>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76072" y="4791456"/>
            <a:ext cx="1691640" cy="320040"/>
          </a:xfrm>
          <a:prstGeom prst="rect">
            <a:avLst/>
          </a:prstGeom>
          <a:noFill/>
        </p:spPr>
        <p:txBody>
          <a:bodyPr wrap="square">
            <a:spAutoFit/>
          </a:bodyPr>
          <a:lstStyle/>
          <a:p>
            <a:pPr algn="ctr">
              <a:defRPr sz="1300" b="1">
                <a:solidFill>
                  <a:srgbClr val="FFFFFF"/>
                </a:solidFill>
                <a:latin typeface="Calibri"/>
              </a:defRPr>
            </a:pPr>
            <a:r>
              <a:t>Movie Ticket Booking</a:t>
            </a:r>
          </a:p>
        </p:txBody>
      </p:sp>
      <p:sp>
        <p:nvSpPr>
          <p:cNvPr id="32" name="TextBox 31"/>
          <p:cNvSpPr txBox="1"/>
          <p:nvPr/>
        </p:nvSpPr>
        <p:spPr>
          <a:xfrm>
            <a:off x="2423160" y="4700016"/>
            <a:ext cx="3429000" cy="594360"/>
          </a:xfrm>
          <a:prstGeom prst="rect">
            <a:avLst/>
          </a:prstGeom>
          <a:noFill/>
        </p:spPr>
        <p:txBody>
          <a:bodyPr wrap="square">
            <a:spAutoFit/>
          </a:bodyPr>
          <a:lstStyle/>
          <a:p>
            <a:pPr algn="l">
              <a:defRPr sz="1400" b="0">
                <a:solidFill>
                  <a:srgbClr val="1E293B"/>
                </a:solidFill>
                <a:latin typeface="Calibri"/>
              </a:defRPr>
            </a:pPr>
            <a:r>
              <a:t>Seat selection, concurrency, show management</a:t>
            </a:r>
          </a:p>
        </p:txBody>
      </p:sp>
      <p:sp>
        <p:nvSpPr>
          <p:cNvPr id="33" name="Rounded Rectangle 32"/>
          <p:cNvSpPr/>
          <p:nvPr/>
        </p:nvSpPr>
        <p:spPr>
          <a:xfrm>
            <a:off x="6172200" y="4498848"/>
            <a:ext cx="5440680" cy="960120"/>
          </a:xfrm>
          <a:prstGeom prst="roundRect">
            <a:avLst/>
          </a:prstGeom>
          <a:solidFill>
            <a:srgbClr val="FFFFFF"/>
          </a:solidFill>
          <a:ln w="19050">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172200" y="4498848"/>
            <a:ext cx="1828800" cy="9601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45352" y="4791456"/>
            <a:ext cx="1691640" cy="320040"/>
          </a:xfrm>
          <a:prstGeom prst="rect">
            <a:avLst/>
          </a:prstGeom>
          <a:noFill/>
        </p:spPr>
        <p:txBody>
          <a:bodyPr wrap="square">
            <a:spAutoFit/>
          </a:bodyPr>
          <a:lstStyle/>
          <a:p>
            <a:pPr algn="ctr">
              <a:defRPr sz="1300" b="1">
                <a:solidFill>
                  <a:srgbClr val="FFFFFF"/>
                </a:solidFill>
                <a:latin typeface="Calibri"/>
              </a:defRPr>
            </a:pPr>
            <a:r>
              <a:t>URL Shortener</a:t>
            </a:r>
          </a:p>
        </p:txBody>
      </p:sp>
      <p:sp>
        <p:nvSpPr>
          <p:cNvPr id="36" name="TextBox 35"/>
          <p:cNvSpPr txBox="1"/>
          <p:nvPr/>
        </p:nvSpPr>
        <p:spPr>
          <a:xfrm>
            <a:off x="8092440" y="4700016"/>
            <a:ext cx="3429000" cy="594360"/>
          </a:xfrm>
          <a:prstGeom prst="rect">
            <a:avLst/>
          </a:prstGeom>
          <a:noFill/>
        </p:spPr>
        <p:txBody>
          <a:bodyPr wrap="square">
            <a:spAutoFit/>
          </a:bodyPr>
          <a:lstStyle/>
          <a:p>
            <a:pPr algn="l">
              <a:defRPr sz="1400" b="0">
                <a:solidFill>
                  <a:srgbClr val="1E293B"/>
                </a:solidFill>
                <a:latin typeface="Calibri"/>
              </a:defRPr>
            </a:pPr>
            <a:r>
              <a:t>Encoding, cache, analytics (also HLD classic)</a:t>
            </a:r>
          </a:p>
        </p:txBody>
      </p:sp>
      <p:sp>
        <p:nvSpPr>
          <p:cNvPr id="37" name="Rounded Rectangle 36"/>
          <p:cNvSpPr/>
          <p:nvPr/>
        </p:nvSpPr>
        <p:spPr>
          <a:xfrm>
            <a:off x="502920" y="5586984"/>
            <a:ext cx="5440680" cy="9601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02920" y="5586984"/>
            <a:ext cx="1828800" cy="960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76072" y="5879592"/>
            <a:ext cx="1691640" cy="320040"/>
          </a:xfrm>
          <a:prstGeom prst="rect">
            <a:avLst/>
          </a:prstGeom>
          <a:noFill/>
        </p:spPr>
        <p:txBody>
          <a:bodyPr wrap="square">
            <a:spAutoFit/>
          </a:bodyPr>
          <a:lstStyle/>
          <a:p>
            <a:pPr algn="ctr">
              <a:defRPr sz="1300" b="1">
                <a:solidFill>
                  <a:srgbClr val="FFFFFF"/>
                </a:solidFill>
                <a:latin typeface="Calibri"/>
              </a:defRPr>
            </a:pPr>
            <a:r>
              <a:t>Logging Framework</a:t>
            </a:r>
          </a:p>
        </p:txBody>
      </p:sp>
      <p:sp>
        <p:nvSpPr>
          <p:cNvPr id="40" name="TextBox 39"/>
          <p:cNvSpPr txBox="1"/>
          <p:nvPr/>
        </p:nvSpPr>
        <p:spPr>
          <a:xfrm>
            <a:off x="2423160" y="5788152"/>
            <a:ext cx="3429000" cy="594360"/>
          </a:xfrm>
          <a:prstGeom prst="rect">
            <a:avLst/>
          </a:prstGeom>
          <a:noFill/>
        </p:spPr>
        <p:txBody>
          <a:bodyPr wrap="square">
            <a:spAutoFit/>
          </a:bodyPr>
          <a:lstStyle/>
          <a:p>
            <a:pPr algn="l">
              <a:defRPr sz="1400" b="0">
                <a:solidFill>
                  <a:srgbClr val="1E293B"/>
                </a:solidFill>
                <a:latin typeface="Calibri"/>
              </a:defRPr>
            </a:pPr>
            <a:r>
              <a:t>Log levels, appenders, formatters, singleton</a:t>
            </a:r>
          </a:p>
        </p:txBody>
      </p:sp>
      <p:sp>
        <p:nvSpPr>
          <p:cNvPr id="41" name="Rounded Rectangle 40"/>
          <p:cNvSpPr/>
          <p:nvPr/>
        </p:nvSpPr>
        <p:spPr>
          <a:xfrm>
            <a:off x="6172200" y="5586984"/>
            <a:ext cx="5440680" cy="960120"/>
          </a:xfrm>
          <a:prstGeom prst="roundRect">
            <a:avLst/>
          </a:prstGeom>
          <a:solidFill>
            <a:srgbClr val="FFFFFF"/>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172200" y="5586984"/>
            <a:ext cx="1828800" cy="9601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45352" y="5879592"/>
            <a:ext cx="1691640" cy="320040"/>
          </a:xfrm>
          <a:prstGeom prst="rect">
            <a:avLst/>
          </a:prstGeom>
          <a:noFill/>
        </p:spPr>
        <p:txBody>
          <a:bodyPr wrap="square">
            <a:spAutoFit/>
          </a:bodyPr>
          <a:lstStyle/>
          <a:p>
            <a:pPr algn="ctr">
              <a:defRPr sz="1300" b="1">
                <a:solidFill>
                  <a:srgbClr val="FFFFFF"/>
                </a:solidFill>
                <a:latin typeface="Calibri"/>
              </a:defRPr>
            </a:pPr>
            <a:r>
              <a:t>Rate Limiter</a:t>
            </a:r>
          </a:p>
        </p:txBody>
      </p:sp>
      <p:sp>
        <p:nvSpPr>
          <p:cNvPr id="44" name="TextBox 43"/>
          <p:cNvSpPr txBox="1"/>
          <p:nvPr/>
        </p:nvSpPr>
        <p:spPr>
          <a:xfrm>
            <a:off x="8092440" y="5788152"/>
            <a:ext cx="3429000" cy="594360"/>
          </a:xfrm>
          <a:prstGeom prst="rect">
            <a:avLst/>
          </a:prstGeom>
          <a:noFill/>
        </p:spPr>
        <p:txBody>
          <a:bodyPr wrap="square">
            <a:spAutoFit/>
          </a:bodyPr>
          <a:lstStyle/>
          <a:p>
            <a:pPr algn="l">
              <a:defRPr sz="1400" b="0">
                <a:solidFill>
                  <a:srgbClr val="1E293B"/>
                </a:solidFill>
                <a:latin typeface="Calibri"/>
              </a:defRPr>
            </a:pPr>
            <a:r>
              <a:t>Token bucket, sliding window (also HLD classic)</a:t>
            </a:r>
          </a:p>
        </p:txBody>
      </p:sp>
      <p:sp>
        <p:nvSpPr>
          <p:cNvPr id="45" name="Rectangle 4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HLD vs LLD — Same Problem, Two Views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Messaging and Parking Lot — two perspectives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749808"/>
          </a:xfrm>
          <a:prstGeom prst="rect">
            <a:avLst/>
          </a:prstGeom>
          <a:noFill/>
        </p:spPr>
        <p:txBody>
          <a:bodyPr wrap="square">
            <a:spAutoFit/>
          </a:bodyPr>
          <a:lstStyle/>
          <a:p>
            <a:pPr algn="l">
              <a:defRPr sz="1400" b="0">
                <a:solidFill>
                  <a:srgbClr val="1E293B"/>
                </a:solidFill>
                <a:latin typeface="Calibri"/>
              </a:defRPr>
            </a:pPr>
            <a:r>
              <a:t>HLD asks how components connect at scale. LLD asks how classes are structured internally. The same product needs both views — architecture diagrams and class diagrams.</a:t>
            </a:r>
          </a:p>
        </p:txBody>
      </p:sp>
      <p:graphicFrame>
        <p:nvGraphicFramePr>
          <p:cNvPr id="8" name="Table 7"/>
          <p:cNvGraphicFramePr>
            <a:graphicFrameLocks noGrp="1"/>
          </p:cNvGraphicFramePr>
          <p:nvPr/>
        </p:nvGraphicFramePr>
        <p:xfrm>
          <a:off x="502920" y="1865376"/>
          <a:ext cx="11064240" cy="2852928"/>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475488">
                <a:tc>
                  <a:txBody>
                    <a:bodyPr/>
                    <a:lstStyle/>
                    <a:p>
                      <a:pPr>
                        <a:defRPr sz="1600" b="1">
                          <a:solidFill>
                            <a:srgbClr val="FFFFFF"/>
                          </a:solidFill>
                          <a:latin typeface="Calibri"/>
                        </a:defRPr>
                      </a:pPr>
                      <a:r>
                        <a:t>Aspect</a:t>
                      </a:r>
                    </a:p>
                  </a:txBody>
                  <a:tcPr>
                    <a:solidFill>
                      <a:srgbClr val="1A56DB"/>
                    </a:solidFill>
                  </a:tcPr>
                </a:tc>
                <a:tc>
                  <a:txBody>
                    <a:bodyPr/>
                    <a:lstStyle/>
                    <a:p>
                      <a:pPr>
                        <a:defRPr sz="1600" b="1">
                          <a:solidFill>
                            <a:srgbClr val="FFFFFF"/>
                          </a:solidFill>
                          <a:latin typeface="Calibri"/>
                        </a:defRPr>
                      </a:pPr>
                      <a:r>
                        <a:t>HLD View (Chat System)</a:t>
                      </a:r>
                    </a:p>
                  </a:txBody>
                  <a:tcPr>
                    <a:solidFill>
                      <a:srgbClr val="1A56DB"/>
                    </a:solidFill>
                  </a:tcPr>
                </a:tc>
                <a:tc>
                  <a:txBody>
                    <a:bodyPr/>
                    <a:lstStyle/>
                    <a:p>
                      <a:pPr>
                        <a:defRPr sz="1600" b="1">
                          <a:solidFill>
                            <a:srgbClr val="FFFFFF"/>
                          </a:solidFill>
                          <a:latin typeface="Calibri"/>
                        </a:defRPr>
                      </a:pPr>
                      <a:r>
                        <a:t>LLD View (Parking Lot)</a:t>
                      </a:r>
                    </a:p>
                  </a:txBody>
                  <a:tcPr>
                    <a:solidFill>
                      <a:srgbClr val="1A56DB"/>
                    </a:solidFill>
                  </a:tcPr>
                </a:tc>
                <a:extLst>
                  <a:ext uri="{0D108BD9-81ED-4DB2-BD59-A6C34878D82A}">
                    <a16:rowId xmlns:a16="http://schemas.microsoft.com/office/drawing/2014/main" val="10000"/>
                  </a:ext>
                </a:extLst>
              </a:tr>
              <a:tr h="475488">
                <a:tc>
                  <a:txBody>
                    <a:bodyPr/>
                    <a:lstStyle/>
                    <a:p>
                      <a:pPr>
                        <a:defRPr sz="1400">
                          <a:solidFill>
                            <a:srgbClr val="1E293B"/>
                          </a:solidFill>
                          <a:latin typeface="Calibri"/>
                        </a:defRPr>
                      </a:pPr>
                      <a:r>
                        <a:t>Question</a:t>
                      </a:r>
                    </a:p>
                  </a:txBody>
                  <a:tcPr>
                    <a:solidFill>
                      <a:srgbClr val="F0F4F8"/>
                    </a:solidFill>
                  </a:tcPr>
                </a:tc>
                <a:tc>
                  <a:txBody>
                    <a:bodyPr/>
                    <a:lstStyle/>
                    <a:p>
                      <a:pPr>
                        <a:defRPr sz="1400">
                          <a:solidFill>
                            <a:srgbClr val="1E293B"/>
                          </a:solidFill>
                          <a:latin typeface="Calibri"/>
                        </a:defRPr>
                      </a:pPr>
                      <a:r>
                        <a:t>How do components connect at scale?</a:t>
                      </a:r>
                    </a:p>
                  </a:txBody>
                  <a:tcPr>
                    <a:solidFill>
                      <a:srgbClr val="F0F4F8"/>
                    </a:solidFill>
                  </a:tcPr>
                </a:tc>
                <a:tc>
                  <a:txBody>
                    <a:bodyPr/>
                    <a:lstStyle/>
                    <a:p>
                      <a:pPr>
                        <a:defRPr sz="1400">
                          <a:solidFill>
                            <a:srgbClr val="1E293B"/>
                          </a:solidFill>
                          <a:latin typeface="Calibri"/>
                        </a:defRPr>
                      </a:pPr>
                      <a:r>
                        <a:t>How are classes structured internally?</a:t>
                      </a:r>
                    </a:p>
                  </a:txBody>
                  <a:tcPr>
                    <a:solidFill>
                      <a:srgbClr val="F0F4F8"/>
                    </a:solidFill>
                  </a:tcPr>
                </a:tc>
                <a:extLst>
                  <a:ext uri="{0D108BD9-81ED-4DB2-BD59-A6C34878D82A}">
                    <a16:rowId xmlns:a16="http://schemas.microsoft.com/office/drawing/2014/main" val="10001"/>
                  </a:ext>
                </a:extLst>
              </a:tr>
              <a:tr h="475488">
                <a:tc>
                  <a:txBody>
                    <a:bodyPr/>
                    <a:lstStyle/>
                    <a:p>
                      <a:pPr>
                        <a:defRPr sz="1400">
                          <a:solidFill>
                            <a:srgbClr val="1E293B"/>
                          </a:solidFill>
                          <a:latin typeface="Calibri"/>
                        </a:defRPr>
                      </a:pPr>
                      <a:r>
                        <a:t>Components</a:t>
                      </a:r>
                    </a:p>
                  </a:txBody>
                  <a:tcPr>
                    <a:solidFill>
                      <a:srgbClr val="FFFFFF"/>
                    </a:solidFill>
                  </a:tcPr>
                </a:tc>
                <a:tc>
                  <a:txBody>
                    <a:bodyPr/>
                    <a:lstStyle/>
                    <a:p>
                      <a:pPr>
                        <a:defRPr sz="1400">
                          <a:solidFill>
                            <a:srgbClr val="1E293B"/>
                          </a:solidFill>
                          <a:latin typeface="Calibri"/>
                        </a:defRPr>
                      </a:pPr>
                      <a:r>
                        <a:t>Chat Svc, Kafka, Redis, Cassandra, CDN</a:t>
                      </a:r>
                    </a:p>
                  </a:txBody>
                  <a:tcPr>
                    <a:solidFill>
                      <a:srgbClr val="FFFFFF"/>
                    </a:solidFill>
                  </a:tcPr>
                </a:tc>
                <a:tc>
                  <a:txBody>
                    <a:bodyPr/>
                    <a:lstStyle/>
                    <a:p>
                      <a:pPr>
                        <a:defRPr sz="1400">
                          <a:solidFill>
                            <a:srgbClr val="1E293B"/>
                          </a:solidFill>
                          <a:latin typeface="Calibri"/>
                        </a:defRPr>
                      </a:pPr>
                      <a:r>
                        <a:t>ParkingLot, Slot, Vehicle, Ticket, Payment</a:t>
                      </a:r>
                    </a:p>
                  </a:txBody>
                  <a:tcPr>
                    <a:solidFill>
                      <a:srgbClr val="FFFFFF"/>
                    </a:solidFill>
                  </a:tcPr>
                </a:tc>
                <a:extLst>
                  <a:ext uri="{0D108BD9-81ED-4DB2-BD59-A6C34878D82A}">
                    <a16:rowId xmlns:a16="http://schemas.microsoft.com/office/drawing/2014/main" val="10002"/>
                  </a:ext>
                </a:extLst>
              </a:tr>
              <a:tr h="475488">
                <a:tc>
                  <a:txBody>
                    <a:bodyPr/>
                    <a:lstStyle/>
                    <a:p>
                      <a:pPr>
                        <a:defRPr sz="1400">
                          <a:solidFill>
                            <a:srgbClr val="1E293B"/>
                          </a:solidFill>
                          <a:latin typeface="Calibri"/>
                        </a:defRPr>
                      </a:pPr>
                      <a:r>
                        <a:t>Data Flow</a:t>
                      </a:r>
                    </a:p>
                  </a:txBody>
                  <a:tcPr>
                    <a:solidFill>
                      <a:srgbClr val="F0F4F8"/>
                    </a:solidFill>
                  </a:tcPr>
                </a:tc>
                <a:tc>
                  <a:txBody>
                    <a:bodyPr/>
                    <a:lstStyle/>
                    <a:p>
                      <a:pPr>
                        <a:defRPr sz="1400">
                          <a:solidFill>
                            <a:srgbClr val="1E293B"/>
                          </a:solidFill>
                          <a:latin typeface="Calibri"/>
                        </a:defRPr>
                      </a:pPr>
                      <a:r>
                        <a:t>Client → LB → Chat Svc → Queue → DB → Push</a:t>
                      </a:r>
                    </a:p>
                  </a:txBody>
                  <a:tcPr>
                    <a:solidFill>
                      <a:srgbClr val="F0F4F8"/>
                    </a:solidFill>
                  </a:tcPr>
                </a:tc>
                <a:tc>
                  <a:txBody>
                    <a:bodyPr/>
                    <a:lstStyle/>
                    <a:p>
                      <a:pPr>
                        <a:defRPr sz="1400">
                          <a:solidFill>
                            <a:srgbClr val="1E293B"/>
                          </a:solidFill>
                          <a:latin typeface="Calibri"/>
                        </a:defRPr>
                      </a:pPr>
                      <a:r>
                        <a:t>Vehicle enters → findSlot() → assignTicket() → park()</a:t>
                      </a:r>
                    </a:p>
                  </a:txBody>
                  <a:tcPr>
                    <a:solidFill>
                      <a:srgbClr val="F0F4F8"/>
                    </a:solidFill>
                  </a:tcPr>
                </a:tc>
                <a:extLst>
                  <a:ext uri="{0D108BD9-81ED-4DB2-BD59-A6C34878D82A}">
                    <a16:rowId xmlns:a16="http://schemas.microsoft.com/office/drawing/2014/main" val="10003"/>
                  </a:ext>
                </a:extLst>
              </a:tr>
              <a:tr h="475488">
                <a:tc>
                  <a:txBody>
                    <a:bodyPr/>
                    <a:lstStyle/>
                    <a:p>
                      <a:pPr>
                        <a:defRPr sz="1400">
                          <a:solidFill>
                            <a:srgbClr val="1E293B"/>
                          </a:solidFill>
                          <a:latin typeface="Calibri"/>
                        </a:defRPr>
                      </a:pPr>
                      <a:r>
                        <a:t>Key Concern</a:t>
                      </a:r>
                    </a:p>
                  </a:txBody>
                  <a:tcPr>
                    <a:solidFill>
                      <a:srgbClr val="FFFFFF"/>
                    </a:solidFill>
                  </a:tcPr>
                </a:tc>
                <a:tc>
                  <a:txBody>
                    <a:bodyPr/>
                    <a:lstStyle/>
                    <a:p>
                      <a:pPr>
                        <a:defRPr sz="1400">
                          <a:solidFill>
                            <a:srgbClr val="1E293B"/>
                          </a:solidFill>
                          <a:latin typeface="Calibri"/>
                        </a:defRPr>
                      </a:pPr>
                      <a:r>
                        <a:t>Availability, latency, throughput</a:t>
                      </a:r>
                    </a:p>
                  </a:txBody>
                  <a:tcPr>
                    <a:solidFill>
                      <a:srgbClr val="FFFFFF"/>
                    </a:solidFill>
                  </a:tcPr>
                </a:tc>
                <a:tc>
                  <a:txBody>
                    <a:bodyPr/>
                    <a:lstStyle/>
                    <a:p>
                      <a:pPr>
                        <a:defRPr sz="1400">
                          <a:solidFill>
                            <a:srgbClr val="1E293B"/>
                          </a:solidFill>
                          <a:latin typeface="Calibri"/>
                        </a:defRPr>
                      </a:pPr>
                      <a:r>
                        <a:t>Extensibility, maintainability, testability</a:t>
                      </a:r>
                    </a:p>
                  </a:txBody>
                  <a:tcPr>
                    <a:solidFill>
                      <a:srgbClr val="FFFFFF"/>
                    </a:solidFill>
                  </a:tcPr>
                </a:tc>
                <a:extLst>
                  <a:ext uri="{0D108BD9-81ED-4DB2-BD59-A6C34878D82A}">
                    <a16:rowId xmlns:a16="http://schemas.microsoft.com/office/drawing/2014/main" val="10004"/>
                  </a:ext>
                </a:extLst>
              </a:tr>
              <a:tr h="475488">
                <a:tc>
                  <a:txBody>
                    <a:bodyPr/>
                    <a:lstStyle/>
                    <a:p>
                      <a:pPr>
                        <a:defRPr sz="1400">
                          <a:solidFill>
                            <a:srgbClr val="1E293B"/>
                          </a:solidFill>
                          <a:latin typeface="Calibri"/>
                        </a:defRPr>
                      </a:pPr>
                      <a:r>
                        <a:t>Diagram</a:t>
                      </a:r>
                    </a:p>
                  </a:txBody>
                  <a:tcPr>
                    <a:solidFill>
                      <a:srgbClr val="F0F4F8"/>
                    </a:solidFill>
                  </a:tcPr>
                </a:tc>
                <a:tc>
                  <a:txBody>
                    <a:bodyPr/>
                    <a:lstStyle/>
                    <a:p>
                      <a:pPr>
                        <a:defRPr sz="1400">
                          <a:solidFill>
                            <a:srgbClr val="1E293B"/>
                          </a:solidFill>
                          <a:latin typeface="Calibri"/>
                        </a:defRPr>
                      </a:pPr>
                      <a:r>
                        <a:t>Boxes and arrows between services</a:t>
                      </a:r>
                    </a:p>
                  </a:txBody>
                  <a:tcPr>
                    <a:solidFill>
                      <a:srgbClr val="F0F4F8"/>
                    </a:solidFill>
                  </a:tcPr>
                </a:tc>
                <a:tc>
                  <a:txBody>
                    <a:bodyPr/>
                    <a:lstStyle/>
                    <a:p>
                      <a:pPr>
                        <a:defRPr sz="1400">
                          <a:solidFill>
                            <a:srgbClr val="1E293B"/>
                          </a:solidFill>
                          <a:latin typeface="Calibri"/>
                        </a:defRPr>
                      </a:pPr>
                      <a:r>
                        <a:t>Class diagram with inheritance &amp; associations</a:t>
                      </a:r>
                    </a:p>
                  </a:txBody>
                  <a:tcPr>
                    <a:solidFill>
                      <a:srgbClr val="F0F4F8"/>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Study Roadmap &amp; Resources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How to prepare for system design interviews</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804672"/>
          </a:xfrm>
          <a:prstGeom prst="rect">
            <a:avLst/>
          </a:prstGeom>
          <a:noFill/>
        </p:spPr>
        <p:txBody>
          <a:bodyPr wrap="square">
            <a:spAutoFit/>
          </a:bodyPr>
          <a:lstStyle/>
          <a:p>
            <a:pPr algn="l">
              <a:defRPr sz="1500" b="0">
                <a:solidFill>
                  <a:srgbClr val="1E293B"/>
                </a:solidFill>
                <a:latin typeface="Calibri"/>
              </a:defRPr>
            </a:pPr>
            <a:r>
              <a:t>Combine theory with weekly practice — design one HLD system and code one LLD problem regularly. Mock interviews with peers provide the best feedback loop.</a:t>
            </a:r>
          </a:p>
        </p:txBody>
      </p:sp>
      <p:sp>
        <p:nvSpPr>
          <p:cNvPr id="8" name="TextBox 7"/>
          <p:cNvSpPr txBox="1"/>
          <p:nvPr/>
        </p:nvSpPr>
        <p:spPr>
          <a:xfrm>
            <a:off x="548640" y="1938528"/>
            <a:ext cx="11064240" cy="4453128"/>
          </a:xfrm>
          <a:prstGeom prst="rect">
            <a:avLst/>
          </a:prstGeom>
          <a:noFill/>
        </p:spPr>
        <p:txBody>
          <a:bodyPr wrap="square">
            <a:spAutoFit/>
          </a:bodyPr>
          <a:lstStyle/>
          <a:p>
            <a:pPr>
              <a:spcAft>
                <a:spcPts val="900"/>
              </a:spcAft>
              <a:defRPr sz="1600" b="1">
                <a:solidFill>
                  <a:srgbClr val="1E293B"/>
                </a:solidFill>
                <a:latin typeface="Calibri"/>
              </a:defRPr>
            </a:pPr>
            <a:r>
              <a:t>• HLD: Groking System Design Interview, System Design Primer (GitHub), ByteByteGo</a:t>
            </a:r>
          </a:p>
          <a:p>
            <a:pPr>
              <a:spcAft>
                <a:spcPts val="900"/>
              </a:spcAft>
              <a:defRPr sz="1600" b="1">
                <a:solidFill>
                  <a:srgbClr val="1E293B"/>
                </a:solidFill>
                <a:latin typeface="Calibri"/>
              </a:defRPr>
            </a:pPr>
            <a:r>
              <a:t>• Practice HLD: design 1 system/week on paper — YouTube, Uber, WhatsApp</a:t>
            </a:r>
          </a:p>
          <a:p>
            <a:pPr>
              <a:spcAft>
                <a:spcPts val="900"/>
              </a:spcAft>
              <a:defRPr sz="1600" b="1">
                <a:solidFill>
                  <a:srgbClr val="1E293B"/>
                </a:solidFill>
                <a:latin typeface="Calibri"/>
              </a:defRPr>
            </a:pPr>
            <a:r>
              <a:t>• LLD: Head First Design Patterns, Refactoring Guru, LeetCode LLD</a:t>
            </a:r>
          </a:p>
          <a:p>
            <a:pPr>
              <a:spcAft>
                <a:spcPts val="900"/>
              </a:spcAft>
              <a:defRPr sz="1600" b="1">
                <a:solidFill>
                  <a:srgbClr val="1E293B"/>
                </a:solidFill>
                <a:latin typeface="Calibri"/>
              </a:defRPr>
            </a:pPr>
            <a:r>
              <a:t>• Practice LLD: code Parking Lot, Elevator, Splitwise in your language</a:t>
            </a:r>
          </a:p>
          <a:p>
            <a:pPr>
              <a:spcAft>
                <a:spcPts val="900"/>
              </a:spcAft>
              <a:defRPr sz="1600" b="1">
                <a:solidFill>
                  <a:srgbClr val="1E293B"/>
                </a:solidFill>
                <a:latin typeface="Calibri"/>
              </a:defRPr>
            </a:pPr>
            <a:r>
              <a:t>• Foundations: networking (TCP), database internals (indexing, B-trees)</a:t>
            </a:r>
          </a:p>
          <a:p>
            <a:pPr>
              <a:spcAft>
                <a:spcPts val="900"/>
              </a:spcAft>
              <a:defRPr sz="1600" b="1">
                <a:solidFill>
                  <a:srgbClr val="1E293B"/>
                </a:solidFill>
                <a:latin typeface="Calibri"/>
              </a:defRPr>
            </a:pPr>
            <a:r>
              <a:t>• Mock interviews: Pramp, Interviewing.io, or peers — 45 min weekly</a:t>
            </a:r>
          </a:p>
          <a:p>
            <a:pPr>
              <a:spcAft>
                <a:spcPts val="900"/>
              </a:spcAft>
              <a:defRPr sz="1600" b="1">
                <a:solidFill>
                  <a:srgbClr val="1E293B"/>
                </a:solidFill>
                <a:latin typeface="Calibri"/>
              </a:defRPr>
            </a:pPr>
            <a:r>
              <a:t>• Estimation: practice back-of-envelope QPS, storage, bandwidth every design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01168"/>
            <a:ext cx="11155680" cy="594360"/>
          </a:xfrm>
          <a:prstGeom prst="rect">
            <a:avLst/>
          </a:prstGeom>
          <a:noFill/>
        </p:spPr>
        <p:txBody>
          <a:bodyPr wrap="square">
            <a:spAutoFit/>
          </a:bodyPr>
          <a:lstStyle/>
          <a:p>
            <a:pPr algn="l">
              <a:defRPr sz="2800" b="1">
                <a:solidFill>
                  <a:srgbClr val="1A56DB"/>
                </a:solidFill>
                <a:latin typeface="Calibri"/>
              </a:defRPr>
            </a:pPr>
            <a:r>
              <a:t>Summary &amp; Key Takeaways</a:t>
            </a:r>
          </a:p>
        </p:txBody>
      </p:sp>
      <p:sp>
        <p:nvSpPr>
          <p:cNvPr id="4" name="TextBox 3"/>
          <p:cNvSpPr txBox="1"/>
          <p:nvPr/>
        </p:nvSpPr>
        <p:spPr>
          <a:xfrm>
            <a:off x="548640" y="749808"/>
            <a:ext cx="11155680" cy="347472"/>
          </a:xfrm>
          <a:prstGeom prst="rect">
            <a:avLst/>
          </a:prstGeom>
          <a:noFill/>
        </p:spPr>
        <p:txBody>
          <a:bodyPr wrap="square">
            <a:spAutoFit/>
          </a:bodyPr>
          <a:lstStyle/>
          <a:p>
            <a:pPr algn="l">
              <a:defRPr sz="1500" b="0">
                <a:solidFill>
                  <a:srgbClr val="64748B"/>
                </a:solidFill>
                <a:latin typeface="Calibri"/>
              </a:defRPr>
            </a:pPr>
            <a:r>
              <a:t>What to remember from this presentation</a:t>
            </a:r>
          </a:p>
        </p:txBody>
      </p:sp>
      <p:sp>
        <p:nvSpPr>
          <p:cNvPr id="5" name="Rectangle 4"/>
          <p:cNvSpPr/>
          <p:nvPr/>
        </p:nvSpPr>
        <p:spPr>
          <a:xfrm>
            <a:off x="0" y="6537960"/>
            <a:ext cx="12191695" cy="182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6565392"/>
            <a:ext cx="7315200" cy="228600"/>
          </a:xfrm>
          <a:prstGeom prst="rect">
            <a:avLst/>
          </a:prstGeom>
          <a:noFill/>
        </p:spPr>
        <p:txBody>
          <a:bodyPr wrap="square">
            <a:spAutoFit/>
          </a:bodyPr>
          <a:lstStyle/>
          <a:p>
            <a:pPr algn="l">
              <a:defRPr sz="900" b="0">
                <a:solidFill>
                  <a:srgbClr val="64748B"/>
                </a:solidFill>
                <a:latin typeface="Calibri"/>
              </a:defRPr>
            </a:pPr>
            <a:r>
              <a:t>System Design: HLD + LLD Overview</a:t>
            </a:r>
          </a:p>
        </p:txBody>
      </p:sp>
      <p:sp>
        <p:nvSpPr>
          <p:cNvPr id="7" name="TextBox 6"/>
          <p:cNvSpPr txBox="1"/>
          <p:nvPr/>
        </p:nvSpPr>
        <p:spPr>
          <a:xfrm>
            <a:off x="548640" y="1024128"/>
            <a:ext cx="11064240" cy="804672"/>
          </a:xfrm>
          <a:prstGeom prst="rect">
            <a:avLst/>
          </a:prstGeom>
          <a:noFill/>
        </p:spPr>
        <p:txBody>
          <a:bodyPr wrap="square">
            <a:spAutoFit/>
          </a:bodyPr>
          <a:lstStyle/>
          <a:p>
            <a:pPr algn="l">
              <a:defRPr sz="1600" b="0">
                <a:solidFill>
                  <a:srgbClr val="1E293B"/>
                </a:solidFill>
                <a:latin typeface="Calibri"/>
              </a:defRPr>
            </a:pPr>
            <a:r>
              <a:t>System Design spans HLD (architecture) and LLD (code-level design). Use a structured approach, know your trade-offs, and practice with real systems.</a:t>
            </a:r>
          </a:p>
        </p:txBody>
      </p:sp>
      <p:sp>
        <p:nvSpPr>
          <p:cNvPr id="8" name="TextBox 7"/>
          <p:cNvSpPr txBox="1"/>
          <p:nvPr/>
        </p:nvSpPr>
        <p:spPr>
          <a:xfrm>
            <a:off x="548640" y="1938528"/>
            <a:ext cx="11064240" cy="4453128"/>
          </a:xfrm>
          <a:prstGeom prst="rect">
            <a:avLst/>
          </a:prstGeom>
          <a:noFill/>
        </p:spPr>
        <p:txBody>
          <a:bodyPr wrap="square">
            <a:spAutoFit/>
          </a:bodyPr>
          <a:lstStyle/>
          <a:p>
            <a:pPr>
              <a:spcAft>
                <a:spcPts val="900"/>
              </a:spcAft>
              <a:defRPr sz="1700" b="1">
                <a:solidFill>
                  <a:srgbClr val="1E293B"/>
                </a:solidFill>
                <a:latin typeface="Calibri"/>
              </a:defRPr>
            </a:pPr>
            <a:r>
              <a:t>• HLD: scalability, reliability, trade-offs, distributed building blocks</a:t>
            </a:r>
          </a:p>
          <a:p>
            <a:pPr>
              <a:spcAft>
                <a:spcPts val="900"/>
              </a:spcAft>
              <a:defRPr sz="1700" b="1">
                <a:solidFill>
                  <a:srgbClr val="1E293B"/>
                </a:solidFill>
                <a:latin typeface="Calibri"/>
              </a:defRPr>
            </a:pPr>
            <a:r>
              <a:t>• LLD: OOP, SOLID, design patterns, concurrency, clean code</a:t>
            </a:r>
          </a:p>
          <a:p>
            <a:pPr>
              <a:spcAft>
                <a:spcPts val="900"/>
              </a:spcAft>
              <a:defRPr sz="1700" b="1">
                <a:solidFill>
                  <a:srgbClr val="1E293B"/>
                </a:solidFill>
                <a:latin typeface="Calibri"/>
              </a:defRPr>
            </a:pPr>
            <a:r>
              <a:t>• Approach: Requirements → Estimation → API → Architecture → Deep Dive → Trade-offs</a:t>
            </a:r>
          </a:p>
          <a:p>
            <a:pPr>
              <a:spcAft>
                <a:spcPts val="900"/>
              </a:spcAft>
              <a:defRPr sz="1700" b="1">
                <a:solidFill>
                  <a:srgbClr val="1E293B"/>
                </a:solidFill>
                <a:latin typeface="Calibri"/>
              </a:defRPr>
            </a:pPr>
            <a:r>
              <a:t>• Every decision is a trade-off — consistency vs availability, memory vs latency</a:t>
            </a:r>
          </a:p>
          <a:p>
            <a:pPr>
              <a:spcAft>
                <a:spcPts val="900"/>
              </a:spcAft>
              <a:defRPr sz="1700" b="1">
                <a:solidFill>
                  <a:srgbClr val="1E293B"/>
                </a:solidFill>
                <a:latin typeface="Calibri"/>
              </a:defRPr>
            </a:pPr>
            <a:r>
              <a:t>• Practice HLD with WhatsApp, Uber, YouTube; LLD with Parking Lot, Elevator</a:t>
            </a:r>
          </a:p>
          <a:p>
            <a:pPr>
              <a:spcAft>
                <a:spcPts val="900"/>
              </a:spcAft>
              <a:defRPr sz="1700" b="1">
                <a:solidFill>
                  <a:srgbClr val="1E293B"/>
                </a:solidFill>
                <a:latin typeface="Calibri"/>
              </a:defRPr>
            </a:pPr>
            <a:r>
              <a:t>• Start simple (monolith/naive) — add complexity only when requirements demand it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1E293B"/>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0" y="2560320"/>
            <a:ext cx="12191695" cy="914400"/>
          </a:xfrm>
          <a:prstGeom prst="rect">
            <a:avLst/>
          </a:prstGeom>
          <a:noFill/>
        </p:spPr>
        <p:txBody>
          <a:bodyPr wrap="square">
            <a:spAutoFit/>
          </a:bodyPr>
          <a:lstStyle/>
          <a:p>
            <a:pPr algn="ctr">
              <a:defRPr sz="4400" b="1">
                <a:solidFill>
                  <a:srgbClr val="FFFFFF"/>
                </a:solidFill>
                <a:latin typeface="Calibri"/>
              </a:defRPr>
            </a:pPr>
            <a:r>
              <a:t>Thank You!</a:t>
            </a:r>
          </a:p>
        </p:txBody>
      </p:sp>
      <p:sp>
        <p:nvSpPr>
          <p:cNvPr id="4" name="TextBox 3"/>
          <p:cNvSpPr txBox="1"/>
          <p:nvPr/>
        </p:nvSpPr>
        <p:spPr>
          <a:xfrm>
            <a:off x="0" y="3749039"/>
            <a:ext cx="12191695" cy="640080"/>
          </a:xfrm>
          <a:prstGeom prst="rect">
            <a:avLst/>
          </a:prstGeom>
          <a:noFill/>
        </p:spPr>
        <p:txBody>
          <a:bodyPr wrap="square">
            <a:spAutoFit/>
          </a:bodyPr>
          <a:lstStyle/>
          <a:p>
            <a:pPr algn="ctr">
              <a:defRPr sz="2800" b="0">
                <a:solidFill>
                  <a:srgbClr val="00B4D8"/>
                </a:solidFill>
                <a:latin typeface="Calibri"/>
              </a:defRPr>
            </a:pPr>
            <a:r>
              <a:t>Questions &amp; Discussion</a:t>
            </a:r>
          </a:p>
        </p:txBody>
      </p:sp>
      <p:sp>
        <p:nvSpPr>
          <p:cNvPr id="5" name="TextBox 4"/>
          <p:cNvSpPr txBox="1"/>
          <p:nvPr/>
        </p:nvSpPr>
        <p:spPr>
          <a:xfrm>
            <a:off x="0" y="4846320"/>
            <a:ext cx="12191695" cy="457200"/>
          </a:xfrm>
          <a:prstGeom prst="rect">
            <a:avLst/>
          </a:prstGeom>
          <a:noFill/>
        </p:spPr>
        <p:txBody>
          <a:bodyPr wrap="square">
            <a:spAutoFit/>
          </a:bodyPr>
          <a:lstStyle/>
          <a:p>
            <a:pPr algn="ctr">
              <a:defRPr sz="1400" b="0">
                <a:solidFill>
                  <a:srgbClr val="64748B"/>
                </a:solidFill>
                <a:latin typeface="Calibri"/>
              </a:defRPr>
            </a:pPr>
            <a:r>
              <a:t>System Design: HLD + LLD Overview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10904</Words>
  <Application>Microsoft Office PowerPoint</Application>
  <PresentationFormat>Widescreen</PresentationFormat>
  <Paragraphs>856</Paragraphs>
  <Slides>69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Kunal Jhalani1 (NAV Fund Services)</cp:lastModifiedBy>
  <cp:revision>1</cp:revision>
  <dcterms:created xsi:type="dcterms:W3CDTF">2013-01-27T09:14:16Z</dcterms:created>
  <dcterms:modified xsi:type="dcterms:W3CDTF">2026-08-30T05:07:32Z</dcterms:modified>
  <cp:category/>
</cp:coreProperties>
</file>