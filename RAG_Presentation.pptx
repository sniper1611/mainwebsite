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Retrieval-Augmented Generation (RAG)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B4D8"/>
                </a:solidFill>
                <a:latin typeface="Calibri"/>
              </a:defRPr>
            </a:pPr>
            <a:r>
              <a:t>Grounding LLMs with External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rPr lang="en-US" dirty="0"/>
              <a:t>Present By – Kunal Jhalani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What is RAG?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RAG = Retrieval-Augmented Generation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A technique that combines: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• Information Retrieval — find relevant documents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• Text Generation — LLM produces the answer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Flow:  User Query → Retrieve Docs → Augment Prompt → Generate Answer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"Give the LLM a searchable library instead of asking it to memorize everything."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78040" y="1234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56DB"/>
                </a:solidFill>
                <a:latin typeface="Calibri"/>
              </a:defRPr>
            </a:pPr>
            <a:r>
              <a:t>RAG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600200"/>
            <a:ext cx="4297680" cy="11430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 RETRIEVE</a:t>
            </a:r>
            <a:br/>
            <a:r>
              <a:t>Search vector DB for relevant chunks</a:t>
            </a:r>
          </a:p>
        </p:txBody>
      </p:sp>
      <p:sp>
        <p:nvSpPr>
          <p:cNvPr id="7" name="Down Arrow 6"/>
          <p:cNvSpPr/>
          <p:nvPr/>
        </p:nvSpPr>
        <p:spPr>
          <a:xfrm>
            <a:off x="9198864" y="2907792"/>
            <a:ext cx="256032" cy="237744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78040" y="3310128"/>
            <a:ext cx="4297680" cy="11430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 AUGMENT</a:t>
            </a:r>
            <a:br/>
            <a:r>
              <a:t>Insert context into the prompt</a:t>
            </a:r>
          </a:p>
        </p:txBody>
      </p:sp>
      <p:sp>
        <p:nvSpPr>
          <p:cNvPr id="9" name="Down Arrow 8"/>
          <p:cNvSpPr/>
          <p:nvPr/>
        </p:nvSpPr>
        <p:spPr>
          <a:xfrm>
            <a:off x="9198864" y="4617720"/>
            <a:ext cx="256032" cy="237744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78040" y="5020056"/>
            <a:ext cx="4297680" cy="1143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 GENERATE</a:t>
            </a:r>
            <a:br/>
            <a:r>
              <a:t>LLM produces a grounded 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Retrieval-Augmented Generation (RAG)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Why is RAG So Popular?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642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73152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Calibri"/>
              </a:defRPr>
            </a:pPr>
            <a:r>
              <a:t>LLM Boom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5331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ChatGPT &amp; GPT-4 showed LLM power — but exposed hallucination &amp; stale knowledge gaps.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10642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73152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Enterprise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134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Companies want AI on private data without exposing it to public model training.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110642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73152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2735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Calibri"/>
              </a:defRPr>
            </a:pPr>
            <a:r>
              <a:t>Cost Effective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7355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Updating a vector index is far cheaper &amp; faster than retraining/fine-tuning models.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110642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73152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2336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Easy to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23367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Open-source tools (LangChain, LlamaIndex) lowered the barrier to production RAG.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20640"/>
            <a:ext cx="110642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1937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Calibri"/>
              </a:defRPr>
            </a:pPr>
            <a:r>
              <a:t>Proven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1937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Grounded, citable answers across support, legal, finance, and research domains.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Retrieval-Augmented Generation (RAG)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What Problem Does RAG Solve?</a:t>
            </a:r>
          </a:p>
        </p:txBody>
      </p:sp>
      <p:sp>
        <p:nvSpPr>
          <p:cNvPr id="4" name="Oval 3"/>
          <p:cNvSpPr/>
          <p:nvPr/>
        </p:nvSpPr>
        <p:spPr>
          <a:xfrm>
            <a:off x="5029200" y="3566160"/>
            <a:ext cx="2103120" cy="2103120"/>
          </a:xfrm>
          <a:prstGeom prst="ellipse">
            <a:avLst/>
          </a:prstGeom>
          <a:solidFill>
            <a:srgbClr val="1E293B"/>
          </a:solidFill>
          <a:ln w="381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Plain</a:t>
            </a:r>
            <a:br/>
            <a:r>
              <a:t>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1234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Knowledge Cutoff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5564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LLMs only know what they were trained on — they miss recent events &amp;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3474720" cy="1234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Hallucinations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75564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Models confidently generate false facts when they lack real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3474720" cy="1234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No Private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5604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Internal docs, databases, and proprietary knowledge are inaccessible to base LLMs.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572000"/>
            <a:ext cx="3474720" cy="1234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956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Expensive Retraining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95604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Fine-tuning for every new document set is slow, costly, and hard to maintain.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RAG solves all four by retrieving real documents at query time and grounding the LLM's response.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Retrieval-Augmented Generation (RAG)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RAG Use Cases Across Industries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5204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52044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8074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Customer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01368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Answers from product manuals, FAQs, and ticket history.</a:t>
            </a:r>
            <a:br/>
            <a:r>
              <a:t>e.g. "How do I reset my device?" with steps from official docs.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25880"/>
            <a:ext cx="35204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325880"/>
            <a:ext cx="352044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38074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Medical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01368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Retrieves clinical guidelines, drug info, or research papers.</a:t>
            </a:r>
            <a:br/>
            <a:r>
              <a:t>e.g. Doctor queries treatment protocols (with human review).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25880"/>
            <a:ext cx="35204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01000" y="1325880"/>
            <a:ext cx="352044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38074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Legal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801368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Searches contracts, case law, and internal policies.</a:t>
            </a:r>
            <a:br/>
            <a:r>
              <a:t>e.g. "What clauses relate to termination?"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57600"/>
            <a:ext cx="35204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657600"/>
            <a:ext cx="352044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71246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33088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Q&amp;A over reports, earnings calls, and market research.</a:t>
            </a:r>
            <a:br/>
            <a:r>
              <a:t>e.g. "Summarize Q3 revenue drivers from the annual report."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657600"/>
            <a:ext cx="35204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51960" y="3657600"/>
            <a:ext cx="352044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0" y="371246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133088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Instant access to regulatory docs and internal policies.</a:t>
            </a:r>
            <a:br/>
            <a:r>
              <a:t>e.g. "What are GDPR requirements for data retention?"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3657600"/>
            <a:ext cx="35204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01000" y="3657600"/>
            <a:ext cx="35204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38160" y="371246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133088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Literature review and paper Q&amp;A across large corpora.</a:t>
            </a:r>
            <a:br/>
            <a:r>
              <a:t>e.g. "What methods did recent papers use for protein folding?"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Note: Medical, legal, and finance use cases require human review — RAG assists, not replaces experts.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Retrieval-Augmented Generation (RAG)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Benefits of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5204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3520440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14173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Grounded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10512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Responses based on actual retrieved documents, reducing hallucinations.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71600"/>
            <a:ext cx="35204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371600"/>
            <a:ext cx="35204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61688" y="14173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Updatable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1810512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Add new documents to the index — no model retraining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71600"/>
            <a:ext cx="35204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01000" y="1371600"/>
            <a:ext cx="35204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0728" y="14173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 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8" y="1810512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Your data stays in your vector store; not sent for public model training.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83280"/>
            <a:ext cx="35204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383280"/>
            <a:ext cx="35204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342900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Cost Effective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822192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Cheaper and faster than fine-tuning for frequently changing knowledge bases.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383280"/>
            <a:ext cx="35204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51960" y="3383280"/>
            <a:ext cx="35204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61688" y="342900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Source Citations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3822192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Answers can reference specific documents, pages, or chunks for transparency.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3383280"/>
            <a:ext cx="35204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01000" y="3383280"/>
            <a:ext cx="352044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10728" y="342900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Domain Adaptation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0728" y="3822192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Works across any domain — just index the relevant documents.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Retrieval-Augmented Generation (RAG)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RAG 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Two phases: Offline Indexing + Online Querying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2286000"/>
          </a:xfrm>
          <a:prstGeom prst="rect">
            <a:avLst/>
          </a:prstGeom>
          <a:solidFill>
            <a:srgbClr val="F0F4F8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OFFLINE — Ingestion (Indexing)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7211" y="2148840"/>
            <a:ext cx="1691640" cy="658368"/>
          </a:xfrm>
          <a:prstGeom prst="roundRect">
            <a:avLst/>
          </a:prstGeom>
          <a:solidFill>
            <a:srgbClr val="1A56D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Load</a:t>
            </a:r>
            <a:br/>
            <a:r>
              <a:t>Docs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17139" y="235000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128619" y="2148840"/>
            <a:ext cx="1691640" cy="658368"/>
          </a:xfrm>
          <a:prstGeom prst="roundRect">
            <a:avLst/>
          </a:prstGeom>
          <a:solidFill>
            <a:srgbClr val="1A56D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Clean &amp;</a:t>
            </a:r>
            <a:br/>
            <a:r>
              <a:t>Parse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38547" y="235000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250027" y="2148840"/>
            <a:ext cx="1691640" cy="658368"/>
          </a:xfrm>
          <a:prstGeom prst="roundRect">
            <a:avLst/>
          </a:prstGeom>
          <a:solidFill>
            <a:srgbClr val="1A56D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Chunk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59955" y="235000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71435" y="2148840"/>
            <a:ext cx="1691640" cy="658368"/>
          </a:xfrm>
          <a:prstGeom prst="roundRect">
            <a:avLst/>
          </a:prstGeom>
          <a:solidFill>
            <a:srgbClr val="1A56D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Embed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081363" y="235000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492843" y="2148840"/>
            <a:ext cx="1691640" cy="658368"/>
          </a:xfrm>
          <a:prstGeom prst="roundRect">
            <a:avLst/>
          </a:prstGeom>
          <a:solidFill>
            <a:srgbClr val="1A56D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Store in</a:t>
            </a:r>
            <a:br/>
            <a:r>
              <a:t>Vector 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20440"/>
            <a:ext cx="11247120" cy="2286000"/>
          </a:xfrm>
          <a:prstGeom prst="rect">
            <a:avLst/>
          </a:prstGeom>
          <a:solidFill>
            <a:srgbClr val="F0F4F8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ONLINE — Retrieval (Query)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7211" y="4343400"/>
            <a:ext cx="1691640" cy="658368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  <a:br/>
            <a:r>
              <a:t>Query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717139" y="454456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128619" y="4343400"/>
            <a:ext cx="1691640" cy="658368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Embed</a:t>
            </a:r>
            <a:br/>
            <a:r>
              <a:t>Query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38547" y="454456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50027" y="4343400"/>
            <a:ext cx="1691640" cy="658368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Search</a:t>
            </a:r>
            <a:br/>
            <a:r>
              <a:t>Top-K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959955" y="454456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71435" y="4343400"/>
            <a:ext cx="1691640" cy="658368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  <a:br/>
            <a:r>
              <a:t>Prompt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081363" y="454456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492843" y="4343400"/>
            <a:ext cx="1691640" cy="658368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  <a:br/>
            <a:r>
              <a:t>Answer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Retrieval-Augmented Generation (RAG)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Ingestion Phase (Offline Indexing)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447" y="1828800"/>
            <a:ext cx="1828800" cy="658368"/>
          </a:xfrm>
          <a:prstGeom prst="roundRect">
            <a:avLst/>
          </a:prstGeom>
          <a:solidFill>
            <a:srgbClr val="1A56D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Load</a:t>
            </a:r>
            <a:br/>
            <a:r>
              <a:t>Documents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56535" y="202996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95447" y="1828800"/>
            <a:ext cx="1828800" cy="658368"/>
          </a:xfrm>
          <a:prstGeom prst="roundRect">
            <a:avLst/>
          </a:prstGeom>
          <a:solidFill>
            <a:srgbClr val="00B4D8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Clean &amp;</a:t>
            </a:r>
            <a:br/>
            <a:r>
              <a:t>Parse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42535" y="202996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81447" y="1828800"/>
            <a:ext cx="1828800" cy="658368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Chunk</a:t>
            </a:r>
            <a:br/>
            <a:r>
              <a:t>Text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28535" y="202996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67447" y="1828800"/>
            <a:ext cx="1828800" cy="658368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Generate</a:t>
            </a:r>
            <a:br/>
            <a:r>
              <a:t>Embeddings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14535" y="202996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53447" y="1828800"/>
            <a:ext cx="1828800" cy="658368"/>
          </a:xfrm>
          <a:prstGeom prst="roundRect">
            <a:avLst/>
          </a:prstGeom>
          <a:solidFill>
            <a:srgbClr val="7C3AED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Store in</a:t>
            </a:r>
            <a:br/>
            <a:r>
              <a:t>Vector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Load: PDFs, Word docs, HTML, databases, APIs, wikis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Clean: Remove noise, extract text from tables/images, normalize formatting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Chunk: Split documents into manageable pieces for embedding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Embed: Convert each chunk into a dense vector using an embedding model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Store: Save vectors + metadata (source, page, timestamp) in a vector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This phase runs once (or periodically) when documents are added or updated.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Retrieval-Augmented Generation (RAG)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Retrieval Phase (Online Querying)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867" y="1828800"/>
            <a:ext cx="1508760" cy="658368"/>
          </a:xfrm>
          <a:prstGeom prst="roundRect">
            <a:avLst/>
          </a:prstGeom>
          <a:solidFill>
            <a:srgbClr val="1A56D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  <a:br/>
            <a:r>
              <a:t>Query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67915" y="202996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61107" y="1828800"/>
            <a:ext cx="1508760" cy="658368"/>
          </a:xfrm>
          <a:prstGeom prst="roundRect">
            <a:avLst/>
          </a:prstGeom>
          <a:solidFill>
            <a:srgbClr val="00B4D8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Embed</a:t>
            </a:r>
            <a:br/>
            <a:r>
              <a:t>Query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88155" y="202996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1347" y="1828800"/>
            <a:ext cx="1508760" cy="658368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Search</a:t>
            </a:r>
            <a:br/>
            <a:r>
              <a:t>Vector DB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08395" y="202996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1587" y="1828800"/>
            <a:ext cx="1508760" cy="658368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Retrieve</a:t>
            </a:r>
            <a:br/>
            <a:r>
              <a:t>Top-K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28635" y="202996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1827" y="1828800"/>
            <a:ext cx="1508760" cy="658368"/>
          </a:xfrm>
          <a:prstGeom prst="roundRect">
            <a:avLst/>
          </a:prstGeom>
          <a:solidFill>
            <a:srgbClr val="7C3AED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  <a:br/>
            <a:r>
              <a:t>Prompt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48875" y="202996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42067" y="1828800"/>
            <a:ext cx="1508760" cy="658368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  <a:br/>
            <a:r>
              <a:t>Generate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User submits a natural language question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Query is embedded using the same model as indexing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Vector DB returns the K most similar chunks (cosine similarity)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Optional: rerank results for better precision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Retrieved chunks are inserted into the LLM prompt as context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LLM generates a grounded answer — ideally with source citations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Retrieval-Augmented Generation (RAG)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Chunking Strategies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7899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It Works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Fixed-size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Split by fixed token/char count with optional overlap.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Simple baseline; uniform text.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Recursive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Split by separators: paragraphs → sentences → words.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General-purpose; common in LangChain.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Semantic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Split where meaning shifts (embedding similarity).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Keeping related ideas together.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Hierarchical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Small chunks for search; link to larger parent chunks.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Long docs needing context + precision.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Structure-aware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Split by headings, tables, sections in PDFs/HTML.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Technical docs, wikis, reports.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Document-based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One chunk per page, paragraph, or logical unit.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Short docs with clear structure.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029200"/>
            <a:ext cx="1371600" cy="6400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Document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5029200"/>
            <a:ext cx="201168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Fixed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65960" y="5230368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46320" y="5029200"/>
            <a:ext cx="201168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Semantic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65960" y="5230368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06640" y="5029200"/>
            <a:ext cx="2011680" cy="6400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Hierarchical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65960" y="5230368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Retrieval-Augmented Generation (RAG)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Embedding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Text → dense vectors  |  Similar meaning → closer in vector space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07899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/ Ecosystem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OpenAI Embeddings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text-embedding-3-small / large — strong quality, easy API.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Production default; cloud apps.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Gemini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Google embedding API via Vertex AI / Gemini.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Google Cloud ecosystem integration.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Sentence Transformers (HF)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Open-source: all-MiniLM, BGE, E5 — runs locally.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On-prem, cost control, privacy.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Cohere / Voyage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Specialized embedding APIs; strong retrieval benchmarks.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High-precision retrieval tasks.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Calibri"/>
              </a:defRPr>
            </a:pPr>
            <a:r>
              <a:t>Vector Space Concept: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80560"/>
            <a:ext cx="3200400" cy="502920"/>
          </a:xfrm>
          <a:prstGeom prst="roundRect">
            <a:avLst/>
          </a:prstGeom>
          <a:solidFill>
            <a:srgbClr val="1A56D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Query: refund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434840"/>
            <a:ext cx="3200400" cy="502920"/>
          </a:xfrm>
          <a:prstGeom prst="roundRect">
            <a:avLst/>
          </a:prstGeom>
          <a:solidFill>
            <a:srgbClr val="1A56D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Doc A: return rules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5303520"/>
            <a:ext cx="3200400" cy="5029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Doc B: cooking recipe 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Rule: Always use the same embedding model for both indexing and querying.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Retrieval-Augmented Generation (RAG)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Vector Databases &amp; Search Stores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06070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ChromaDB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Lightweight, embedded-friendly; minimal setup.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Prototypes, local development.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FAISS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Meta's fast similarity search library; in-memory.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Research, high-speed local search.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Pinecone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Fully managed cloud vector DB; auto-scaling.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Production SaaS, minimal ops.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Elasticsearch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Hybrid keyword + vector search; mature ecosystem.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Enterprise search, existing ELK stacks.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Weaviate / Qdrant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Open-source vector DBs with hybrid search &amp; filtering.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Self-hosted production deployments.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Decision Guide: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920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Prototype / learning  →  ChromaDB or FAISS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Production cloud       →  Pinecone or Weaviate Cloud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Existing search infra  →  Elasticsearch (hybrid keyword + vector)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Retrieval-Augmented Generation (RAG)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Frameworks: LangChain, LlamaIndex &amp; Haystack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Orchestration frameworks — they glue the pipeline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9467" y="2286000"/>
            <a:ext cx="1417320" cy="658368"/>
          </a:xfrm>
          <a:prstGeom prst="roundRect">
            <a:avLst/>
          </a:prstGeom>
          <a:solidFill>
            <a:srgbClr val="1A56D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Load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05075" y="248716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16555" y="2286000"/>
            <a:ext cx="1417320" cy="658368"/>
          </a:xfrm>
          <a:prstGeom prst="roundRect">
            <a:avLst/>
          </a:prstGeom>
          <a:solidFill>
            <a:srgbClr val="1A56D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Chunk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52163" y="248716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63643" y="2286000"/>
            <a:ext cx="1417320" cy="658368"/>
          </a:xfrm>
          <a:prstGeom prst="roundRect">
            <a:avLst/>
          </a:prstGeom>
          <a:solidFill>
            <a:srgbClr val="1A56D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Embed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99251" y="248716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10731" y="2286000"/>
            <a:ext cx="1417320" cy="658368"/>
          </a:xfrm>
          <a:prstGeom prst="roundRect">
            <a:avLst/>
          </a:prstGeom>
          <a:solidFill>
            <a:srgbClr val="1A56D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Store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46339" y="248716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57819" y="2286000"/>
            <a:ext cx="1417320" cy="658368"/>
          </a:xfrm>
          <a:prstGeom prst="roundRect">
            <a:avLst/>
          </a:prstGeom>
          <a:solidFill>
            <a:srgbClr val="1A56D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Retrieve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593427" y="2487168"/>
            <a:ext cx="292608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04907" y="2286000"/>
            <a:ext cx="1417320" cy="658368"/>
          </a:xfrm>
          <a:prstGeom prst="roundRect">
            <a:avLst/>
          </a:prstGeom>
          <a:solidFill>
            <a:srgbClr val="1A56D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Generate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1965960"/>
            <a:ext cx="1133856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Orchestration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93192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931920"/>
            <a:ext cx="3383280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9776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LangChain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7083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Chains, agents, loaders,</a:t>
            </a:r>
            <a:br/>
            <a:r>
              <a:t>100+ integrations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93192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06240" y="3931920"/>
            <a:ext cx="338328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400" y="39776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LlamaIndex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37083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Indexing &amp; querying,</a:t>
            </a:r>
            <a:br/>
            <a:r>
              <a:t>data connectors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393192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18120" y="3931920"/>
            <a:ext cx="338328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0" y="39776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Haystack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4370832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Production pipelines,</a:t>
            </a:r>
            <a:br/>
            <a:r>
              <a:t>hybrid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These are NOT alternatives to vector DBs or embedding models — they orchestrate the full RAG pipeline.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Retrieval-Augmented Generation (RAG)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RAG Architectures —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43000"/>
          <a:ext cx="96926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It Works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Retrieval Type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 / Naive RAG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Query → retrieve → generate in one pass.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Semantic (vector)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Simple FAQ over docs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Hybrid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Combines vector search + keyword (BM25).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Dense + sparse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Enterprise docs, exact terms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RAG with Memory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Stores conversation history for context-aware retrieval.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Vector + chat history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Multi-turn support bots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Graph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Knowledge graph traversal + vector retrieval.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Graph + vectors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Entity relationships, org 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Agentic RAG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LLM agent decides when/how to retrieve (multi-step).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Dynamic / tool-driven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Complex research queries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Multimodal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Embeds &amp; retrieves images, PDFs, audio — not just text.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Cross-modal vectors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Manuals with diagrams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Self-RAG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Model checks if retrieval needed, evaluates answer, re-retrieves.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Adaptive + reflection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High-stakes accuracy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Retrieval-Augmented Generation (RAG)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RAG Architecture Evolution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200400" cy="566928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Naive RAG  —  Vector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21408"/>
            <a:ext cx="3566160" cy="56692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Hybrid RAG  —  Vector + BM25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79776"/>
            <a:ext cx="3931920" cy="5669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RAG + Memory  —  Vector +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38144"/>
            <a:ext cx="4297680" cy="5669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Agentic RAG  —  Dynamic retrieval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96512"/>
            <a:ext cx="4663440" cy="56692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Self-RAG  —  Self-reflection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80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Specialized Variants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200400"/>
            <a:ext cx="3840480" cy="6583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Graph RAG  —  Graph + vectors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977640"/>
            <a:ext cx="3840480" cy="658368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Multimodal RAG  —  Cross-modal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Calibri"/>
              </a:defRPr>
            </a:pPr>
            <a:r>
              <a:t>Start with Naive RAG → add Hybrid search → layer Memory / Agentic / Self-RAG as complexity grows.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Retrieval-Augmented Generation (RAG)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Challenges &amp;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864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64008" cy="1417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356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Bad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64792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If wrong chunks are retrieved, the LLM will confidently give wrong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4864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6400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4356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Chunking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64792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Poor splits break tables, code, and multi-page logic across chunks.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26080"/>
            <a:ext cx="54864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926080"/>
            <a:ext cx="64008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0358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Latency &amp;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64992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Embedding + search + LLM call adds overhead vs. a plain LLM query.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926080"/>
            <a:ext cx="54864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2926080"/>
            <a:ext cx="64008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0358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64992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Hard to measure quality — use RAGAS metrics: faithfulness, relevance, correctness.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26280"/>
            <a:ext cx="54864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4526280"/>
            <a:ext cx="64008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6360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65192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Retrieved docs can contain prompt injection attacks or sensitive data leaks.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526280"/>
            <a:ext cx="548640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4526280"/>
            <a:ext cx="64008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6360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965192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Large corpora need efficient indexing, sharding, and periodic re-indexing.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Retrieval-Augmented Generation (RAG)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Calibri"/>
              </a:defRPr>
            </a:pPr>
            <a:r>
              <a:t>Summary &amp; 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2307" y="1325880"/>
            <a:ext cx="3429000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2307" y="1325880"/>
            <a:ext cx="3429000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2307" y="141732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035" y="1856232"/>
            <a:ext cx="32095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RAG Grounds LLMs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2395728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Retrieve real documents at query time to reduce hallucinations and enable private data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347" y="1325880"/>
            <a:ext cx="3429000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1347" y="1325880"/>
            <a:ext cx="342900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1347" y="141732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1075" y="1856232"/>
            <a:ext cx="32095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It's a System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8507" y="2395728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Quality depends on chunking, embeddings, retrieval strategy, and prompt design — not just the LLM.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0387" y="1325880"/>
            <a:ext cx="3429000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0387" y="1325880"/>
            <a:ext cx="34290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0387" y="141732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0115" y="1856232"/>
            <a:ext cx="32095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Start Simple, Iterate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7547" y="2395728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Begin with Naive RAG → add Hybrid search → evolve to Agentic/Self-RAG as needs grow.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60520"/>
            <a:ext cx="11064240" cy="3657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270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DB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4456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Paper: Retrieval-Augmented Generation for Knowledge-Intensive NLP Tasks (Lewis et al., 2020)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Frameworks: LangChain  |  LlamaIndex  |  Haystack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Calibri"/>
              </a:defRPr>
            </a:pPr>
            <a:r>
              <a:t>Evaluation: RAGAS framework for RAG quality 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Retrieval-Augmented Generation (RAG)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4D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Retrieval-Augmented Generation (RAG)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1707</Words>
  <Application>Microsoft Office PowerPoint</Application>
  <PresentationFormat>Widescreen</PresentationFormat>
  <Paragraphs>281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Kunal Jhalani1 (NAV Fund Services)</cp:lastModifiedBy>
  <cp:revision>2</cp:revision>
  <dcterms:created xsi:type="dcterms:W3CDTF">2013-01-27T09:14:16Z</dcterms:created>
  <dcterms:modified xsi:type="dcterms:W3CDTF">2026-08-24T04:46:10Z</dcterms:modified>
  <cp:category/>
</cp:coreProperties>
</file>